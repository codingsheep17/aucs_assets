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7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0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5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0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7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75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3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0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2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23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7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F8A3377-9AAF-4115-B92F-5F91BDA93495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366D08-A940-49D2-A523-A11D64CE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4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FF63C-7400-A401-30DF-F80819ADF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1360493"/>
            <a:ext cx="4972511" cy="3106732"/>
          </a:xfrm>
        </p:spPr>
        <p:txBody>
          <a:bodyPr anchor="b">
            <a:normAutofit/>
          </a:bodyPr>
          <a:lstStyle/>
          <a:p>
            <a:r>
              <a:rPr lang="en-US" sz="5000" b="1">
                <a:solidFill>
                  <a:schemeClr val="tx1"/>
                </a:solidFill>
              </a:rPr>
              <a:t>Causes &amp; Consequences of the Khilafat Movement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42E02-C2EE-E91C-7E1D-014A052E75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6100" y="4687316"/>
            <a:ext cx="4972512" cy="1517088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Course Instructor</a:t>
            </a:r>
          </a:p>
          <a:p>
            <a:r>
              <a:rPr lang="en-US" b="1">
                <a:solidFill>
                  <a:srgbClr val="FFFFFF"/>
                </a:solidFill>
              </a:rPr>
              <a:t>Habib Ali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logo with text on it&#10;&#10;AI-generated content may be incorrect.">
            <a:extLst>
              <a:ext uri="{FF2B5EF4-FFF2-40B4-BE49-F238E27FC236}">
                <a16:creationId xmlns:a16="http://schemas.microsoft.com/office/drawing/2014/main" id="{7ED57AA8-B60D-6C87-BCAA-1905A27E7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88" y="2570007"/>
            <a:ext cx="3972222" cy="171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25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E903F-5430-06C6-E124-3AABE849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05673-7EF1-01AB-163C-CAAA23D10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Khilafat Movement (1919–1924) was one of the most significant religious-political movements in colonial India.</a:t>
            </a:r>
          </a:p>
          <a:p>
            <a:r>
              <a:rPr lang="en-US" dirty="0"/>
              <a:t>It emerged after World War I, when the Ottoman Empire faced disintegration and the institution of the Caliphate was under threat.</a:t>
            </a:r>
          </a:p>
          <a:p>
            <a:r>
              <a:rPr lang="en-US" dirty="0"/>
              <a:t>For Indian Muslims, the Ottoman Sultan was not just a political ruler but also the </a:t>
            </a:r>
            <a:r>
              <a:rPr lang="en-US" b="1" dirty="0"/>
              <a:t>Khalifa (Caliph)</a:t>
            </a:r>
            <a:r>
              <a:rPr lang="en-US" dirty="0"/>
              <a:t> — the spiritual head of Islam.</a:t>
            </a:r>
          </a:p>
          <a:p>
            <a:r>
              <a:rPr lang="en-US" dirty="0"/>
              <a:t>The movement aimed to:</a:t>
            </a:r>
          </a:p>
          <a:p>
            <a:pPr lvl="1"/>
            <a:r>
              <a:rPr lang="en-US" dirty="0"/>
              <a:t>Protect the institution of the Caliphate.</a:t>
            </a:r>
          </a:p>
          <a:p>
            <a:pPr lvl="1"/>
            <a:r>
              <a:rPr lang="en-US" dirty="0"/>
              <a:t>Safeguard the holy places of Islam (Mecca, Medina, Jerusalem).</a:t>
            </a:r>
          </a:p>
          <a:p>
            <a:pPr lvl="1"/>
            <a:r>
              <a:rPr lang="en-US" dirty="0"/>
              <a:t>Protest against harsh terms imposed on Turkey by the Treaty of Sèvres (1920).</a:t>
            </a:r>
          </a:p>
          <a:p>
            <a:r>
              <a:rPr lang="en-US" dirty="0"/>
              <a:t>Indian Muslims felt betrayed by Britain, which had promised to respect the Caliphate in return for Muslim support during the war.</a:t>
            </a:r>
          </a:p>
          <a:p>
            <a:r>
              <a:rPr lang="en-US" dirty="0"/>
              <a:t>The Khilafat issue became a platform for </a:t>
            </a:r>
            <a:r>
              <a:rPr lang="en-US" b="1" dirty="0"/>
              <a:t>political mobilization</a:t>
            </a:r>
            <a:r>
              <a:rPr lang="en-US" dirty="0"/>
              <a:t> and </a:t>
            </a:r>
            <a:r>
              <a:rPr lang="en-US" b="1" dirty="0"/>
              <a:t>Hindu-Muslim unity</a:t>
            </a:r>
            <a:r>
              <a:rPr lang="en-US" dirty="0"/>
              <a:t>, as Gandhi linked it with his Non-Cooperation Movement.</a:t>
            </a:r>
          </a:p>
          <a:p>
            <a:r>
              <a:rPr lang="en-US" dirty="0"/>
              <a:t>Although it eventually failed, the movement awakened Muslims politically and played a key role in shaping their identity and future struggle.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13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E333-3B52-CED9-E221-334BDF2A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60CE4-4C3E-26CA-69F6-F6AA033C8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Ottoman Empire &amp; the Caliphate</a:t>
            </a:r>
            <a:endParaRPr lang="en-US" dirty="0"/>
          </a:p>
          <a:p>
            <a:pPr lvl="1"/>
            <a:r>
              <a:rPr lang="en-US" dirty="0"/>
              <a:t>Sultan of Turkey was regarded as </a:t>
            </a:r>
            <a:r>
              <a:rPr lang="en-US" i="1" dirty="0"/>
              <a:t>Khalifa</a:t>
            </a:r>
            <a:r>
              <a:rPr lang="en-US" dirty="0"/>
              <a:t> (Caliph), spiritual head of Muslims worldwide.</a:t>
            </a:r>
          </a:p>
          <a:p>
            <a:r>
              <a:rPr lang="en-US" b="1" dirty="0"/>
              <a:t>World War I (1914–1918)</a:t>
            </a:r>
            <a:endParaRPr lang="en-US" dirty="0"/>
          </a:p>
          <a:p>
            <a:pPr lvl="1"/>
            <a:r>
              <a:rPr lang="en-US" dirty="0"/>
              <a:t>Ottoman Empire sided with Germany.</a:t>
            </a:r>
          </a:p>
          <a:p>
            <a:pPr lvl="1"/>
            <a:r>
              <a:rPr lang="en-US" dirty="0"/>
              <a:t>Defeat led to disintegration and threat to abolish Caliphate.</a:t>
            </a:r>
          </a:p>
          <a:p>
            <a:r>
              <a:rPr lang="en-US" b="1" dirty="0"/>
              <a:t>Muslims in India</a:t>
            </a:r>
            <a:r>
              <a:rPr lang="en-US" dirty="0"/>
              <a:t>: deeply concerned about fate of Caliphate → religious-political awakening.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4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9032-626D-40EB-40FD-AECE6CDE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Causes of the Khilafat Movement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F9660-8F6F-8ACC-6644-B0EBBC719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A. Religious &amp; Emotional Causes</a:t>
            </a:r>
            <a:endParaRPr lang="en-US" dirty="0"/>
          </a:p>
          <a:p>
            <a:pPr lvl="1"/>
            <a:r>
              <a:rPr lang="en-US" dirty="0"/>
              <a:t> The caliph was seen as a unifying figure for Muslims.</a:t>
            </a:r>
          </a:p>
          <a:p>
            <a:pPr lvl="1"/>
            <a:r>
              <a:rPr lang="en-US" dirty="0"/>
              <a:t>Fear that the Caliphate’s abolition would weaken Islam.</a:t>
            </a:r>
          </a:p>
          <a:p>
            <a:r>
              <a:rPr lang="en-US" b="1" dirty="0"/>
              <a:t>B. Political Causes</a:t>
            </a:r>
            <a:endParaRPr lang="en-US" dirty="0"/>
          </a:p>
          <a:p>
            <a:pPr lvl="1"/>
            <a:r>
              <a:rPr lang="en-US" dirty="0"/>
              <a:t>Harsh peace terms of the Treaty of Sèvres (1920) imposed on Turkey.</a:t>
            </a:r>
          </a:p>
          <a:p>
            <a:pPr lvl="1"/>
            <a:r>
              <a:rPr lang="en-US" dirty="0"/>
              <a:t>Demand for protecting holy places of Islam (Mecca, Medina).</a:t>
            </a:r>
          </a:p>
          <a:p>
            <a:pPr lvl="1"/>
            <a:r>
              <a:rPr lang="en-US" dirty="0"/>
              <a:t>British broken promises during WWI (Muslims supported Britain with the hope of safeguarding the Caliphate).</a:t>
            </a:r>
          </a:p>
          <a:p>
            <a:r>
              <a:rPr lang="en-US" b="1" dirty="0"/>
              <a:t>C. Indian Context</a:t>
            </a:r>
            <a:endParaRPr lang="en-US" dirty="0"/>
          </a:p>
          <a:p>
            <a:pPr lvl="1"/>
            <a:r>
              <a:rPr lang="en-US" dirty="0"/>
              <a:t>Growing political consciousness after Lucknow Pact (1916).</a:t>
            </a:r>
          </a:p>
          <a:p>
            <a:pPr lvl="1"/>
            <a:r>
              <a:rPr lang="en-US" dirty="0"/>
              <a:t>Muslim leadership (Ali Brothers, Maulana Azad, etc.) saw Khilafat as a platform for unity.</a:t>
            </a:r>
          </a:p>
          <a:p>
            <a:r>
              <a:rPr lang="en-US" b="1" dirty="0"/>
              <a:t>D. Role of Leadership</a:t>
            </a:r>
            <a:endParaRPr lang="en-US" dirty="0"/>
          </a:p>
          <a:p>
            <a:pPr lvl="1"/>
            <a:r>
              <a:rPr lang="en-US" dirty="0"/>
              <a:t>Maulana Muhammad Ali &amp; Shaukat Ali – spearheaded the Khilafat cause.</a:t>
            </a:r>
          </a:p>
          <a:p>
            <a:pPr lvl="1"/>
            <a:r>
              <a:rPr lang="en-US" dirty="0"/>
              <a:t>Maulana Abul Kalam Azad – intellectual support.</a:t>
            </a:r>
          </a:p>
          <a:p>
            <a:pPr lvl="1"/>
            <a:r>
              <a:rPr lang="en-US" dirty="0"/>
              <a:t>Gandhi supported Khilafat as part of Hindu-Muslim 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51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3C32-35EB-195A-F6E8-C0C77E2B6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Consequences of the Khilafat Movement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B61EA-7275-7AA3-E504-555E45BCF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01. Positive Consequences</a:t>
            </a:r>
            <a:endParaRPr lang="en-US" dirty="0"/>
          </a:p>
          <a:p>
            <a:r>
              <a:rPr lang="en-US" b="1" dirty="0"/>
              <a:t>Political Awakening among Muslims</a:t>
            </a:r>
            <a:endParaRPr lang="en-US" dirty="0"/>
          </a:p>
          <a:p>
            <a:pPr lvl="1"/>
            <a:r>
              <a:rPr lang="en-US" dirty="0"/>
              <a:t>Brought Muslims into mass politics.</a:t>
            </a:r>
          </a:p>
          <a:p>
            <a:pPr lvl="1"/>
            <a:r>
              <a:rPr lang="en-US" dirty="0"/>
              <a:t>Deepened political consciousness in rural and urban Muslims.</a:t>
            </a:r>
          </a:p>
          <a:p>
            <a:r>
              <a:rPr lang="en-US" b="1" dirty="0"/>
              <a:t>Hindu-Muslim Unity (short-lived)</a:t>
            </a:r>
            <a:endParaRPr lang="en-US" dirty="0"/>
          </a:p>
          <a:p>
            <a:pPr lvl="1"/>
            <a:r>
              <a:rPr lang="en-US" dirty="0"/>
              <a:t>Gandhi’s Non-Cooperation Movement merged with Khilafat.</a:t>
            </a:r>
          </a:p>
          <a:p>
            <a:pPr lvl="1"/>
            <a:r>
              <a:rPr lang="en-US" dirty="0"/>
              <a:t>Joint struggle against British rule.</a:t>
            </a:r>
          </a:p>
          <a:p>
            <a:r>
              <a:rPr lang="en-US" b="1" dirty="0"/>
              <a:t>Strengthening of Nationalist Struggle</a:t>
            </a:r>
            <a:endParaRPr lang="en-US" dirty="0"/>
          </a:p>
          <a:p>
            <a:pPr lvl="1"/>
            <a:r>
              <a:rPr lang="en-US" dirty="0"/>
              <a:t>Mass participation (students, peasants, traders, women).</a:t>
            </a:r>
          </a:p>
          <a:p>
            <a:pPr lvl="1"/>
            <a:r>
              <a:rPr lang="en-US" dirty="0"/>
              <a:t>Boycott of British goods, titles, and institutions.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613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1774B-ED65-5873-8B1C-6B071647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Consequences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56E08-6A88-0346-65CD-D163A870C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02. Negative Consequences</a:t>
            </a:r>
            <a:endParaRPr lang="en-US" dirty="0"/>
          </a:p>
          <a:p>
            <a:r>
              <a:rPr lang="en-US" b="1" dirty="0"/>
              <a:t>Failure of the Movement</a:t>
            </a:r>
            <a:endParaRPr lang="en-US" dirty="0"/>
          </a:p>
          <a:p>
            <a:pPr lvl="1"/>
            <a:r>
              <a:rPr lang="en-US" dirty="0"/>
              <a:t>1924: Mustafa Kemal Atatürk abolished the Caliphate in Turkey.</a:t>
            </a:r>
          </a:p>
          <a:p>
            <a:pPr lvl="1"/>
            <a:r>
              <a:rPr lang="en-US" dirty="0"/>
              <a:t>Emotional shock to Indian Muslims.</a:t>
            </a:r>
          </a:p>
          <a:p>
            <a:r>
              <a:rPr lang="en-US" b="1" dirty="0"/>
              <a:t>Hindu-Muslim Split</a:t>
            </a:r>
            <a:endParaRPr lang="en-US" dirty="0"/>
          </a:p>
          <a:p>
            <a:pPr lvl="1"/>
            <a:r>
              <a:rPr lang="en-US" dirty="0"/>
              <a:t>After withdrawal of Non-Cooperation (due to Chauri </a:t>
            </a:r>
            <a:r>
              <a:rPr lang="en-US" dirty="0" err="1"/>
              <a:t>Chaura</a:t>
            </a:r>
            <a:r>
              <a:rPr lang="en-US" dirty="0"/>
              <a:t> incident, 1922).</a:t>
            </a:r>
          </a:p>
          <a:p>
            <a:pPr lvl="1"/>
            <a:r>
              <a:rPr lang="en-US" dirty="0"/>
              <a:t>Communal tensions resurfaced.</a:t>
            </a:r>
          </a:p>
          <a:p>
            <a:r>
              <a:rPr lang="en-US" b="1" dirty="0"/>
              <a:t>Rise of New Political Trends</a:t>
            </a:r>
            <a:endParaRPr lang="en-US" dirty="0"/>
          </a:p>
          <a:p>
            <a:pPr lvl="1"/>
            <a:r>
              <a:rPr lang="en-US" dirty="0"/>
              <a:t>Strengthened Two-Nation consciousness (Muslims realized their distinct identity &amp; interests).</a:t>
            </a:r>
          </a:p>
          <a:p>
            <a:pPr lvl="1"/>
            <a:r>
              <a:rPr lang="en-US" dirty="0"/>
              <a:t>Leaders like Jinnah criticized Gandhi’s methods.</a:t>
            </a:r>
          </a:p>
          <a:p>
            <a:r>
              <a:rPr lang="en-US" b="1" dirty="0"/>
              <a:t>Suffering of Muslims</a:t>
            </a:r>
            <a:endParaRPr lang="en-US" dirty="0"/>
          </a:p>
          <a:p>
            <a:pPr lvl="1"/>
            <a:r>
              <a:rPr lang="en-US" dirty="0"/>
              <a:t>Thousands arrested, economy affected, leadership disillusioned.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59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5527-3A17-4DF1-C42D-ACFD2E32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BC151-EF67-388E-7F88-C9417B00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Movement started with </a:t>
            </a:r>
            <a:r>
              <a:rPr lang="en-US" b="1" dirty="0"/>
              <a:t>religious cause</a:t>
            </a:r>
            <a:r>
              <a:rPr lang="en-US" dirty="0"/>
              <a:t> but had </a:t>
            </a:r>
            <a:r>
              <a:rPr lang="en-US" b="1" dirty="0"/>
              <a:t>political impacts</a:t>
            </a:r>
            <a:r>
              <a:rPr lang="en-US" dirty="0"/>
              <a:t>.</a:t>
            </a:r>
          </a:p>
          <a:p>
            <a:r>
              <a:rPr lang="en-US" dirty="0"/>
              <a:t>Despite failure, it left </a:t>
            </a:r>
            <a:r>
              <a:rPr lang="en-US" b="1" dirty="0"/>
              <a:t>deep imprint on Muslim political identity</a:t>
            </a:r>
            <a:r>
              <a:rPr lang="en-US" dirty="0"/>
              <a:t> in India.</a:t>
            </a:r>
          </a:p>
          <a:p>
            <a:r>
              <a:rPr lang="en-US" dirty="0"/>
              <a:t>It sowed seeds for later demands of </a:t>
            </a:r>
            <a:r>
              <a:rPr lang="en-US" b="1" dirty="0"/>
              <a:t>separate homeland (Pakistan Movement)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2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A172-AD20-8353-41A1-3533D10E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Sources/References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90101-21D2-15EF-7632-1C0E18F73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Jalal, Ayesha. </a:t>
            </a:r>
            <a:r>
              <a:rPr lang="en-US" i="1" dirty="0"/>
              <a:t>The Sole Spokesman: Jinnah, the Muslim League and the Demand for Pakistan</a:t>
            </a:r>
            <a:r>
              <a:rPr lang="en-US" dirty="0"/>
              <a:t>. Cambridge University Press, 1985.</a:t>
            </a:r>
          </a:p>
          <a:p>
            <a:r>
              <a:rPr lang="en-US" dirty="0" err="1"/>
              <a:t>Minault</a:t>
            </a:r>
            <a:r>
              <a:rPr lang="en-US" dirty="0"/>
              <a:t>, Gail. </a:t>
            </a:r>
            <a:r>
              <a:rPr lang="en-US" i="1" dirty="0"/>
              <a:t>The Khilafat Movement: Religious Symbolism and Political Mobilization in India</a:t>
            </a:r>
            <a:r>
              <a:rPr lang="en-US" dirty="0"/>
              <a:t>. Columbia University Press, 1982.</a:t>
            </a:r>
          </a:p>
          <a:p>
            <a:r>
              <a:rPr lang="en-US" dirty="0"/>
              <a:t>Metcalf, Barbara D. </a:t>
            </a:r>
            <a:r>
              <a:rPr lang="en-US" i="1" dirty="0"/>
              <a:t>Islamic Revival in British India: Deoband, 1860–1900</a:t>
            </a:r>
            <a:r>
              <a:rPr lang="en-US" dirty="0"/>
              <a:t>. Princeton University Press, 1982.</a:t>
            </a:r>
          </a:p>
          <a:p>
            <a:r>
              <a:rPr lang="en-US" dirty="0"/>
              <a:t>Hasan, </a:t>
            </a:r>
            <a:r>
              <a:rPr lang="en-US" dirty="0" err="1"/>
              <a:t>Mushirul</a:t>
            </a:r>
            <a:r>
              <a:rPr lang="en-US" dirty="0"/>
              <a:t>. </a:t>
            </a:r>
            <a:r>
              <a:rPr lang="en-US" i="1" dirty="0"/>
              <a:t>Nationalism and Communal Politics in India, 1885–1930</a:t>
            </a:r>
            <a:r>
              <a:rPr lang="en-US" dirty="0"/>
              <a:t>. Manohar, 1991.</a:t>
            </a:r>
          </a:p>
          <a:p>
            <a:r>
              <a:rPr lang="en-US" dirty="0"/>
              <a:t>Wolpert, Stanley. </a:t>
            </a:r>
            <a:r>
              <a:rPr lang="en-US" i="1" dirty="0"/>
              <a:t>A New History of India</a:t>
            </a:r>
            <a:r>
              <a:rPr lang="en-US" dirty="0"/>
              <a:t>. Oxford University Press, 2009.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136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oks, pens, and a wall clock">
            <a:extLst>
              <a:ext uri="{FF2B5EF4-FFF2-40B4-BE49-F238E27FC236}">
                <a16:creationId xmlns:a16="http://schemas.microsoft.com/office/drawing/2014/main" id="{DCD9367C-4A09-5A59-F197-75DF8F62A7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53" r="9146"/>
          <a:stretch>
            <a:fillRect/>
          </a:stretch>
        </p:blipFill>
        <p:spPr>
          <a:xfrm>
            <a:off x="1526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1582" y="2121408"/>
            <a:ext cx="5047707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/>
              <a:t>Thank you for your time and attention!</a:t>
            </a:r>
          </a:p>
          <a:p>
            <a:endParaRPr lang="en-US" sz="1600" b="1"/>
          </a:p>
          <a:p>
            <a:pPr marL="0" indent="0">
              <a:buNone/>
            </a:pPr>
            <a:endParaRPr lang="en-US" sz="1600" b="1"/>
          </a:p>
          <a:p>
            <a:pPr marL="0" indent="0">
              <a:buNone/>
            </a:pPr>
            <a:r>
              <a:rPr lang="en-US" sz="1600" b="1"/>
              <a:t>Hopefully, I will see you in the next class. Until then, take care, &amp; have a great day!</a:t>
            </a:r>
          </a:p>
          <a:p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4181350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33</TotalTime>
  <Words>720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Causes &amp; Consequences of the Khilafat Movement</vt:lpstr>
      <vt:lpstr>Introduction</vt:lpstr>
      <vt:lpstr>Historical Context</vt:lpstr>
      <vt:lpstr>Causes of the Khilafat Movement</vt:lpstr>
      <vt:lpstr>Consequences of the Khilafat Movement</vt:lpstr>
      <vt:lpstr>Consequences</vt:lpstr>
      <vt:lpstr>Conclusion </vt:lpstr>
      <vt:lpstr>Sources/References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PMLS</dc:creator>
  <cp:lastModifiedBy>PMLS</cp:lastModifiedBy>
  <cp:revision>2</cp:revision>
  <dcterms:created xsi:type="dcterms:W3CDTF">2025-09-15T06:18:44Z</dcterms:created>
  <dcterms:modified xsi:type="dcterms:W3CDTF">2025-09-15T06:53:55Z</dcterms:modified>
</cp:coreProperties>
</file>