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5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9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7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7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4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2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50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1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7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044899B-1B8F-441E-991A-1EFE68A7340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01F300C-A2F1-4E74-964E-D6700868F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88CCC-45A5-CC4D-5C22-21800BEE3B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Ideology: Definition &amp; significance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377F4-D8B0-4CDD-333F-47FD7E2E52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Habib Ali</a:t>
            </a:r>
          </a:p>
        </p:txBody>
      </p:sp>
    </p:spTree>
    <p:extLst>
      <p:ext uri="{BB962C8B-B14F-4D97-AF65-F5344CB8AC3E}">
        <p14:creationId xmlns:p14="http://schemas.microsoft.com/office/powerpoint/2010/main" val="3789965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4014-3EF4-72A1-961A-19E901EEA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14831-752E-B396-7C74-7A8296184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Etymology:</a:t>
            </a:r>
            <a:endParaRPr lang="en-US" dirty="0"/>
          </a:p>
          <a:p>
            <a:pPr lvl="1"/>
            <a:r>
              <a:rPr lang="en-US" i="1" dirty="0"/>
              <a:t>Idea</a:t>
            </a:r>
            <a:r>
              <a:rPr lang="en-US" dirty="0"/>
              <a:t> (Greek) = thought, </a:t>
            </a:r>
            <a:r>
              <a:rPr lang="en-US" i="1" dirty="0"/>
              <a:t>Logos</a:t>
            </a:r>
            <a:r>
              <a:rPr lang="en-US" dirty="0"/>
              <a:t> = study → </a:t>
            </a:r>
            <a:r>
              <a:rPr lang="en-US" i="1" dirty="0"/>
              <a:t>study of ideas</a:t>
            </a:r>
            <a:r>
              <a:rPr lang="en-US" dirty="0"/>
              <a:t>.</a:t>
            </a:r>
          </a:p>
          <a:p>
            <a:r>
              <a:rPr lang="en-US" b="1" dirty="0"/>
              <a:t>General Definition:</a:t>
            </a:r>
            <a:endParaRPr lang="en-US" dirty="0"/>
          </a:p>
          <a:p>
            <a:pPr lvl="1"/>
            <a:r>
              <a:rPr lang="en-US" dirty="0"/>
              <a:t>A systematic set of beliefs, values, and principles that influence the social, political, and economic behavior of people.</a:t>
            </a:r>
          </a:p>
          <a:p>
            <a:r>
              <a:rPr lang="en-US" b="1" dirty="0"/>
              <a:t>Simplified:</a:t>
            </a:r>
            <a:endParaRPr lang="en-US" dirty="0"/>
          </a:p>
          <a:p>
            <a:pPr lvl="1"/>
            <a:r>
              <a:rPr lang="en-US" dirty="0"/>
              <a:t>Ideology = a worldview + a framework for action.</a:t>
            </a:r>
            <a:endParaRPr lang="en-US" b="1" dirty="0"/>
          </a:p>
          <a:p>
            <a:r>
              <a:rPr lang="en-US" b="1" dirty="0"/>
              <a:t>Scholarly Definitions:</a:t>
            </a:r>
            <a:endParaRPr lang="en-US" dirty="0"/>
          </a:p>
          <a:p>
            <a:pPr lvl="1"/>
            <a:r>
              <a:rPr lang="en-US" dirty="0"/>
              <a:t>Karl Marx: “Ideology is a false consciousness imposed by the ruling class.”</a:t>
            </a:r>
          </a:p>
          <a:p>
            <a:pPr lvl="1"/>
            <a:r>
              <a:rPr lang="en-US" dirty="0" err="1"/>
              <a:t>Destutt</a:t>
            </a:r>
            <a:r>
              <a:rPr lang="en-US" dirty="0"/>
              <a:t> de Tracy (who coined the term in the 18th century): “The science of ideas.”</a:t>
            </a:r>
          </a:p>
          <a:p>
            <a:r>
              <a:rPr lang="en-US" b="1" dirty="0"/>
              <a:t>General Definition:</a:t>
            </a:r>
          </a:p>
          <a:p>
            <a:pPr lvl="1"/>
            <a:r>
              <a:rPr lang="en-US" dirty="0"/>
              <a:t>An ideology is a </a:t>
            </a:r>
            <a:r>
              <a:rPr lang="en-US" b="1" dirty="0"/>
              <a:t>set of beliefs, values, and ideas</a:t>
            </a:r>
            <a:r>
              <a:rPr lang="en-US" dirty="0"/>
              <a:t> that guide the political, social, and economic behavior of individuals and societies.</a:t>
            </a:r>
          </a:p>
          <a:p>
            <a:r>
              <a:rPr lang="en-US" b="1" dirty="0"/>
              <a:t>In Political Context:</a:t>
            </a:r>
          </a:p>
          <a:p>
            <a:pPr lvl="1"/>
            <a:r>
              <a:rPr lang="en-US" dirty="0"/>
              <a:t>It refers to the </a:t>
            </a:r>
            <a:r>
              <a:rPr lang="en-US" u="sng" dirty="0"/>
              <a:t>guiding principles on which a state is founded and run.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29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92677-A6B0-58E0-DBCE-518B2B5D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Significance of Ideology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7A019-2516-760E-007F-FE592ACA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Significance of Ideology (15 minutes)</a:t>
            </a:r>
          </a:p>
          <a:p>
            <a:r>
              <a:rPr lang="en-US" b="1" dirty="0"/>
              <a:t>(a) Provides Vision and Direction</a:t>
            </a:r>
            <a:endParaRPr lang="en-US" dirty="0"/>
          </a:p>
          <a:p>
            <a:pPr lvl="1"/>
            <a:r>
              <a:rPr lang="en-US" dirty="0"/>
              <a:t>Gives a roadmap for individuals and societies.</a:t>
            </a:r>
          </a:p>
          <a:p>
            <a:r>
              <a:rPr lang="en-US" b="1" dirty="0"/>
              <a:t>(b) Source of Unity &amp; Identity</a:t>
            </a:r>
            <a:endParaRPr lang="en-US" dirty="0"/>
          </a:p>
          <a:p>
            <a:pPr lvl="1"/>
            <a:r>
              <a:rPr lang="en-US" dirty="0"/>
              <a:t>Creates a sense of belonging (e.g., Islam for Muslims of the Subcontinent).</a:t>
            </a:r>
          </a:p>
          <a:p>
            <a:r>
              <a:rPr lang="en-US" b="1" dirty="0"/>
              <a:t>(c) Shapes Public Opinion</a:t>
            </a:r>
            <a:endParaRPr lang="en-US" dirty="0"/>
          </a:p>
          <a:p>
            <a:pPr lvl="1"/>
            <a:r>
              <a:rPr lang="en-US" dirty="0"/>
              <a:t>Determines how people think about governance, justice, equality, etc.</a:t>
            </a:r>
          </a:p>
          <a:p>
            <a:r>
              <a:rPr lang="en-US" b="1" dirty="0"/>
              <a:t>(d) Strengthens National Integration</a:t>
            </a:r>
            <a:endParaRPr lang="en-US" dirty="0"/>
          </a:p>
          <a:p>
            <a:pPr lvl="1"/>
            <a:r>
              <a:rPr lang="en-US" dirty="0"/>
              <a:t>A shared ideology prevents fragmentation and provides political stability.</a:t>
            </a:r>
          </a:p>
          <a:p>
            <a:r>
              <a:rPr lang="en-US" b="1" dirty="0"/>
              <a:t>(e) Guides Policies and Institutions</a:t>
            </a:r>
            <a:endParaRPr lang="en-US" dirty="0"/>
          </a:p>
          <a:p>
            <a:pPr lvl="1"/>
            <a:r>
              <a:rPr lang="en-US" dirty="0"/>
              <a:t>Constitutions and laws are usually based on ideology.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06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80028-F12B-4590-C330-011BDCD4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Ideology of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F1D69-9ECD-524D-25B5-5E13BFA92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(a) Definition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Ideology of Pakistan</a:t>
            </a:r>
            <a:r>
              <a:rPr lang="en-US" dirty="0"/>
              <a:t> is the belief that </a:t>
            </a:r>
            <a:r>
              <a:rPr lang="en-US" u="sng" dirty="0"/>
              <a:t>Muslims of the Subcontinent are a distinct nation, with their own religion, culture, and way of life</a:t>
            </a:r>
            <a:r>
              <a:rPr lang="en-US" dirty="0"/>
              <a:t>, and thus need a separate homeland to practice Islamic values freely.</a:t>
            </a:r>
          </a:p>
          <a:p>
            <a:r>
              <a:rPr lang="en-US" b="1" dirty="0"/>
              <a:t>(b) Roots of Pakistan’s Ideology</a:t>
            </a:r>
          </a:p>
          <a:p>
            <a:pPr lvl="1"/>
            <a:r>
              <a:rPr lang="en-US" b="1" dirty="0"/>
              <a:t>Two-Nation Theory</a:t>
            </a:r>
            <a:r>
              <a:rPr lang="en-US" dirty="0"/>
              <a:t> – Muslims and Hindus are two separate nations with distinct identities.</a:t>
            </a:r>
          </a:p>
          <a:p>
            <a:pPr lvl="1"/>
            <a:r>
              <a:rPr lang="en-US" b="1" dirty="0"/>
              <a:t>Islam as a Complete Code of Life</a:t>
            </a:r>
            <a:r>
              <a:rPr lang="en-US" dirty="0"/>
              <a:t> – Pakistan was envisioned as a state where laws, politics, economy, and society would be guided by Islamic principles.</a:t>
            </a:r>
          </a:p>
          <a:p>
            <a:r>
              <a:rPr lang="en-US" b="1" dirty="0"/>
              <a:t>(c) Role of Leaders</a:t>
            </a:r>
          </a:p>
          <a:p>
            <a:pPr lvl="1"/>
            <a:r>
              <a:rPr lang="en-US" b="1" dirty="0"/>
              <a:t>Sir Syed Ahmad Khan</a:t>
            </a:r>
            <a:r>
              <a:rPr lang="en-US" dirty="0"/>
              <a:t>: Laid the intellectual foundation by stressing Muslim identity.</a:t>
            </a:r>
          </a:p>
          <a:p>
            <a:pPr lvl="1"/>
            <a:r>
              <a:rPr lang="en-US" b="1" dirty="0"/>
              <a:t>Allama Iqbal</a:t>
            </a:r>
            <a:r>
              <a:rPr lang="en-US" dirty="0"/>
              <a:t>: Advocated for a separate Muslim state in his Allahabad Address (1930).</a:t>
            </a:r>
          </a:p>
          <a:p>
            <a:pPr lvl="1"/>
            <a:r>
              <a:rPr lang="en-US" b="1" dirty="0"/>
              <a:t>Quaid-e-Azam Muhammad Ali Jinnah</a:t>
            </a:r>
            <a:r>
              <a:rPr lang="en-US" dirty="0"/>
              <a:t>: Translated the idea into a political struggle and finally, reality in 1947.</a:t>
            </a:r>
          </a:p>
          <a:p>
            <a:r>
              <a:rPr lang="en-US" b="1" dirty="0"/>
              <a:t>(d) Ideology in the Constitution</a:t>
            </a:r>
          </a:p>
          <a:p>
            <a:pPr lvl="1"/>
            <a:r>
              <a:rPr lang="en-US" dirty="0"/>
              <a:t>Objective Resolution (1949) – made Islamic ideology the foundation of Pakistan’s constitution.</a:t>
            </a:r>
          </a:p>
          <a:p>
            <a:pPr lvl="1"/>
            <a:r>
              <a:rPr lang="en-US" dirty="0"/>
              <a:t>Constitutions of 1956, 1962, 1973 — all embedded the Islamic character of Pakistan.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280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6B4D-9F47-38EA-5E2F-E9FE45E68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Importance of Pakistan’s Ideology Today 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DF520-A388-89D1-6CE4-D9EF06153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Ensures unity among diverse provinces and ethnic groups.</a:t>
            </a:r>
          </a:p>
          <a:p>
            <a:r>
              <a:rPr lang="en-US" dirty="0"/>
              <a:t>Provides guiding principles for governance and lawmaking.</a:t>
            </a:r>
          </a:p>
          <a:p>
            <a:r>
              <a:rPr lang="en-US" dirty="0"/>
              <a:t>Safeguards the Islamic identity of Pakistan.</a:t>
            </a:r>
          </a:p>
          <a:p>
            <a:r>
              <a:rPr lang="en-US" dirty="0"/>
              <a:t>Strengthens national sovereignty and independence.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771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91ED6-4FA5-EAB9-7080-DCCA7003F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98371-B923-16EB-2AD5-64AD9E55F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Ideology is the soul of a nation — without it, a state becomes directionless.</a:t>
            </a:r>
          </a:p>
          <a:p>
            <a:r>
              <a:rPr lang="en-US" dirty="0"/>
              <a:t>Pakistan’s ideology is rooted in Islam, which not only justified its creation but continues to guide its policies, identity, and unity.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70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8980-419B-F9EA-E1E3-58F2181CF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45C8-35B7-A563-AE47-0225FAB1B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Activity:</a:t>
            </a:r>
            <a:r>
              <a:rPr lang="en-US" dirty="0"/>
              <a:t> </a:t>
            </a:r>
          </a:p>
          <a:p>
            <a:r>
              <a:rPr lang="en-US" dirty="0"/>
              <a:t>Group A: </a:t>
            </a:r>
            <a:r>
              <a:rPr lang="en-US" b="1" i="1" dirty="0"/>
              <a:t>“Pakistan could not have survived without ideology.”</a:t>
            </a:r>
            <a:endParaRPr lang="en-US" b="1" dirty="0"/>
          </a:p>
          <a:p>
            <a:r>
              <a:rPr lang="en-US" dirty="0"/>
              <a:t>Group B: </a:t>
            </a:r>
            <a:r>
              <a:rPr lang="en-US" b="1" i="1" dirty="0"/>
              <a:t>“Economics and politics are more important than ideology.”</a:t>
            </a:r>
            <a:endParaRPr lang="en-US" b="1" dirty="0"/>
          </a:p>
          <a:p>
            <a:r>
              <a:rPr lang="en-US" b="1" dirty="0"/>
              <a:t>Question for Reflection:</a:t>
            </a:r>
            <a:endParaRPr lang="en-US" dirty="0"/>
          </a:p>
          <a:p>
            <a:pPr lvl="1"/>
            <a:r>
              <a:rPr lang="en-US" i="1" dirty="0"/>
              <a:t>How can Pakistan’s ideology be applied to solve modern challenges such as corruption, inequality, or extremism?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3559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</TotalTime>
  <Words>573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Rockwell</vt:lpstr>
      <vt:lpstr>Rockwell Condensed</vt:lpstr>
      <vt:lpstr>Wingdings</vt:lpstr>
      <vt:lpstr>Wood Type</vt:lpstr>
      <vt:lpstr>Ideology: Definition &amp; significance</vt:lpstr>
      <vt:lpstr>Definition</vt:lpstr>
      <vt:lpstr>Significance of Ideology </vt:lpstr>
      <vt:lpstr>Ideology of Pakistan</vt:lpstr>
      <vt:lpstr>Importance of Pakistan’s Ideology Today  </vt:lpstr>
      <vt:lpstr>Conclusion  </vt:lpstr>
      <vt:lpstr>Activity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PMLS</dc:creator>
  <cp:lastModifiedBy>PMLS</cp:lastModifiedBy>
  <cp:revision>2</cp:revision>
  <dcterms:created xsi:type="dcterms:W3CDTF">2025-08-25T06:51:58Z</dcterms:created>
  <dcterms:modified xsi:type="dcterms:W3CDTF">2025-08-25T07:00:33Z</dcterms:modified>
</cp:coreProperties>
</file>