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2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1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2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0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6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2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77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910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7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1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0FC4506-20A0-4272-A26B-DA3F7BECAE0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8006770-FF9D-4CFA-A3FF-2D006C76E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6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0D75BC-FEBB-82FB-3C87-B93F34AD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6782" y="1432223"/>
            <a:ext cx="3324384" cy="3357976"/>
          </a:xfrm>
        </p:spPr>
        <p:txBody>
          <a:bodyPr>
            <a:normAutofit/>
          </a:bodyPr>
          <a:lstStyle/>
          <a:p>
            <a:r>
              <a:rPr lang="en-US" sz="3300" b="1" dirty="0"/>
              <a:t>The Hindi–Urdu Controversy of 1867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84613A0-EB56-846C-1ECE-B2E4EA06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0102" y="4790198"/>
            <a:ext cx="2818418" cy="68705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Habib Ali</a:t>
            </a: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A244EA14-DE2D-B9F6-2A43-C558CB3AD5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48" y="2250707"/>
            <a:ext cx="6631744" cy="22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6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A0B2-3E14-A0C1-B72D-D7736AA9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2646-150C-9227-70FB-144ADD68B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Hindi–Urdu Controversy of 1867</a:t>
            </a:r>
            <a:r>
              <a:rPr lang="en-US" dirty="0"/>
              <a:t> was a landmark cultural and political conflict in colonial India.</a:t>
            </a:r>
          </a:p>
          <a:p>
            <a:r>
              <a:rPr lang="en-US" dirty="0"/>
              <a:t>It exposed the </a:t>
            </a:r>
            <a:r>
              <a:rPr lang="en-US" u="sng" dirty="0"/>
              <a:t>deep linguistic, religious, and communal fissures</a:t>
            </a:r>
            <a:r>
              <a:rPr lang="en-US" dirty="0"/>
              <a:t> between Hindus and Muslims. </a:t>
            </a:r>
          </a:p>
          <a:p>
            <a:r>
              <a:rPr lang="en-US" dirty="0"/>
              <a:t>It had </a:t>
            </a:r>
            <a:r>
              <a:rPr lang="en-US" b="1" dirty="0"/>
              <a:t>far-reaching implications for identity formation</a:t>
            </a:r>
            <a:r>
              <a:rPr lang="en-US" dirty="0"/>
              <a:t>, political mobilization, and ultimately, the creation of a separate homeland for Muslims in South Asia.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581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431D-8660-A0D8-28E1-E5A9A196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Background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282F0-6917-F645-2BAE-E00E68EF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1867, </a:t>
            </a:r>
            <a:r>
              <a:rPr lang="en-US" b="1" dirty="0"/>
              <a:t>Urdu</a:t>
            </a:r>
            <a:r>
              <a:rPr lang="en-US" dirty="0"/>
              <a:t>, written in the </a:t>
            </a:r>
            <a:r>
              <a:rPr lang="en-US" b="1" dirty="0"/>
              <a:t>Perso-Arabic script</a:t>
            </a:r>
            <a:r>
              <a:rPr lang="en-US" dirty="0"/>
              <a:t>, was widely used as the lingua franca of northern India.</a:t>
            </a:r>
          </a:p>
          <a:p>
            <a:pPr lvl="1"/>
            <a:r>
              <a:rPr lang="en-US" b="1" u="sng" dirty="0"/>
              <a:t>lingua franca:</a:t>
            </a:r>
            <a:r>
              <a:rPr lang="en-US" dirty="0"/>
              <a:t> a language that is </a:t>
            </a:r>
            <a:r>
              <a:rPr lang="en-US" u="sng" dirty="0"/>
              <a:t>adopted as a common language</a:t>
            </a:r>
            <a:r>
              <a:rPr lang="en-US" dirty="0"/>
              <a:t> between speakers whose </a:t>
            </a:r>
            <a:r>
              <a:rPr lang="en-US" u="sng" dirty="0"/>
              <a:t>native languages are different.</a:t>
            </a:r>
          </a:p>
          <a:p>
            <a:r>
              <a:rPr lang="en-US" dirty="0"/>
              <a:t> It served as the official language in many administrative regions under the British Raj.</a:t>
            </a:r>
          </a:p>
          <a:p>
            <a:r>
              <a:rPr lang="en-US" b="1" dirty="0"/>
              <a:t>Hindi</a:t>
            </a:r>
            <a:r>
              <a:rPr lang="en-US" dirty="0"/>
              <a:t>, written in the </a:t>
            </a:r>
            <a:r>
              <a:rPr lang="en-US" b="1" dirty="0"/>
              <a:t>Devanagari script</a:t>
            </a:r>
            <a:r>
              <a:rPr lang="en-US" dirty="0"/>
              <a:t>, was spoken primarily by the Hindu majority in North India but did not enjoy the same official patronage.</a:t>
            </a:r>
          </a:p>
          <a:p>
            <a:r>
              <a:rPr lang="en-US" dirty="0"/>
              <a:t>The decline of Mughal authority and the rise of Hindu socio-political movements created a </a:t>
            </a:r>
            <a:r>
              <a:rPr lang="en-US" b="1" dirty="0"/>
              <a:t>linguistic assertion</a:t>
            </a:r>
            <a:r>
              <a:rPr lang="en-US" dirty="0"/>
              <a:t> for Hindi, which culminated in a demand to replace Urdu as the language of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324163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D1A5-66E6-A3D6-FC9C-A48D5344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Causes of the Controversy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CC97-DBC5-544C-0640-D1FB4B63A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Colonial Language Policies</a:t>
            </a:r>
            <a:endParaRPr lang="en-US" dirty="0"/>
          </a:p>
          <a:p>
            <a:pPr lvl="1"/>
            <a:r>
              <a:rPr lang="en-US" dirty="0"/>
              <a:t>The British promoted vernacular languages to facilitate governance, which sharpened competition between Urdu and Hindi.</a:t>
            </a:r>
          </a:p>
          <a:p>
            <a:r>
              <a:rPr lang="en-US" b="1" dirty="0"/>
              <a:t>Religious Identity and Cultural Pride</a:t>
            </a:r>
            <a:endParaRPr lang="en-US" dirty="0"/>
          </a:p>
          <a:p>
            <a:pPr lvl="1"/>
            <a:r>
              <a:rPr lang="en-US" dirty="0"/>
              <a:t>Muslims associated Urdu with their literary and cultural heritage, while Hindus increasingly identified Hindi with religious and cultural revival.</a:t>
            </a:r>
          </a:p>
          <a:p>
            <a:r>
              <a:rPr lang="en-US" b="1" dirty="0"/>
              <a:t>Rise of Hindu Reform Movements</a:t>
            </a:r>
            <a:endParaRPr lang="en-US" dirty="0"/>
          </a:p>
          <a:p>
            <a:pPr lvl="1"/>
            <a:r>
              <a:rPr lang="en-US" dirty="0"/>
              <a:t>Organizations like the </a:t>
            </a:r>
            <a:r>
              <a:rPr lang="en-US" b="1" dirty="0"/>
              <a:t>Arya Samaj</a:t>
            </a:r>
            <a:r>
              <a:rPr lang="en-US" dirty="0"/>
              <a:t> supported the promotion of Hindi as a marker of Hindu identity.</a:t>
            </a:r>
          </a:p>
          <a:p>
            <a:r>
              <a:rPr lang="en-US" b="1" dirty="0"/>
              <a:t>Role of Educated Middle Classes</a:t>
            </a:r>
            <a:endParaRPr lang="en-US" dirty="0"/>
          </a:p>
          <a:p>
            <a:pPr lvl="1"/>
            <a:r>
              <a:rPr lang="en-US" dirty="0"/>
              <a:t>Both Hindu and Muslim elites used language as a tool to assert their socio-political influence.</a:t>
            </a:r>
          </a:p>
          <a:p>
            <a:r>
              <a:rPr lang="en-US" b="1" dirty="0"/>
              <a:t>Socio-Political Consciousness</a:t>
            </a:r>
            <a:endParaRPr lang="en-US" dirty="0"/>
          </a:p>
          <a:p>
            <a:pPr lvl="1"/>
            <a:r>
              <a:rPr lang="en-US" dirty="0"/>
              <a:t>The controversy coincided with the rise of </a:t>
            </a:r>
            <a:r>
              <a:rPr lang="en-US" b="1" dirty="0"/>
              <a:t>communal consciousness</a:t>
            </a:r>
            <a:r>
              <a:rPr lang="en-US" dirty="0"/>
              <a:t> and the crystallization of separate Hindu and Muslim identities.</a:t>
            </a:r>
          </a:p>
        </p:txBody>
      </p:sp>
    </p:spTree>
    <p:extLst>
      <p:ext uri="{BB962C8B-B14F-4D97-AF65-F5344CB8AC3E}">
        <p14:creationId xmlns:p14="http://schemas.microsoft.com/office/powerpoint/2010/main" val="1507953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58C1-2A5E-8B4F-0CE7-C9624BED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aims and Objectives of the Movements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C361-CCE6-90C2-5A80-97D7BAD98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Hindu Objective:</a:t>
            </a:r>
            <a:r>
              <a:rPr lang="en-US" dirty="0"/>
              <a:t> To secure recognition of Hindi in Devanagari script as an official language in place of Urdu.</a:t>
            </a:r>
          </a:p>
          <a:p>
            <a:r>
              <a:rPr lang="en-US" b="1" dirty="0"/>
              <a:t>Muslim Objective:</a:t>
            </a:r>
            <a:r>
              <a:rPr lang="en-US" dirty="0"/>
              <a:t> To protect the dominance of Urdu as the lingua franca and as the embodiment of Muslim identity in India.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6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F856-BC8C-83A3-FAE1-0EB96427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Consequences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D50C-8CBB-B3A0-F0D5-F1BC23E64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Communalization of Language</a:t>
            </a:r>
            <a:endParaRPr lang="en-US" dirty="0"/>
          </a:p>
          <a:p>
            <a:pPr lvl="1"/>
            <a:r>
              <a:rPr lang="en-US" dirty="0"/>
              <a:t>The controversy transformed language from a cultural medium into a political symbol of </a:t>
            </a:r>
            <a:r>
              <a:rPr lang="en-US" b="1" dirty="0"/>
              <a:t>communal identity</a:t>
            </a:r>
            <a:r>
              <a:rPr lang="en-US" dirty="0"/>
              <a:t>.</a:t>
            </a:r>
          </a:p>
          <a:p>
            <a:r>
              <a:rPr lang="en-US" b="1" dirty="0"/>
              <a:t>Strengthening of Muslim Political Thought</a:t>
            </a:r>
            <a:endParaRPr lang="en-US" dirty="0"/>
          </a:p>
          <a:p>
            <a:pPr lvl="1"/>
            <a:r>
              <a:rPr lang="en-US" dirty="0"/>
              <a:t>Muslims began to feel culturally and politically threatened, a perception that later influenced Sir Syed Ahmad Khan’s call for Muslim unity and separate political safeguards.</a:t>
            </a:r>
          </a:p>
          <a:p>
            <a:r>
              <a:rPr lang="en-US" b="1" dirty="0"/>
              <a:t>Hindu-Muslim Divide</a:t>
            </a:r>
            <a:endParaRPr lang="en-US" dirty="0"/>
          </a:p>
          <a:p>
            <a:pPr lvl="1"/>
            <a:r>
              <a:rPr lang="en-US" dirty="0"/>
              <a:t>The controversy deepened communal divisions, becoming a precursor to larger disputes in the 20th century.</a:t>
            </a:r>
          </a:p>
          <a:p>
            <a:r>
              <a:rPr lang="en-US" b="1" dirty="0"/>
              <a:t>Impact on Nationalism</a:t>
            </a:r>
            <a:endParaRPr lang="en-US" dirty="0"/>
          </a:p>
          <a:p>
            <a:pPr lvl="1"/>
            <a:r>
              <a:rPr lang="en-US" dirty="0"/>
              <a:t>Instead of uniting Indians against colonial rule, the controversy fractured nationalist unity along religious lines.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757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C798-F353-50D9-0DEB-E64BBC86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BAC44-D1A8-0BCD-0A20-53EEC0650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Hindi–Urdu Controversy of 1867 was not merely about language; it was about </a:t>
            </a:r>
            <a:r>
              <a:rPr lang="en-US" b="1" dirty="0"/>
              <a:t>power, identity, and political representation</a:t>
            </a:r>
            <a:r>
              <a:rPr lang="en-US" dirty="0"/>
              <a:t>. </a:t>
            </a:r>
          </a:p>
          <a:p>
            <a:r>
              <a:rPr lang="en-US" dirty="0"/>
              <a:t>It was an early manifestation of the tensions that would culminate in the </a:t>
            </a:r>
            <a:r>
              <a:rPr lang="en-US" b="1" dirty="0"/>
              <a:t>partition of India in 1947</a:t>
            </a:r>
            <a:r>
              <a:rPr lang="en-US" dirty="0"/>
              <a:t>. </a:t>
            </a:r>
          </a:p>
          <a:p>
            <a:r>
              <a:rPr lang="en-US" dirty="0"/>
              <a:t>By politicizing language, the controversy underscored how cultural markers could become rallying points for communal mobilization in colonial India.</a:t>
            </a:r>
          </a:p>
          <a:p>
            <a:endParaRPr lang="en-US" b="1" dirty="0"/>
          </a:p>
          <a:p>
            <a:r>
              <a:rPr lang="en-US" b="1" dirty="0"/>
              <a:t>Sir Syed Ahmad Khan’s Response</a:t>
            </a:r>
          </a:p>
          <a:p>
            <a:r>
              <a:rPr lang="en-US" dirty="0"/>
              <a:t>Sir Syed strongly opposed the replacement of Urdu, viewing it as an existential threat to Muslim cultural and intellectual identity.</a:t>
            </a:r>
          </a:p>
          <a:p>
            <a:pPr lvl="1"/>
            <a:r>
              <a:rPr lang="en-US" dirty="0"/>
              <a:t>He famously remarked:</a:t>
            </a:r>
          </a:p>
          <a:p>
            <a:pPr lvl="1"/>
            <a:r>
              <a:rPr lang="en-US" dirty="0"/>
              <a:t>“The two communities will not join wholeheartedly in anything. The essential difference in their way of life and thought has made them two distinct nations.”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950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144-31D2-5811-6B6C-4EB8EE14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F099-9583-56A6-0493-33C63DEF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Brass, P. R. (1974). </a:t>
            </a:r>
            <a:r>
              <a:rPr lang="en-US" i="1" dirty="0"/>
              <a:t>Language, Religion and Politics in North India.</a:t>
            </a:r>
            <a:r>
              <a:rPr lang="en-US" dirty="0"/>
              <a:t> Cambridge University Press.</a:t>
            </a:r>
          </a:p>
          <a:p>
            <a:r>
              <a:rPr lang="en-US" dirty="0"/>
              <a:t>King, C. R. (1994). </a:t>
            </a:r>
            <a:r>
              <a:rPr lang="en-US" i="1" dirty="0"/>
              <a:t>One Language, Two Scripts: The Hindi–Urdu Conflict in India.</a:t>
            </a:r>
            <a:r>
              <a:rPr lang="en-US" dirty="0"/>
              <a:t> Oxford University Press.</a:t>
            </a:r>
          </a:p>
          <a:p>
            <a:r>
              <a:rPr lang="en-US" dirty="0"/>
              <a:t>Robinson, F. (2001). </a:t>
            </a:r>
            <a:r>
              <a:rPr lang="en-US" i="1" dirty="0"/>
              <a:t>The Ulama of </a:t>
            </a:r>
            <a:r>
              <a:rPr lang="en-US" i="1" dirty="0" err="1"/>
              <a:t>Farangi</a:t>
            </a:r>
            <a:r>
              <a:rPr lang="en-US" i="1" dirty="0"/>
              <a:t> Mahall and Islamic Culture in South Asia.</a:t>
            </a:r>
            <a:r>
              <a:rPr lang="en-US" dirty="0"/>
              <a:t> Permanent Black.</a:t>
            </a:r>
          </a:p>
          <a:p>
            <a:r>
              <a:rPr lang="en-US" dirty="0"/>
              <a:t>Rahman, T. (1996). </a:t>
            </a:r>
            <a:r>
              <a:rPr lang="en-US" i="1" dirty="0"/>
              <a:t>Language and Politics in Pakistan.</a:t>
            </a:r>
            <a:r>
              <a:rPr lang="en-US" dirty="0"/>
              <a:t> Oxford University Press.</a:t>
            </a:r>
          </a:p>
          <a:p>
            <a:r>
              <a:rPr lang="en-US" dirty="0"/>
              <a:t>Metcalf, B. D. (2009). </a:t>
            </a:r>
            <a:r>
              <a:rPr lang="en-US" i="1" dirty="0"/>
              <a:t>Islamic Revival in British India: Deoband, 1860–1900.</a:t>
            </a:r>
            <a:r>
              <a:rPr lang="en-US" dirty="0"/>
              <a:t> Oxford University Press.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471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2A692-E397-DED4-182A-DC9703FAE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1"/>
            <a:ext cx="6730277" cy="5121512"/>
          </a:xfrm>
          <a:ln>
            <a:noFill/>
          </a:ln>
        </p:spPr>
        <p:txBody>
          <a:bodyPr>
            <a:noAutofit/>
          </a:bodyPr>
          <a:lstStyle/>
          <a:p>
            <a:pPr marL="0" indent="0" algn="ctr"/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Thank you for your time and attention!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Hopefully, I will see you in the next class. Until then, take care, &amp; have a great day!</a:t>
            </a:r>
            <a:br>
              <a:rPr lang="en-US" sz="2800" b="1" dirty="0"/>
            </a:br>
            <a:br>
              <a:rPr lang="en-US" sz="2800" b="1" dirty="0"/>
            </a:br>
            <a:br>
              <a:rPr lang="en-US" sz="2800" dirty="0"/>
            </a:br>
            <a:endParaRPr lang="en-US" sz="2800" dirty="0"/>
          </a:p>
        </p:txBody>
      </p:sp>
      <p:pic>
        <p:nvPicPr>
          <p:cNvPr id="4" name="Content Placeholder 3" descr="Books, pens, and a wall clock">
            <a:extLst>
              <a:ext uri="{FF2B5EF4-FFF2-40B4-BE49-F238E27FC236}">
                <a16:creationId xmlns:a16="http://schemas.microsoft.com/office/drawing/2014/main" id="{0FB0FB7A-7A24-BFB1-C7FE-140C1478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36" r="3429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30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17</TotalTime>
  <Words>728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The Hindi–Urdu Controversy of 1867</vt:lpstr>
      <vt:lpstr>Introduction </vt:lpstr>
      <vt:lpstr>Historical Background </vt:lpstr>
      <vt:lpstr>Causes of the Controversy </vt:lpstr>
      <vt:lpstr> aims and Objectives of the Movements </vt:lpstr>
      <vt:lpstr>Consequences </vt:lpstr>
      <vt:lpstr>Conclusion </vt:lpstr>
      <vt:lpstr>References </vt:lpstr>
      <vt:lpstr>    Thank you for your time and attention!  Hopefully, I will see you in the next class. Until then, take care, &amp; have a great day!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5</cp:revision>
  <dcterms:created xsi:type="dcterms:W3CDTF">2025-09-01T06:11:45Z</dcterms:created>
  <dcterms:modified xsi:type="dcterms:W3CDTF">2025-09-01T06:29:24Z</dcterms:modified>
</cp:coreProperties>
</file>