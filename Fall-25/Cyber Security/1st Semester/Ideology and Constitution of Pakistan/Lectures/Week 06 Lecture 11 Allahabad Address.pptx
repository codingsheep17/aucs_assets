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4" r:id="rId5"/>
    <p:sldId id="260" r:id="rId6"/>
    <p:sldId id="262" r:id="rId7"/>
    <p:sldId id="263"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C09CE0-E78C-4339-8416-4CEC415156E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EC81B80A-52B8-4F5C-933F-038AA28B15FD}" type="slidenum">
              <a:rPr lang="en-US" smtClean="0"/>
              <a:t>‹#›</a:t>
            </a:fld>
            <a:endParaRPr lang="en-US"/>
          </a:p>
        </p:txBody>
      </p:sp>
    </p:spTree>
    <p:extLst>
      <p:ext uri="{BB962C8B-B14F-4D97-AF65-F5344CB8AC3E}">
        <p14:creationId xmlns:p14="http://schemas.microsoft.com/office/powerpoint/2010/main" val="493413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C09CE0-E78C-4339-8416-4CEC415156E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81B80A-52B8-4F5C-933F-038AA28B15FD}" type="slidenum">
              <a:rPr lang="en-US" smtClean="0"/>
              <a:t>‹#›</a:t>
            </a:fld>
            <a:endParaRPr lang="en-US"/>
          </a:p>
        </p:txBody>
      </p:sp>
    </p:spTree>
    <p:extLst>
      <p:ext uri="{BB962C8B-B14F-4D97-AF65-F5344CB8AC3E}">
        <p14:creationId xmlns:p14="http://schemas.microsoft.com/office/powerpoint/2010/main" val="2010765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D6C09CE0-E78C-4339-8416-4CEC415156EB}" type="datetimeFigureOut">
              <a:rPr lang="en-US" smtClean="0"/>
              <a:t>9/22/2025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EC81B80A-52B8-4F5C-933F-038AA28B15FD}" type="slidenum">
              <a:rPr lang="en-US" smtClean="0"/>
              <a:t>‹#›</a:t>
            </a:fld>
            <a:endParaRPr lang="en-US"/>
          </a:p>
        </p:txBody>
      </p:sp>
    </p:spTree>
    <p:extLst>
      <p:ext uri="{BB962C8B-B14F-4D97-AF65-F5344CB8AC3E}">
        <p14:creationId xmlns:p14="http://schemas.microsoft.com/office/powerpoint/2010/main" val="2890603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C09CE0-E78C-4339-8416-4CEC415156EB}"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81B80A-52B8-4F5C-933F-038AA28B15FD}" type="slidenum">
              <a:rPr lang="en-US" smtClean="0"/>
              <a:t>‹#›</a:t>
            </a:fld>
            <a:endParaRPr lang="en-US"/>
          </a:p>
        </p:txBody>
      </p:sp>
    </p:spTree>
    <p:extLst>
      <p:ext uri="{BB962C8B-B14F-4D97-AF65-F5344CB8AC3E}">
        <p14:creationId xmlns:p14="http://schemas.microsoft.com/office/powerpoint/2010/main" val="42637066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C09CE0-E78C-4339-8416-4CEC415156EB}" type="datetimeFigureOut">
              <a:rPr lang="en-US" smtClean="0"/>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81B80A-52B8-4F5C-933F-038AA28B15FD}" type="slidenum">
              <a:rPr lang="en-US" smtClean="0"/>
              <a:t>‹#›</a:t>
            </a:fld>
            <a:endParaRPr lang="en-US"/>
          </a:p>
        </p:txBody>
      </p:sp>
    </p:spTree>
    <p:extLst>
      <p:ext uri="{BB962C8B-B14F-4D97-AF65-F5344CB8AC3E}">
        <p14:creationId xmlns:p14="http://schemas.microsoft.com/office/powerpoint/2010/main" val="1034776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C09CE0-E78C-4339-8416-4CEC415156EB}" type="datetimeFigureOut">
              <a:rPr lang="en-US" smtClean="0"/>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81B80A-52B8-4F5C-933F-038AA28B15FD}" type="slidenum">
              <a:rPr lang="en-US" smtClean="0"/>
              <a:t>‹#›</a:t>
            </a:fld>
            <a:endParaRPr lang="en-US"/>
          </a:p>
        </p:txBody>
      </p:sp>
    </p:spTree>
    <p:extLst>
      <p:ext uri="{BB962C8B-B14F-4D97-AF65-F5344CB8AC3E}">
        <p14:creationId xmlns:p14="http://schemas.microsoft.com/office/powerpoint/2010/main" val="2187342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C09CE0-E78C-4339-8416-4CEC415156EB}" type="datetimeFigureOut">
              <a:rPr lang="en-US" smtClean="0"/>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81B80A-52B8-4F5C-933F-038AA28B15FD}" type="slidenum">
              <a:rPr lang="en-US" smtClean="0"/>
              <a:t>‹#›</a:t>
            </a:fld>
            <a:endParaRPr lang="en-US"/>
          </a:p>
        </p:txBody>
      </p:sp>
    </p:spTree>
    <p:extLst>
      <p:ext uri="{BB962C8B-B14F-4D97-AF65-F5344CB8AC3E}">
        <p14:creationId xmlns:p14="http://schemas.microsoft.com/office/powerpoint/2010/main" val="1433323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C09CE0-E78C-4339-8416-4CEC415156EB}"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EC81B80A-52B8-4F5C-933F-038AA28B15FD}" type="slidenum">
              <a:rPr lang="en-US" smtClean="0"/>
              <a:t>‹#›</a:t>
            </a:fld>
            <a:endParaRPr lang="en-US"/>
          </a:p>
        </p:txBody>
      </p:sp>
    </p:spTree>
    <p:extLst>
      <p:ext uri="{BB962C8B-B14F-4D97-AF65-F5344CB8AC3E}">
        <p14:creationId xmlns:p14="http://schemas.microsoft.com/office/powerpoint/2010/main" val="3815653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C09CE0-E78C-4339-8416-4CEC415156EB}" type="datetimeFigureOut">
              <a:rPr lang="en-US" smtClean="0"/>
              <a:t>9/22/2025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EC81B80A-52B8-4F5C-933F-038AA28B15FD}" type="slidenum">
              <a:rPr lang="en-US" smtClean="0"/>
              <a:t>‹#›</a:t>
            </a:fld>
            <a:endParaRPr lang="en-US"/>
          </a:p>
        </p:txBody>
      </p:sp>
    </p:spTree>
    <p:extLst>
      <p:ext uri="{BB962C8B-B14F-4D97-AF65-F5344CB8AC3E}">
        <p14:creationId xmlns:p14="http://schemas.microsoft.com/office/powerpoint/2010/main" val="4123907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C09CE0-E78C-4339-8416-4CEC415156E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81B80A-52B8-4F5C-933F-038AA28B15FD}" type="slidenum">
              <a:rPr lang="en-US" smtClean="0"/>
              <a:t>‹#›</a:t>
            </a:fld>
            <a:endParaRPr lang="en-US"/>
          </a:p>
        </p:txBody>
      </p:sp>
    </p:spTree>
    <p:extLst>
      <p:ext uri="{BB962C8B-B14F-4D97-AF65-F5344CB8AC3E}">
        <p14:creationId xmlns:p14="http://schemas.microsoft.com/office/powerpoint/2010/main" val="1900417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C09CE0-E78C-4339-8416-4CEC415156EB}"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81B80A-52B8-4F5C-933F-038AA28B15FD}" type="slidenum">
              <a:rPr lang="en-US" smtClean="0"/>
              <a:t>‹#›</a:t>
            </a:fld>
            <a:endParaRPr lang="en-US"/>
          </a:p>
        </p:txBody>
      </p:sp>
    </p:spTree>
    <p:extLst>
      <p:ext uri="{BB962C8B-B14F-4D97-AF65-F5344CB8AC3E}">
        <p14:creationId xmlns:p14="http://schemas.microsoft.com/office/powerpoint/2010/main" val="868015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D6C09CE0-E78C-4339-8416-4CEC415156EB}" type="datetimeFigureOut">
              <a:rPr lang="en-US" smtClean="0"/>
              <a:t>9/22/2025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EC81B80A-52B8-4F5C-933F-038AA28B15FD}" type="slidenum">
              <a:rPr lang="en-US" smtClean="0"/>
              <a:t>‹#›</a:t>
            </a:fld>
            <a:endParaRPr lang="en-US"/>
          </a:p>
        </p:txBody>
      </p:sp>
    </p:spTree>
    <p:extLst>
      <p:ext uri="{BB962C8B-B14F-4D97-AF65-F5344CB8AC3E}">
        <p14:creationId xmlns:p14="http://schemas.microsoft.com/office/powerpoint/2010/main" val="25337315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6.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DF3BDB2-0586-430E-811A-74BAFDEE66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Rectangle 16">
            <a:extLst>
              <a:ext uri="{FF2B5EF4-FFF2-40B4-BE49-F238E27FC236}">
                <a16:creationId xmlns:a16="http://schemas.microsoft.com/office/drawing/2014/main" id="{821E305B-0351-4E03-8C1B-F23D3A346E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928117"/>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C848660-F9C2-4F86-A218-6AE0FB4CC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1336" y="1110053"/>
            <a:ext cx="6630506" cy="4580301"/>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12AF7A-9C82-4CC3-BA17-8E036D34A0DF}"/>
              </a:ext>
            </a:extLst>
          </p:cNvPr>
          <p:cNvSpPr>
            <a:spLocks noGrp="1"/>
          </p:cNvSpPr>
          <p:nvPr>
            <p:ph type="ctrTitle"/>
          </p:nvPr>
        </p:nvSpPr>
        <p:spPr>
          <a:xfrm>
            <a:off x="4961376" y="1432223"/>
            <a:ext cx="6057144" cy="3357976"/>
          </a:xfrm>
        </p:spPr>
        <p:txBody>
          <a:bodyPr>
            <a:normAutofit/>
          </a:bodyPr>
          <a:lstStyle/>
          <a:p>
            <a:r>
              <a:rPr lang="en-US" sz="4400" b="1">
                <a:latin typeface="Book Antiqua" panose="02040602050305030304" pitchFamily="18" charset="0"/>
              </a:rPr>
              <a:t>Allahabad Address 1930 and its Importance in the Creation of Pakistan</a:t>
            </a:r>
            <a:br>
              <a:rPr lang="en-US" sz="4400" b="1">
                <a:latin typeface="Book Antiqua" panose="02040602050305030304" pitchFamily="18" charset="0"/>
              </a:rPr>
            </a:br>
            <a:endParaRPr lang="en-US" sz="4400" b="1">
              <a:latin typeface="Book Antiqua" panose="02040602050305030304" pitchFamily="18" charset="0"/>
            </a:endParaRPr>
          </a:p>
        </p:txBody>
      </p:sp>
      <p:sp>
        <p:nvSpPr>
          <p:cNvPr id="16" name="Rectangle 15">
            <a:extLst>
              <a:ext uri="{FF2B5EF4-FFF2-40B4-BE49-F238E27FC236}">
                <a16:creationId xmlns:a16="http://schemas.microsoft.com/office/drawing/2014/main" id="{5CABD882-B7CE-4433-B509-99205DB70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45152" y="5780565"/>
            <a:ext cx="6629400"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49F6A645-6137-4F43-8E88-D91CC337D5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6920" y="5257800"/>
            <a:ext cx="1080904" cy="1080902"/>
            <a:chOff x="9685338" y="4460675"/>
            <a:chExt cx="1080904" cy="1080902"/>
          </a:xfrm>
        </p:grpSpPr>
        <p:sp>
          <p:nvSpPr>
            <p:cNvPr id="19" name="Oval 18">
              <a:extLst>
                <a:ext uri="{FF2B5EF4-FFF2-40B4-BE49-F238E27FC236}">
                  <a16:creationId xmlns:a16="http://schemas.microsoft.com/office/drawing/2014/main" id="{3A2C783A-4EEE-481B-815A-A1BB14F4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0" name="Oval 19">
              <a:extLst>
                <a:ext uri="{FF2B5EF4-FFF2-40B4-BE49-F238E27FC236}">
                  <a16:creationId xmlns:a16="http://schemas.microsoft.com/office/drawing/2014/main" id="{A0186437-0053-4886-B612-804E4DC903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3" name="Subtitle 2">
            <a:extLst>
              <a:ext uri="{FF2B5EF4-FFF2-40B4-BE49-F238E27FC236}">
                <a16:creationId xmlns:a16="http://schemas.microsoft.com/office/drawing/2014/main" id="{8DA5319B-29C3-44FA-9504-EDE8E5E88CE5}"/>
              </a:ext>
            </a:extLst>
          </p:cNvPr>
          <p:cNvSpPr>
            <a:spLocks noGrp="1"/>
          </p:cNvSpPr>
          <p:nvPr>
            <p:ph type="subTitle" idx="1"/>
          </p:nvPr>
        </p:nvSpPr>
        <p:spPr>
          <a:xfrm>
            <a:off x="4938490" y="4790197"/>
            <a:ext cx="6080030" cy="957749"/>
          </a:xfrm>
        </p:spPr>
        <p:txBody>
          <a:bodyPr>
            <a:normAutofit lnSpcReduction="10000"/>
          </a:bodyPr>
          <a:lstStyle/>
          <a:p>
            <a:r>
              <a:rPr lang="en-US" sz="2800" b="1" dirty="0">
                <a:solidFill>
                  <a:srgbClr val="000000"/>
                </a:solidFill>
                <a:latin typeface="Book Antiqua" panose="02040602050305030304" pitchFamily="18" charset="0"/>
              </a:rPr>
              <a:t>Course Instructor </a:t>
            </a:r>
          </a:p>
          <a:p>
            <a:r>
              <a:rPr lang="en-US" sz="2800" b="1" dirty="0">
                <a:solidFill>
                  <a:srgbClr val="000000"/>
                </a:solidFill>
                <a:latin typeface="Book Antiqua" panose="02040602050305030304" pitchFamily="18" charset="0"/>
              </a:rPr>
              <a:t>Habib Ali</a:t>
            </a:r>
          </a:p>
        </p:txBody>
      </p:sp>
      <p:pic>
        <p:nvPicPr>
          <p:cNvPr id="5" name="Picture 4" descr="A logo with text on it&#10;&#10;AI-generated content may be incorrect.">
            <a:extLst>
              <a:ext uri="{FF2B5EF4-FFF2-40B4-BE49-F238E27FC236}">
                <a16:creationId xmlns:a16="http://schemas.microsoft.com/office/drawing/2014/main" id="{47E32BE9-1205-D3CA-9733-51C9491DC5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3915" y="2655816"/>
            <a:ext cx="3416725" cy="1477733"/>
          </a:xfrm>
          <a:prstGeom prst="rect">
            <a:avLst/>
          </a:prstGeom>
        </p:spPr>
      </p:pic>
    </p:spTree>
    <p:extLst>
      <p:ext uri="{BB962C8B-B14F-4D97-AF65-F5344CB8AC3E}">
        <p14:creationId xmlns:p14="http://schemas.microsoft.com/office/powerpoint/2010/main" val="8653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9BF0213-99DD-4CE4-A869-07A255FB2C45}"/>
              </a:ext>
            </a:extLst>
          </p:cNvPr>
          <p:cNvSpPr>
            <a:spLocks noGrp="1"/>
          </p:cNvSpPr>
          <p:nvPr>
            <p:ph type="title"/>
          </p:nvPr>
        </p:nvSpPr>
        <p:spPr>
          <a:xfrm>
            <a:off x="1069848" y="484632"/>
            <a:ext cx="10058400" cy="1609344"/>
          </a:xfrm>
        </p:spPr>
        <p:txBody>
          <a:bodyPr>
            <a:normAutofit/>
          </a:bodyPr>
          <a:lstStyle/>
          <a:p>
            <a:r>
              <a:rPr lang="en-US" b="1" dirty="0">
                <a:latin typeface="Book Antiqua" panose="02040602050305030304" pitchFamily="18" charset="0"/>
              </a:rPr>
              <a:t>Background </a:t>
            </a:r>
            <a:endParaRPr lang="en-US" b="1">
              <a:latin typeface="Book Antiqua" panose="02040602050305030304" pitchFamily="18" charset="0"/>
            </a:endParaRPr>
          </a:p>
        </p:txBody>
      </p:sp>
      <p:sp>
        <p:nvSpPr>
          <p:cNvPr id="3" name="Content Placeholder 2">
            <a:extLst>
              <a:ext uri="{FF2B5EF4-FFF2-40B4-BE49-F238E27FC236}">
                <a16:creationId xmlns:a16="http://schemas.microsoft.com/office/drawing/2014/main" id="{6ECD4B3B-60BA-482A-81A3-BDDAC51DD985}"/>
              </a:ext>
            </a:extLst>
          </p:cNvPr>
          <p:cNvSpPr>
            <a:spLocks noGrp="1"/>
          </p:cNvSpPr>
          <p:nvPr>
            <p:ph idx="1"/>
          </p:nvPr>
        </p:nvSpPr>
        <p:spPr>
          <a:xfrm>
            <a:off x="1069848" y="2320412"/>
            <a:ext cx="10058400" cy="3851787"/>
          </a:xfrm>
        </p:spPr>
        <p:txBody>
          <a:bodyPr>
            <a:normAutofit/>
          </a:bodyPr>
          <a:lstStyle/>
          <a:p>
            <a:r>
              <a:rPr lang="en-US" b="1" dirty="0">
                <a:latin typeface="Book Antiqua" panose="02040602050305030304" pitchFamily="18" charset="0"/>
              </a:rPr>
              <a:t>Origin:</a:t>
            </a:r>
          </a:p>
          <a:p>
            <a:pPr lvl="1"/>
            <a:r>
              <a:rPr lang="en-US" dirty="0">
                <a:latin typeface="Book Antiqua" panose="02040602050305030304" pitchFamily="18" charset="0"/>
              </a:rPr>
              <a:t>It was held on </a:t>
            </a:r>
            <a:r>
              <a:rPr lang="en-US" b="1" dirty="0">
                <a:latin typeface="Book Antiqua" panose="02040602050305030304" pitchFamily="18" charset="0"/>
              </a:rPr>
              <a:t>December 30, 1930.</a:t>
            </a:r>
          </a:p>
          <a:p>
            <a:pPr lvl="1"/>
            <a:r>
              <a:rPr lang="en-US" dirty="0">
                <a:latin typeface="Book Antiqua" panose="02040602050305030304" pitchFamily="18" charset="0"/>
              </a:rPr>
              <a:t>It was held during the </a:t>
            </a:r>
            <a:r>
              <a:rPr lang="en-US" b="1" dirty="0">
                <a:latin typeface="Book Antiqua" panose="02040602050305030304" pitchFamily="18" charset="0"/>
              </a:rPr>
              <a:t>21</a:t>
            </a:r>
            <a:r>
              <a:rPr lang="en-US" b="1" baseline="30000" dirty="0">
                <a:latin typeface="Book Antiqua" panose="02040602050305030304" pitchFamily="18" charset="0"/>
              </a:rPr>
              <a:t>st</a:t>
            </a:r>
            <a:r>
              <a:rPr lang="en-US" b="1" dirty="0">
                <a:latin typeface="Book Antiqua" panose="02040602050305030304" pitchFamily="18" charset="0"/>
              </a:rPr>
              <a:t> Annual Session</a:t>
            </a:r>
            <a:r>
              <a:rPr lang="en-US" dirty="0">
                <a:latin typeface="Book Antiqua" panose="02040602050305030304" pitchFamily="18" charset="0"/>
              </a:rPr>
              <a:t> of the All-India Muslim League in Allahabad.</a:t>
            </a:r>
          </a:p>
          <a:p>
            <a:pPr lvl="1"/>
            <a:r>
              <a:rPr lang="en-US" dirty="0">
                <a:latin typeface="Book Antiqua" panose="02040602050305030304" pitchFamily="18" charset="0"/>
              </a:rPr>
              <a:t>He raised concerns of Muslims for a separate homeland. </a:t>
            </a:r>
          </a:p>
          <a:p>
            <a:r>
              <a:rPr lang="en-US" b="1" dirty="0">
                <a:latin typeface="Book Antiqua" panose="02040602050305030304" pitchFamily="18" charset="0"/>
              </a:rPr>
              <a:t>Main Areas:</a:t>
            </a:r>
          </a:p>
          <a:p>
            <a:pPr lvl="1"/>
            <a:r>
              <a:rPr lang="en-US" dirty="0">
                <a:latin typeface="Book Antiqua" panose="02040602050305030304" pitchFamily="18" charset="0"/>
              </a:rPr>
              <a:t>Call for the </a:t>
            </a:r>
            <a:r>
              <a:rPr lang="en-US" b="1" dirty="0">
                <a:latin typeface="Book Antiqua" panose="02040602050305030304" pitchFamily="18" charset="0"/>
              </a:rPr>
              <a:t>creation of a separate Muslim state</a:t>
            </a:r>
            <a:r>
              <a:rPr lang="en-US" dirty="0">
                <a:latin typeface="Book Antiqua" panose="02040602050305030304" pitchFamily="18" charset="0"/>
              </a:rPr>
              <a:t> in the </a:t>
            </a:r>
            <a:r>
              <a:rPr lang="en-US" b="1" dirty="0">
                <a:latin typeface="Book Antiqua" panose="02040602050305030304" pitchFamily="18" charset="0"/>
              </a:rPr>
              <a:t>Northwestern part</a:t>
            </a:r>
            <a:r>
              <a:rPr lang="en-US" dirty="0">
                <a:latin typeface="Book Antiqua" panose="02040602050305030304" pitchFamily="18" charset="0"/>
              </a:rPr>
              <a:t> of India.</a:t>
            </a:r>
            <a:endParaRPr lang="en-US">
              <a:latin typeface="Book Antiqua" panose="02040602050305030304" pitchFamily="18" charset="0"/>
            </a:endParaRPr>
          </a:p>
          <a:p>
            <a:pPr lvl="1"/>
            <a:r>
              <a:rPr lang="en-US" dirty="0">
                <a:latin typeface="Book Antiqua" panose="02040602050305030304" pitchFamily="18" charset="0"/>
              </a:rPr>
              <a:t>The Muslims of India are a nation with their own religious, cultural, and social identity.</a:t>
            </a:r>
            <a:endParaRPr lang="en-US">
              <a:latin typeface="Book Antiqua" panose="02040602050305030304" pitchFamily="18" charset="0"/>
            </a:endParaRPr>
          </a:p>
          <a:p>
            <a:pPr lvl="1"/>
            <a:r>
              <a:rPr lang="en-US" dirty="0">
                <a:latin typeface="Book Antiqua" panose="02040602050305030304" pitchFamily="18" charset="0"/>
              </a:rPr>
              <a:t>Promotion of Two-Nation Theory</a:t>
            </a:r>
            <a:endParaRPr lang="en-US">
              <a:latin typeface="Book Antiqua" panose="02040602050305030304" pitchFamily="18" charset="0"/>
            </a:endParaRPr>
          </a:p>
          <a:p>
            <a:pPr lvl="1"/>
            <a:endParaRPr lang="en-US" b="1" dirty="0">
              <a:latin typeface="Book Antiqua" panose="02040602050305030304" pitchFamily="18" charset="0"/>
            </a:endParaRPr>
          </a:p>
          <a:p>
            <a:endParaRPr lang="en-US" dirty="0">
              <a:latin typeface="Book Antiqua" panose="02040602050305030304" pitchFamily="18" charset="0"/>
            </a:endParaRP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530097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1819251-2E1B-4D76-B08D-5469536A7CA7}"/>
              </a:ext>
            </a:extLst>
          </p:cNvPr>
          <p:cNvSpPr>
            <a:spLocks noGrp="1"/>
          </p:cNvSpPr>
          <p:nvPr>
            <p:ph type="title"/>
          </p:nvPr>
        </p:nvSpPr>
        <p:spPr>
          <a:xfrm>
            <a:off x="1069848" y="484632"/>
            <a:ext cx="10058400" cy="1609344"/>
          </a:xfrm>
        </p:spPr>
        <p:txBody>
          <a:bodyPr>
            <a:normAutofit/>
          </a:bodyPr>
          <a:lstStyle/>
          <a:p>
            <a:r>
              <a:rPr lang="en-US" sz="3400" b="1" dirty="0">
                <a:latin typeface="Book Antiqua" panose="02040602050305030304" pitchFamily="18" charset="0"/>
              </a:rPr>
              <a:t>Importance in the Creation of Pakistan</a:t>
            </a:r>
            <a:br>
              <a:rPr lang="en-US" sz="3400" b="1" dirty="0">
                <a:latin typeface="Book Antiqua" panose="02040602050305030304" pitchFamily="18" charset="0"/>
              </a:rPr>
            </a:br>
            <a:endParaRPr lang="en-US" sz="3400" b="1" dirty="0"/>
          </a:p>
        </p:txBody>
      </p:sp>
      <p:sp>
        <p:nvSpPr>
          <p:cNvPr id="3" name="Content Placeholder 2">
            <a:extLst>
              <a:ext uri="{FF2B5EF4-FFF2-40B4-BE49-F238E27FC236}">
                <a16:creationId xmlns:a16="http://schemas.microsoft.com/office/drawing/2014/main" id="{ED7641D5-6D6D-44ED-91A1-6A8455F57112}"/>
              </a:ext>
            </a:extLst>
          </p:cNvPr>
          <p:cNvSpPr>
            <a:spLocks noGrp="1"/>
          </p:cNvSpPr>
          <p:nvPr>
            <p:ph idx="1"/>
          </p:nvPr>
        </p:nvSpPr>
        <p:spPr>
          <a:xfrm>
            <a:off x="1069848" y="2320412"/>
            <a:ext cx="10058400" cy="3851787"/>
          </a:xfrm>
        </p:spPr>
        <p:txBody>
          <a:bodyPr numCol="1">
            <a:normAutofit fontScale="92500" lnSpcReduction="10000"/>
          </a:bodyPr>
          <a:lstStyle/>
          <a:p>
            <a:pPr marL="0" indent="0">
              <a:buNone/>
            </a:pPr>
            <a:r>
              <a:rPr lang="en-US" b="1" dirty="0">
                <a:latin typeface="Book Antiqua" panose="02040602050305030304" pitchFamily="18" charset="0"/>
                <a:cs typeface="Times New Roman" panose="02020603050405020304" pitchFamily="18" charset="0"/>
              </a:rPr>
              <a:t>1) Concept of Separate States: </a:t>
            </a:r>
            <a:endParaRPr lang="en-US" dirty="0">
              <a:latin typeface="Book Antiqua" panose="02040602050305030304" pitchFamily="18" charset="0"/>
              <a:cs typeface="Times New Roman" panose="02020603050405020304" pitchFamily="18" charset="0"/>
            </a:endParaRPr>
          </a:p>
          <a:p>
            <a:r>
              <a:rPr lang="en-US" dirty="0">
                <a:latin typeface="Book Antiqua" panose="02040602050305030304" pitchFamily="18" charset="0"/>
                <a:cs typeface="Times New Roman" panose="02020603050405020304" pitchFamily="18" charset="0"/>
              </a:rPr>
              <a:t>Allama Iqbal said in his Allahabad Address: </a:t>
            </a:r>
          </a:p>
          <a:p>
            <a:pPr lvl="1"/>
            <a:r>
              <a:rPr lang="en-US" sz="2000" dirty="0">
                <a:latin typeface="Book Antiqua" panose="02040602050305030304" pitchFamily="18" charset="0"/>
                <a:cs typeface="Times New Roman" panose="02020603050405020304" pitchFamily="18" charset="0"/>
              </a:rPr>
              <a:t>“I would like to see the </a:t>
            </a:r>
            <a:r>
              <a:rPr lang="en-US" sz="2000" b="1" u="sng" dirty="0">
                <a:latin typeface="Book Antiqua" panose="02040602050305030304" pitchFamily="18" charset="0"/>
                <a:cs typeface="Times New Roman" panose="02020603050405020304" pitchFamily="18" charset="0"/>
              </a:rPr>
              <a:t>Punjab, the North-West Frontier Province, Sindh, and Balochistan </a:t>
            </a:r>
            <a:r>
              <a:rPr lang="en-US" sz="2000" dirty="0">
                <a:latin typeface="Book Antiqua" panose="02040602050305030304" pitchFamily="18" charset="0"/>
                <a:cs typeface="Times New Roman" panose="02020603050405020304" pitchFamily="18" charset="0"/>
              </a:rPr>
              <a:t>amalgamated into a single state. </a:t>
            </a:r>
          </a:p>
          <a:p>
            <a:pPr lvl="1"/>
            <a:r>
              <a:rPr lang="en-US" sz="2000" b="1" u="sng" dirty="0">
                <a:latin typeface="Book Antiqua" panose="02040602050305030304" pitchFamily="18" charset="0"/>
                <a:cs typeface="Times New Roman" panose="02020603050405020304" pitchFamily="18" charset="0"/>
              </a:rPr>
              <a:t> Self-government within the British Empire, or without</a:t>
            </a:r>
            <a:r>
              <a:rPr lang="en-US" sz="2000" dirty="0">
                <a:latin typeface="Book Antiqua" panose="02040602050305030304" pitchFamily="18" charset="0"/>
                <a:cs typeface="Times New Roman" panose="02020603050405020304" pitchFamily="18" charset="0"/>
              </a:rPr>
              <a:t> the British Empire, the formation of a consolidated North-West Indian Muslim state appears to me to be the final destiny of the Muslims, at least of North-West India.” </a:t>
            </a:r>
          </a:p>
          <a:p>
            <a:pPr marL="0" indent="0">
              <a:buNone/>
            </a:pPr>
            <a:r>
              <a:rPr lang="en-US" b="1" dirty="0">
                <a:latin typeface="Book Antiqua" panose="02040602050305030304" pitchFamily="18" charset="0"/>
                <a:cs typeface="Times New Roman" panose="02020603050405020304" pitchFamily="18" charset="0"/>
              </a:rPr>
              <a:t>2) Separate Recognition of Muslims </a:t>
            </a:r>
            <a:endParaRPr lang="en-US" dirty="0">
              <a:latin typeface="Book Antiqua" panose="02040602050305030304" pitchFamily="18" charset="0"/>
              <a:cs typeface="Times New Roman" panose="02020603050405020304" pitchFamily="18" charset="0"/>
            </a:endParaRPr>
          </a:p>
          <a:p>
            <a:r>
              <a:rPr lang="en-US" dirty="0" err="1">
                <a:latin typeface="Book Antiqua" panose="02040602050305030304" pitchFamily="18" charset="0"/>
                <a:cs typeface="Times New Roman" panose="02020603050405020304" pitchFamily="18" charset="0"/>
              </a:rPr>
              <a:t>lqbal</a:t>
            </a:r>
            <a:r>
              <a:rPr lang="en-US" dirty="0">
                <a:latin typeface="Book Antiqua" panose="02040602050305030304" pitchFamily="18" charset="0"/>
                <a:cs typeface="Times New Roman" panose="02020603050405020304" pitchFamily="18" charset="0"/>
              </a:rPr>
              <a:t> made it clear: </a:t>
            </a:r>
          </a:p>
          <a:p>
            <a:pPr lvl="1"/>
            <a:endParaRPr lang="en-US" dirty="0">
              <a:latin typeface="Book Antiqua" panose="02040602050305030304" pitchFamily="18" charset="0"/>
              <a:cs typeface="Times New Roman" panose="02020603050405020304" pitchFamily="18" charset="0"/>
            </a:endParaRPr>
          </a:p>
          <a:p>
            <a:pPr lvl="1"/>
            <a:r>
              <a:rPr lang="en-US" dirty="0">
                <a:latin typeface="Book Antiqua" panose="02040602050305030304" pitchFamily="18" charset="0"/>
                <a:cs typeface="Times New Roman" panose="02020603050405020304" pitchFamily="18" charset="0"/>
              </a:rPr>
              <a:t>“India </a:t>
            </a:r>
            <a:r>
              <a:rPr lang="en-US" b="1" u="sng" dirty="0">
                <a:latin typeface="Book Antiqua" panose="02040602050305030304" pitchFamily="18" charset="0"/>
                <a:cs typeface="Times New Roman" panose="02020603050405020304" pitchFamily="18" charset="0"/>
              </a:rPr>
              <a:t>is not a country; it is a Sub-continent of human beings belonging to different languages and practicing different religions</a:t>
            </a:r>
            <a:r>
              <a:rPr lang="en-US" dirty="0">
                <a:latin typeface="Book Antiqua" panose="02040602050305030304" pitchFamily="18" charset="0"/>
                <a:cs typeface="Times New Roman" panose="02020603050405020304" pitchFamily="18" charset="0"/>
              </a:rPr>
              <a:t>. The Muslim nation has its own religious and cultural identity.” </a:t>
            </a:r>
          </a:p>
          <a:p>
            <a:pPr marL="274320" lvl="1" indent="0">
              <a:buNone/>
            </a:pPr>
            <a:endParaRPr lang="en-US" dirty="0">
              <a:latin typeface="Book Antiqua" panose="02040602050305030304" pitchFamily="18" charset="0"/>
              <a:cs typeface="Times New Roman" panose="02020603050405020304" pitchFamily="18" charset="0"/>
            </a:endParaRP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943537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7360E-3FB9-8A5D-35B5-BF4A4D4C62F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C87BCF-14FC-2C41-9F47-1F2E70951974}"/>
              </a:ext>
            </a:extLst>
          </p:cNvPr>
          <p:cNvSpPr>
            <a:spLocks noGrp="1"/>
          </p:cNvSpPr>
          <p:nvPr>
            <p:ph idx="1"/>
          </p:nvPr>
        </p:nvSpPr>
        <p:spPr/>
        <p:txBody>
          <a:bodyPr>
            <a:normAutofit fontScale="92500" lnSpcReduction="10000"/>
          </a:bodyPr>
          <a:lstStyle/>
          <a:p>
            <a:pPr marL="0" indent="0">
              <a:buNone/>
            </a:pPr>
            <a:r>
              <a:rPr lang="en-US" sz="1600" b="1" dirty="0">
                <a:latin typeface="Book Antiqua" panose="02040602050305030304" pitchFamily="18" charset="0"/>
              </a:rPr>
              <a:t>03</a:t>
            </a:r>
            <a:r>
              <a:rPr lang="en-US" sz="3200" b="1" dirty="0">
                <a:latin typeface="Book Antiqua" panose="02040602050305030304" pitchFamily="18" charset="0"/>
              </a:rPr>
              <a:t>) The idea of a Single Nation is Impractical: </a:t>
            </a:r>
          </a:p>
          <a:p>
            <a:r>
              <a:rPr lang="en-US" sz="3200" dirty="0">
                <a:latin typeface="Book Antiqua" panose="02040602050305030304" pitchFamily="18" charset="0"/>
              </a:rPr>
              <a:t>In March 1909, when Iqbal was asked to address a meeting by Raj Amritsar, he refused the single Nation theory and said:</a:t>
            </a:r>
          </a:p>
          <a:p>
            <a:pPr lvl="1"/>
            <a:r>
              <a:rPr lang="en-US" sz="3200" dirty="0">
                <a:latin typeface="Book Antiqua" panose="02040602050305030304" pitchFamily="18" charset="0"/>
              </a:rPr>
              <a:t>“I remained a supporter of this idea, but now I am of the view that preservation of separate nationhood is useful for the birth of Hindus and Muslims. To have the concept of a single nation in India is no doubt poetic and beautiful, but impractical regarding present circumstances.” </a:t>
            </a:r>
          </a:p>
          <a:p>
            <a:endParaRPr lang="en-US" sz="4000" dirty="0"/>
          </a:p>
        </p:txBody>
      </p:sp>
    </p:spTree>
    <p:extLst>
      <p:ext uri="{BB962C8B-B14F-4D97-AF65-F5344CB8AC3E}">
        <p14:creationId xmlns:p14="http://schemas.microsoft.com/office/powerpoint/2010/main" val="3492274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0FBF0EC-E603-4A69-A9FE-79EC068B1262}"/>
              </a:ext>
            </a:extLst>
          </p:cNvPr>
          <p:cNvSpPr>
            <a:spLocks noGrp="1"/>
          </p:cNvSpPr>
          <p:nvPr>
            <p:ph type="title"/>
          </p:nvPr>
        </p:nvSpPr>
        <p:spPr>
          <a:xfrm>
            <a:off x="1069848" y="484632"/>
            <a:ext cx="10058400" cy="1609344"/>
          </a:xfrm>
        </p:spPr>
        <p:txBody>
          <a:bodyPr>
            <a:normAutofit/>
          </a:bodyPr>
          <a:lstStyle/>
          <a:p>
            <a:r>
              <a:rPr lang="en-US" b="1" dirty="0">
                <a:latin typeface="Book Antiqua" panose="02040602050305030304" pitchFamily="18" charset="0"/>
                <a:cs typeface="Times New Roman" panose="02020603050405020304" pitchFamily="18" charset="0"/>
              </a:rPr>
              <a:t>Conti…</a:t>
            </a:r>
          </a:p>
        </p:txBody>
      </p:sp>
      <p:sp>
        <p:nvSpPr>
          <p:cNvPr id="3" name="Content Placeholder 2">
            <a:extLst>
              <a:ext uri="{FF2B5EF4-FFF2-40B4-BE49-F238E27FC236}">
                <a16:creationId xmlns:a16="http://schemas.microsoft.com/office/drawing/2014/main" id="{3EB96595-2BB8-4023-B7B3-4F5F50AF65DB}"/>
              </a:ext>
            </a:extLst>
          </p:cNvPr>
          <p:cNvSpPr>
            <a:spLocks noGrp="1"/>
          </p:cNvSpPr>
          <p:nvPr>
            <p:ph idx="1"/>
          </p:nvPr>
        </p:nvSpPr>
        <p:spPr>
          <a:xfrm>
            <a:off x="1069848" y="2320412"/>
            <a:ext cx="10058400" cy="3851787"/>
          </a:xfrm>
        </p:spPr>
        <p:txBody>
          <a:bodyPr>
            <a:normAutofit fontScale="92500" lnSpcReduction="10000"/>
          </a:bodyPr>
          <a:lstStyle/>
          <a:p>
            <a:endParaRPr lang="en-US" sz="2400" dirty="0">
              <a:latin typeface="Book Antiqua" panose="02040602050305030304" pitchFamily="18" charset="0"/>
            </a:endParaRPr>
          </a:p>
          <a:p>
            <a:pPr marL="0" indent="0">
              <a:buNone/>
            </a:pPr>
            <a:r>
              <a:rPr lang="en-US" sz="2400" b="1" dirty="0">
                <a:latin typeface="Book Antiqua" panose="02040602050305030304" pitchFamily="18" charset="0"/>
              </a:rPr>
              <a:t>5) Two-Nation Theory: </a:t>
            </a:r>
            <a:endParaRPr lang="en-US" sz="2400" dirty="0">
              <a:latin typeface="Book Antiqua" panose="02040602050305030304" pitchFamily="18" charset="0"/>
            </a:endParaRPr>
          </a:p>
          <a:p>
            <a:r>
              <a:rPr lang="en-US" sz="2400" dirty="0">
                <a:latin typeface="Book Antiqua" panose="02040602050305030304" pitchFamily="18" charset="0"/>
              </a:rPr>
              <a:t>Iqbal said, explaining the two-nation theory. </a:t>
            </a:r>
          </a:p>
          <a:p>
            <a:pPr lvl="1"/>
            <a:r>
              <a:rPr lang="en-US" sz="2400" dirty="0">
                <a:latin typeface="Book Antiqua" panose="02040602050305030304" pitchFamily="18" charset="0"/>
              </a:rPr>
              <a:t>“Despite living together for 1000 years, Hindus and Muslims have their own individual ideologies, so the only solution to political conflict in India is to have a separate, independent parliament for each nation.” </a:t>
            </a:r>
          </a:p>
          <a:p>
            <a:pPr marL="0" indent="0">
              <a:buNone/>
            </a:pPr>
            <a:r>
              <a:rPr lang="en-US" sz="2400" b="1" dirty="0">
                <a:latin typeface="Book Antiqua" panose="02040602050305030304" pitchFamily="18" charset="0"/>
              </a:rPr>
              <a:t>6) Eradication of Racial &amp; Regional Prejudices: </a:t>
            </a:r>
            <a:endParaRPr lang="en-US" sz="2400" dirty="0">
              <a:latin typeface="Book Antiqua" panose="02040602050305030304" pitchFamily="18" charset="0"/>
            </a:endParaRPr>
          </a:p>
          <a:p>
            <a:r>
              <a:rPr lang="en-US" sz="2400" dirty="0">
                <a:latin typeface="Book Antiqua" panose="02040602050305030304" pitchFamily="18" charset="0"/>
              </a:rPr>
              <a:t>Once </a:t>
            </a:r>
            <a:r>
              <a:rPr lang="en-US" sz="2400" dirty="0" err="1">
                <a:latin typeface="Book Antiqua" panose="02040602050305030304" pitchFamily="18" charset="0"/>
              </a:rPr>
              <a:t>lqbal</a:t>
            </a:r>
            <a:r>
              <a:rPr lang="en-US" sz="2400" dirty="0">
                <a:latin typeface="Book Antiqua" panose="02040602050305030304" pitchFamily="18" charset="0"/>
              </a:rPr>
              <a:t> said, </a:t>
            </a:r>
          </a:p>
          <a:p>
            <a:pPr lvl="1"/>
            <a:r>
              <a:rPr lang="en-US" sz="2400" dirty="0">
                <a:latin typeface="Book Antiqua" panose="02040602050305030304" pitchFamily="18" charset="0"/>
              </a:rPr>
              <a:t>“The concept of nation and homeland is confusing the Muslims. That is why Islamic humane objects are becoming dim. It is also possible that these concepts may destroy the real concepts of Islam.” </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415894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D0242BB6-F148-454F-B941-0C01733A50A8}"/>
              </a:ext>
            </a:extLst>
          </p:cNvPr>
          <p:cNvSpPr>
            <a:spLocks noGrp="1"/>
          </p:cNvSpPr>
          <p:nvPr>
            <p:ph type="title"/>
          </p:nvPr>
        </p:nvSpPr>
        <p:spPr>
          <a:xfrm>
            <a:off x="1069848" y="484632"/>
            <a:ext cx="10058400" cy="1609344"/>
          </a:xfrm>
        </p:spPr>
        <p:txBody>
          <a:bodyPr>
            <a:normAutofit/>
          </a:bodyPr>
          <a:lstStyle/>
          <a:p>
            <a:r>
              <a:rPr lang="en-US" b="1" dirty="0">
                <a:latin typeface="Book Antiqua" panose="02040602050305030304" pitchFamily="18" charset="0"/>
              </a:rPr>
              <a:t>Conclusion </a:t>
            </a:r>
            <a:endParaRPr lang="en-US" b="1">
              <a:latin typeface="Book Antiqua" panose="02040602050305030304" pitchFamily="18" charset="0"/>
            </a:endParaRPr>
          </a:p>
        </p:txBody>
      </p:sp>
      <p:sp>
        <p:nvSpPr>
          <p:cNvPr id="3" name="Content Placeholder 2">
            <a:extLst>
              <a:ext uri="{FF2B5EF4-FFF2-40B4-BE49-F238E27FC236}">
                <a16:creationId xmlns:a16="http://schemas.microsoft.com/office/drawing/2014/main" id="{F7C6216A-0296-4951-AEE6-E970D52EC908}"/>
              </a:ext>
            </a:extLst>
          </p:cNvPr>
          <p:cNvSpPr>
            <a:spLocks noGrp="1"/>
          </p:cNvSpPr>
          <p:nvPr>
            <p:ph idx="1"/>
          </p:nvPr>
        </p:nvSpPr>
        <p:spPr>
          <a:xfrm>
            <a:off x="1069848" y="2320412"/>
            <a:ext cx="10058400" cy="3851787"/>
          </a:xfrm>
        </p:spPr>
        <p:txBody>
          <a:bodyPr>
            <a:normAutofit/>
          </a:bodyPr>
          <a:lstStyle/>
          <a:p>
            <a:r>
              <a:rPr lang="en-US" dirty="0">
                <a:latin typeface="Book Antiqua" panose="02040602050305030304" pitchFamily="18" charset="0"/>
              </a:rPr>
              <a:t>Iqbal's address was a bold and controversial one, but it struck a chord with many Muslims in India. </a:t>
            </a:r>
          </a:p>
          <a:p>
            <a:r>
              <a:rPr lang="en-US" dirty="0">
                <a:latin typeface="Book Antiqua" panose="02040602050305030304" pitchFamily="18" charset="0"/>
              </a:rPr>
              <a:t>It helped to raise awareness of the Muslim community's concerns and to pave the way for the creation of Pakistan.</a:t>
            </a:r>
          </a:p>
        </p:txBody>
      </p:sp>
      <p:sp>
        <p:nvSpPr>
          <p:cNvPr id="16" name="Oval 15">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8" name="Oval 17">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75351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4" y="0"/>
            <a:ext cx="12188656"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50922B-5DD3-4166-BEEE-954C921ABEFF}"/>
              </a:ext>
            </a:extLst>
          </p:cNvPr>
          <p:cNvSpPr>
            <a:spLocks noGrp="1"/>
          </p:cNvSpPr>
          <p:nvPr>
            <p:ph type="title"/>
          </p:nvPr>
        </p:nvSpPr>
        <p:spPr>
          <a:xfrm>
            <a:off x="4970109" y="484632"/>
            <a:ext cx="6730277" cy="1609344"/>
          </a:xfrm>
          <a:ln>
            <a:noFill/>
          </a:ln>
        </p:spPr>
        <p:txBody>
          <a:bodyPr>
            <a:normAutofit/>
          </a:bodyPr>
          <a:lstStyle/>
          <a:p>
            <a:r>
              <a:rPr lang="en-US" sz="4800" b="1">
                <a:latin typeface="Book Antiqua" panose="02040602050305030304" pitchFamily="18" charset="0"/>
              </a:rPr>
              <a:t>Recommended Books</a:t>
            </a:r>
          </a:p>
        </p:txBody>
      </p:sp>
      <p:pic>
        <p:nvPicPr>
          <p:cNvPr id="5" name="Picture 4" descr="Close up of book pages">
            <a:extLst>
              <a:ext uri="{FF2B5EF4-FFF2-40B4-BE49-F238E27FC236}">
                <a16:creationId xmlns:a16="http://schemas.microsoft.com/office/drawing/2014/main" id="{FDF21090-4E6E-F39E-C3B7-3D9643BF3F38}"/>
              </a:ext>
            </a:extLst>
          </p:cNvPr>
          <p:cNvPicPr>
            <a:picLocks noChangeAspect="1"/>
          </p:cNvPicPr>
          <p:nvPr/>
        </p:nvPicPr>
        <p:blipFill>
          <a:blip r:embed="rId4"/>
          <a:srcRect l="34882" r="14301"/>
          <a:stretch>
            <a:fillRect/>
          </a:stretch>
        </p:blipFill>
        <p:spPr>
          <a:xfrm>
            <a:off x="3344" y="10"/>
            <a:ext cx="4646726" cy="6857990"/>
          </a:xfrm>
          <a:prstGeom prst="rect">
            <a:avLst/>
          </a:prstGeom>
        </p:spPr>
      </p:pic>
      <p:sp>
        <p:nvSpPr>
          <p:cNvPr id="3" name="Content Placeholder 2">
            <a:extLst>
              <a:ext uri="{FF2B5EF4-FFF2-40B4-BE49-F238E27FC236}">
                <a16:creationId xmlns:a16="http://schemas.microsoft.com/office/drawing/2014/main" id="{1D1B2FFD-2DDD-4F2F-A8CD-703E1A536857}"/>
              </a:ext>
            </a:extLst>
          </p:cNvPr>
          <p:cNvSpPr>
            <a:spLocks noGrp="1"/>
          </p:cNvSpPr>
          <p:nvPr>
            <p:ph idx="1"/>
          </p:nvPr>
        </p:nvSpPr>
        <p:spPr>
          <a:xfrm>
            <a:off x="4970109" y="2121408"/>
            <a:ext cx="6730276" cy="4050792"/>
          </a:xfrm>
        </p:spPr>
        <p:txBody>
          <a:bodyPr>
            <a:normAutofit/>
          </a:bodyPr>
          <a:lstStyle/>
          <a:p>
            <a:r>
              <a:rPr lang="en-US" sz="1800">
                <a:latin typeface="Book Antiqua" panose="02040602050305030304" pitchFamily="18" charset="0"/>
              </a:rPr>
              <a:t>The Allahabad Address: The Vision of a Muslim State by Ishtiaq Ahmed. </a:t>
            </a:r>
          </a:p>
          <a:p>
            <a:r>
              <a:rPr lang="en-US" sz="1800">
                <a:latin typeface="Book Antiqua" panose="02040602050305030304" pitchFamily="18" charset="0"/>
              </a:rPr>
              <a:t>Allama Iqbal and the Pakistan Movement by Ayesha Jalal. </a:t>
            </a:r>
          </a:p>
          <a:p>
            <a:r>
              <a:rPr lang="en-US" sz="1800">
                <a:latin typeface="Book Antiqua" panose="02040602050305030304" pitchFamily="18" charset="0"/>
              </a:rPr>
              <a:t>The Two-Nation Theory: Origins, Evolution, and Politics by A.C. Niemeijer.</a:t>
            </a:r>
          </a:p>
          <a:p>
            <a:r>
              <a:rPr lang="en-US" sz="1800">
                <a:latin typeface="Book Antiqua" panose="02040602050305030304" pitchFamily="18" charset="0"/>
              </a:rPr>
              <a:t>Iqbal, Jinnah, and the Creation of Pakistan by Khaled Ahmed. </a:t>
            </a:r>
          </a:p>
        </p:txBody>
      </p:sp>
      <p:grpSp>
        <p:nvGrpSpPr>
          <p:cNvPr id="11" name="Group 10">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2" name="Oval 11">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3067840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82</TotalTime>
  <Words>517</Words>
  <Application>Microsoft Office PowerPoint</Application>
  <PresentationFormat>Widescreen</PresentationFormat>
  <Paragraphs>40</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Book Antiqua</vt:lpstr>
      <vt:lpstr>Calibri</vt:lpstr>
      <vt:lpstr>Rockwell</vt:lpstr>
      <vt:lpstr>Rockwell Condensed</vt:lpstr>
      <vt:lpstr>Rockwell Extra Bold</vt:lpstr>
      <vt:lpstr>Wingdings</vt:lpstr>
      <vt:lpstr>Wood Type</vt:lpstr>
      <vt:lpstr>Allahabad Address 1930 and its Importance in the Creation of Pakistan </vt:lpstr>
      <vt:lpstr>Background </vt:lpstr>
      <vt:lpstr>Importance in the Creation of Pakistan </vt:lpstr>
      <vt:lpstr>PowerPoint Presentation</vt:lpstr>
      <vt:lpstr>Conti…</vt:lpstr>
      <vt:lpstr>Conclusion </vt:lpstr>
      <vt:lpstr>Recommended Books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Allahabad Address 1930 and its Importance in the Creation of Pakistan</dc:title>
  <dc:creator>Habib ali</dc:creator>
  <cp:lastModifiedBy>PMLS</cp:lastModifiedBy>
  <cp:revision>10</cp:revision>
  <dcterms:created xsi:type="dcterms:W3CDTF">2023-08-16T08:39:54Z</dcterms:created>
  <dcterms:modified xsi:type="dcterms:W3CDTF">2025-09-22T09:36:05Z</dcterms:modified>
</cp:coreProperties>
</file>