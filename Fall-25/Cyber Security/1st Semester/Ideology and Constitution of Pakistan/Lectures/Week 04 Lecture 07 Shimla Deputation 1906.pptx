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84A67-F9DD-4600-833A-19E00DD65BBC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BDAAC000-4AB1-4541-B621-436A819F4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82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84A67-F9DD-4600-833A-19E00DD65BBC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AC000-4AB1-4541-B621-436A819F4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20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34B84A67-F9DD-4600-833A-19E00DD65BBC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BDAAC000-4AB1-4541-B621-436A819F4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995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84A67-F9DD-4600-833A-19E00DD65BBC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AC000-4AB1-4541-B621-436A819F4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65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84A67-F9DD-4600-833A-19E00DD65BBC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AC000-4AB1-4541-B621-436A819F4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672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84A67-F9DD-4600-833A-19E00DD65BBC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AC000-4AB1-4541-B621-436A819F4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312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84A67-F9DD-4600-833A-19E00DD65BBC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AC000-4AB1-4541-B621-436A819F4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296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84A67-F9DD-4600-833A-19E00DD65BBC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AC000-4AB1-4541-B621-436A819F4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301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84A67-F9DD-4600-833A-19E00DD65BBC}" type="datetimeFigureOut">
              <a:rPr lang="en-US" smtClean="0"/>
              <a:t>9/2/2025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AC000-4AB1-4541-B621-436A819F4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16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84A67-F9DD-4600-833A-19E00DD65BBC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AC000-4AB1-4541-B621-436A819F4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595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84A67-F9DD-4600-833A-19E00DD65BBC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AC000-4AB1-4541-B621-436A819F4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522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34B84A67-F9DD-4600-833A-19E00DD65BBC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BDAAC000-4AB1-4541-B621-436A819F4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434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C5EFB-A16E-5B4C-4C99-8F94567274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7200" b="1" dirty="0"/>
              <a:t>Shimla Deputation 1906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2A124-A6A2-2FAB-932C-52A6B4FA19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Habib Ali </a:t>
            </a:r>
          </a:p>
        </p:txBody>
      </p:sp>
    </p:spTree>
    <p:extLst>
      <p:ext uri="{BB962C8B-B14F-4D97-AF65-F5344CB8AC3E}">
        <p14:creationId xmlns:p14="http://schemas.microsoft.com/office/powerpoint/2010/main" val="1782199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6B66E70-9451-4286-A0C2-6CF108FE8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4B0696-68E2-40ED-B597-4B8738754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9EF1B4-0F49-44D2-AE21-263819BFB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4653776" cy="6858000"/>
          </a:xfrm>
          <a:prstGeom prst="rect">
            <a:avLst/>
          </a:prstGeom>
          <a:blipFill dpi="0" rotWithShape="1">
            <a:blip r:embed="rId2">
              <a:alphaModFix amt="4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3EA692-0B59-D755-96A6-8B75B7BCA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119" y="654352"/>
            <a:ext cx="3348017" cy="5571067"/>
          </a:xfrm>
        </p:spPr>
        <p:txBody>
          <a:bodyPr>
            <a:normAutofit/>
          </a:bodyPr>
          <a:lstStyle/>
          <a:p>
            <a:r>
              <a:rPr lang="en-US" sz="4100" b="1" dirty="0">
                <a:solidFill>
                  <a:schemeClr val="tx1"/>
                </a:solidFill>
              </a:rPr>
              <a:t>Introduction</a:t>
            </a:r>
            <a:br>
              <a:rPr lang="en-US" sz="4100" b="1" dirty="0">
                <a:solidFill>
                  <a:schemeClr val="tx1"/>
                </a:solidFill>
              </a:rPr>
            </a:br>
            <a:endParaRPr lang="en-US" sz="41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2266E-D073-1377-4DC9-E792DFB2B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2315" y="643467"/>
            <a:ext cx="4534781" cy="5571066"/>
          </a:xfrm>
        </p:spPr>
        <p:txBody>
          <a:bodyPr anchor="ctr">
            <a:normAutofit/>
          </a:bodyPr>
          <a:lstStyle/>
          <a:p>
            <a:endParaRPr lang="en-US" sz="1500" dirty="0"/>
          </a:p>
          <a:p>
            <a:r>
              <a:rPr lang="en-US" sz="1500" dirty="0"/>
              <a:t>The Shimla Deputation of 1906 was the first organized effort of Indian Muslims to present their demands to the British rulers collectively.</a:t>
            </a:r>
          </a:p>
          <a:p>
            <a:r>
              <a:rPr lang="en-US" sz="1500" dirty="0"/>
              <a:t>The deputation laid the foundation for the </a:t>
            </a:r>
            <a:r>
              <a:rPr lang="en-US" sz="1500" b="1" dirty="0"/>
              <a:t>separate political identity</a:t>
            </a:r>
            <a:r>
              <a:rPr lang="en-US" sz="1500" dirty="0"/>
              <a:t> of Muslims in colonial India.</a:t>
            </a:r>
          </a:p>
          <a:p>
            <a:r>
              <a:rPr lang="en-US" sz="1500" dirty="0"/>
              <a:t>After the </a:t>
            </a:r>
            <a:r>
              <a:rPr lang="en-US" sz="1500" b="1" dirty="0"/>
              <a:t>War of Independence in 1857</a:t>
            </a:r>
            <a:r>
              <a:rPr lang="en-US" sz="1500" dirty="0"/>
              <a:t>, Muslims faced social, political, and economic setbacks.</a:t>
            </a:r>
          </a:p>
          <a:p>
            <a:r>
              <a:rPr lang="en-US" sz="1800" b="1" dirty="0"/>
              <a:t>Location: </a:t>
            </a:r>
          </a:p>
          <a:p>
            <a:pPr lvl="1"/>
            <a:r>
              <a:rPr lang="en-US" sz="1600" dirty="0"/>
              <a:t>Shimla, the summer capital of British India.</a:t>
            </a:r>
          </a:p>
          <a:p>
            <a:r>
              <a:rPr lang="en-US" sz="1800" b="1" dirty="0"/>
              <a:t>Leaders: </a:t>
            </a:r>
          </a:p>
          <a:p>
            <a:pPr lvl="1"/>
            <a:r>
              <a:rPr lang="en-US" sz="1600" dirty="0"/>
              <a:t>About 35 prominent Muslim leaders under the leadership of </a:t>
            </a:r>
            <a:r>
              <a:rPr lang="en-US" sz="1600" b="1" dirty="0"/>
              <a:t>Sir Agha Khan III</a:t>
            </a:r>
            <a:r>
              <a:rPr lang="en-US" sz="1600" dirty="0"/>
              <a:t>.</a:t>
            </a:r>
          </a:p>
          <a:p>
            <a:r>
              <a:rPr lang="en-US" sz="1800" dirty="0"/>
              <a:t>35 Muslim Delegation met </a:t>
            </a:r>
            <a:r>
              <a:rPr lang="en-US" sz="1800" b="1" dirty="0"/>
              <a:t>Lord Minto</a:t>
            </a:r>
            <a:r>
              <a:rPr lang="en-US" sz="1800" dirty="0"/>
              <a:t>, the Viceroy of India.</a:t>
            </a:r>
          </a:p>
          <a:p>
            <a:endParaRPr lang="en-US" sz="1500" dirty="0"/>
          </a:p>
          <a:p>
            <a:endParaRPr lang="en-US" sz="15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B69B0BE-E00A-432A-98D1-A47B82C16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401725" y="6229681"/>
            <a:chExt cx="457200" cy="4572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AF8A5ED-19F8-4707-8EEC-7115E6B11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1725" y="6229681"/>
              <a:ext cx="457200" cy="45720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5F50C1C-978D-45B5-B716-7DA91773C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30918" y="6258874"/>
              <a:ext cx="398813" cy="398815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9325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6B66E70-9451-4286-A0C2-6CF108FE8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4B0696-68E2-40ED-B597-4B8738754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9EF1B4-0F49-44D2-AE21-263819BFB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4653776" cy="6858000"/>
          </a:xfrm>
          <a:prstGeom prst="rect">
            <a:avLst/>
          </a:prstGeom>
          <a:blipFill dpi="0" rotWithShape="1">
            <a:blip r:embed="rId2">
              <a:alphaModFix amt="4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FE6B2C-B753-2A9E-5F0D-A04E73854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119" y="643466"/>
            <a:ext cx="3348017" cy="5571067"/>
          </a:xfrm>
        </p:spPr>
        <p:txBody>
          <a:bodyPr>
            <a:normAutofit/>
          </a:bodyPr>
          <a:lstStyle/>
          <a:p>
            <a:r>
              <a:rPr lang="en-US" sz="4800" b="1">
                <a:solidFill>
                  <a:schemeClr val="tx1"/>
                </a:solidFill>
              </a:rPr>
              <a:t>Causes of the Deputation</a:t>
            </a:r>
            <a:br>
              <a:rPr lang="en-US" sz="4800" b="1">
                <a:solidFill>
                  <a:schemeClr val="tx1"/>
                </a:solidFill>
              </a:rPr>
            </a:br>
            <a:endParaRPr lang="en-US" sz="480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70BB2-B705-9C3B-2271-CAD6BB2B6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2315" y="643467"/>
            <a:ext cx="4534781" cy="5571066"/>
          </a:xfrm>
        </p:spPr>
        <p:txBody>
          <a:bodyPr anchor="ctr">
            <a:normAutofit/>
          </a:bodyPr>
          <a:lstStyle/>
          <a:p>
            <a:r>
              <a:rPr lang="en-US" sz="1700" b="1" dirty="0"/>
              <a:t>Hindu dominance in Congress:</a:t>
            </a:r>
          </a:p>
          <a:p>
            <a:pPr lvl="1"/>
            <a:r>
              <a:rPr lang="en-US" sz="1500" dirty="0"/>
              <a:t>Congress demanded representative institutions based on population, which would disadvantage Muslims as a minority.</a:t>
            </a:r>
          </a:p>
          <a:p>
            <a:r>
              <a:rPr lang="en-US" sz="1700" b="1" dirty="0"/>
              <a:t>Muslim backwardness:</a:t>
            </a:r>
            <a:r>
              <a:rPr lang="en-US" sz="1700" dirty="0"/>
              <a:t> </a:t>
            </a:r>
          </a:p>
          <a:p>
            <a:pPr lvl="1"/>
            <a:r>
              <a:rPr lang="en-US" sz="1500" dirty="0"/>
              <a:t>Muslims lagged behind in education, jobs, and politics.</a:t>
            </a:r>
          </a:p>
          <a:p>
            <a:r>
              <a:rPr lang="en-US" sz="1700" b="1" dirty="0"/>
              <a:t>Sir Syed’s vision:</a:t>
            </a:r>
            <a:r>
              <a:rPr lang="en-US" sz="1700" dirty="0"/>
              <a:t> </a:t>
            </a:r>
          </a:p>
          <a:p>
            <a:pPr lvl="1"/>
            <a:r>
              <a:rPr lang="en-US" sz="1500" dirty="0"/>
              <a:t>His guidance to avoid Congress politics and instead seek British patronage influenced Muslim leadership.</a:t>
            </a:r>
          </a:p>
          <a:p>
            <a:r>
              <a:rPr lang="en-US" sz="1700" b="1" dirty="0"/>
              <a:t>Partition of Bengal (1905):</a:t>
            </a:r>
            <a:r>
              <a:rPr lang="en-US" sz="1700" dirty="0"/>
              <a:t> </a:t>
            </a:r>
          </a:p>
          <a:p>
            <a:pPr lvl="1"/>
            <a:r>
              <a:rPr lang="en-US" sz="1500" dirty="0"/>
              <a:t>Welcomed by Muslims but strongly opposed by Hindus, it revealed the widening gap between the two communities.</a:t>
            </a:r>
          </a:p>
          <a:p>
            <a:r>
              <a:rPr lang="en-US" sz="1700" b="1" dirty="0"/>
              <a:t>Need for representation:</a:t>
            </a:r>
            <a:r>
              <a:rPr lang="en-US" sz="1700" dirty="0"/>
              <a:t> </a:t>
            </a:r>
          </a:p>
          <a:p>
            <a:pPr lvl="1"/>
            <a:r>
              <a:rPr lang="en-US" sz="1500" dirty="0"/>
              <a:t>Muslims wanted safeguards in upcoming constitutional reforms promised by the British.</a:t>
            </a:r>
          </a:p>
          <a:p>
            <a:endParaRPr lang="en-US" sz="17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B69B0BE-E00A-432A-98D1-A47B82C16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401725" y="6229681"/>
            <a:chExt cx="457200" cy="4572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AF8A5ED-19F8-4707-8EEC-7115E6B11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1725" y="6229681"/>
              <a:ext cx="457200" cy="45720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5F50C1C-978D-45B5-B716-7DA91773C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30918" y="6258874"/>
              <a:ext cx="398813" cy="398815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82748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6B66E70-9451-4286-A0C2-6CF108FE8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4B0696-68E2-40ED-B597-4B8738754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9EF1B4-0F49-44D2-AE21-263819BFB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4653776" cy="6858000"/>
          </a:xfrm>
          <a:prstGeom prst="rect">
            <a:avLst/>
          </a:prstGeom>
          <a:blipFill dpi="0" rotWithShape="1">
            <a:blip r:embed="rId2">
              <a:alphaModFix amt="4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68D821-9CC6-98CC-B7B6-AC2989779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119" y="643466"/>
            <a:ext cx="3348017" cy="5571067"/>
          </a:xfrm>
        </p:spPr>
        <p:txBody>
          <a:bodyPr>
            <a:normAutofit/>
          </a:bodyPr>
          <a:lstStyle/>
          <a:p>
            <a:r>
              <a:rPr lang="en-US" sz="4800" b="1">
                <a:solidFill>
                  <a:schemeClr val="tx1"/>
                </a:solidFill>
              </a:rPr>
              <a:t>Demands of the Deputation</a:t>
            </a:r>
            <a:endParaRPr lang="en-US" sz="480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54D01-B4BE-23B4-F0C4-3ED06E39C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2315" y="643467"/>
            <a:ext cx="4534781" cy="5571066"/>
          </a:xfrm>
        </p:spPr>
        <p:txBody>
          <a:bodyPr anchor="ctr">
            <a:normAutofit/>
          </a:bodyPr>
          <a:lstStyle/>
          <a:p>
            <a:endParaRPr lang="en-US" sz="1800" b="1" dirty="0"/>
          </a:p>
          <a:p>
            <a:r>
              <a:rPr lang="en-US" sz="1800" b="1" dirty="0"/>
              <a:t>Separate Electorates:</a:t>
            </a:r>
            <a:r>
              <a:rPr lang="en-US" sz="1800" dirty="0"/>
              <a:t> </a:t>
            </a:r>
          </a:p>
          <a:p>
            <a:pPr lvl="1"/>
            <a:r>
              <a:rPr lang="en-US" sz="1600" dirty="0"/>
              <a:t>Muslims should vote only for Muslim candidates.</a:t>
            </a:r>
          </a:p>
          <a:p>
            <a:r>
              <a:rPr lang="en-US" sz="1800" b="1" dirty="0"/>
              <a:t>Adequate Representation:</a:t>
            </a:r>
          </a:p>
          <a:p>
            <a:pPr lvl="1"/>
            <a:r>
              <a:rPr lang="en-US" sz="1600" dirty="0"/>
              <a:t>Proportionate seats in councils, services, and administration.</a:t>
            </a:r>
          </a:p>
          <a:p>
            <a:r>
              <a:rPr lang="en-US" sz="1800" b="1" dirty="0"/>
              <a:t>Protection of Interests:</a:t>
            </a:r>
            <a:r>
              <a:rPr lang="en-US" sz="1800" dirty="0"/>
              <a:t> </a:t>
            </a:r>
          </a:p>
          <a:p>
            <a:pPr lvl="1"/>
            <a:r>
              <a:rPr lang="en-US" sz="1600" dirty="0"/>
              <a:t>Safeguards for Muslim educational, cultural, and political identity.</a:t>
            </a:r>
          </a:p>
          <a:p>
            <a:r>
              <a:rPr lang="en-US" sz="1800" b="1" dirty="0"/>
              <a:t>Recognition of Muslims as a separate community:</a:t>
            </a:r>
            <a:r>
              <a:rPr lang="en-US" sz="1800" dirty="0"/>
              <a:t> </a:t>
            </a:r>
          </a:p>
          <a:p>
            <a:pPr lvl="1"/>
            <a:r>
              <a:rPr lang="en-US" sz="1600" dirty="0"/>
              <a:t>Muslims should be treated as a political entity distinct from Hindus.</a:t>
            </a:r>
          </a:p>
          <a:p>
            <a:endParaRPr lang="en-US" sz="18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B69B0BE-E00A-432A-98D1-A47B82C16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401725" y="6229681"/>
            <a:chExt cx="457200" cy="4572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AF8A5ED-19F8-4707-8EEC-7115E6B11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1725" y="6229681"/>
              <a:ext cx="457200" cy="45720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5F50C1C-978D-45B5-B716-7DA91773C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30918" y="6258874"/>
              <a:ext cx="398813" cy="398815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5176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6B66E70-9451-4286-A0C2-6CF108FE8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4B0696-68E2-40ED-B597-4B8738754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9EF1B4-0F49-44D2-AE21-263819BFB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4653776" cy="6858000"/>
          </a:xfrm>
          <a:prstGeom prst="rect">
            <a:avLst/>
          </a:prstGeom>
          <a:blipFill dpi="0" rotWithShape="1">
            <a:blip r:embed="rId2">
              <a:alphaModFix amt="4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D16BBD-DCEB-D7A6-108F-7F761CF3F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119" y="643466"/>
            <a:ext cx="3348017" cy="5571067"/>
          </a:xfrm>
        </p:spPr>
        <p:txBody>
          <a:bodyPr>
            <a:normAutofit/>
          </a:bodyPr>
          <a:lstStyle/>
          <a:p>
            <a:r>
              <a:rPr lang="en-US" sz="4800" b="1">
                <a:solidFill>
                  <a:schemeClr val="tx1"/>
                </a:solidFill>
              </a:rPr>
              <a:t>Outcomes</a:t>
            </a:r>
            <a:br>
              <a:rPr lang="en-US" sz="4800" b="1">
                <a:solidFill>
                  <a:schemeClr val="tx1"/>
                </a:solidFill>
              </a:rPr>
            </a:br>
            <a:endParaRPr lang="en-US" sz="480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70745-A153-9855-3033-33CB3CFD6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2315" y="643467"/>
            <a:ext cx="4534781" cy="5571066"/>
          </a:xfrm>
        </p:spPr>
        <p:txBody>
          <a:bodyPr anchor="ctr">
            <a:normAutofit/>
          </a:bodyPr>
          <a:lstStyle/>
          <a:p>
            <a:r>
              <a:rPr lang="en-US" sz="1800"/>
              <a:t>Lord Minto accepted the demands sympathetically, calling them "reasonable."</a:t>
            </a:r>
          </a:p>
          <a:p>
            <a:r>
              <a:rPr lang="en-US" sz="1800"/>
              <a:t>The deputation paved the way for the </a:t>
            </a:r>
            <a:r>
              <a:rPr lang="en-US" sz="1800" b="1"/>
              <a:t>1909 Morley-Minto Reforms</a:t>
            </a:r>
            <a:r>
              <a:rPr lang="en-US" sz="1800"/>
              <a:t>, which introduced </a:t>
            </a:r>
            <a:r>
              <a:rPr lang="en-US" sz="1800" b="1"/>
              <a:t>separate electorates</a:t>
            </a:r>
            <a:r>
              <a:rPr lang="en-US" sz="1800"/>
              <a:t> for Muslims.</a:t>
            </a:r>
          </a:p>
          <a:p>
            <a:r>
              <a:rPr lang="en-US" sz="1800"/>
              <a:t>Encouraged Muslims to form a </a:t>
            </a:r>
            <a:r>
              <a:rPr lang="en-US" sz="1800" b="1"/>
              <a:t>separate political organization</a:t>
            </a:r>
            <a:r>
              <a:rPr lang="en-US" sz="1800"/>
              <a:t>, leading to the establishment of the </a:t>
            </a:r>
            <a:r>
              <a:rPr lang="en-US" sz="1800" b="1"/>
              <a:t>All India Muslim League (December 1906, Dhaka)</a:t>
            </a:r>
            <a:r>
              <a:rPr lang="en-US" sz="1800"/>
              <a:t>.</a:t>
            </a:r>
          </a:p>
          <a:p>
            <a:endParaRPr lang="en-US" sz="18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B69B0BE-E00A-432A-98D1-A47B82C16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401725" y="6229681"/>
            <a:chExt cx="457200" cy="4572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AF8A5ED-19F8-4707-8EEC-7115E6B11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1725" y="6229681"/>
              <a:ext cx="457200" cy="45720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5F50C1C-978D-45B5-B716-7DA91773C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30918" y="6258874"/>
              <a:ext cx="398813" cy="398815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85707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6B66E70-9451-4286-A0C2-6CF108FE8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4B0696-68E2-40ED-B597-4B8738754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9EF1B4-0F49-44D2-AE21-263819BFB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4653776" cy="6858000"/>
          </a:xfrm>
          <a:prstGeom prst="rect">
            <a:avLst/>
          </a:prstGeom>
          <a:blipFill dpi="0" rotWithShape="1">
            <a:blip r:embed="rId2">
              <a:alphaModFix amt="4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44133F-D7E1-AF38-9EF9-C4FAD4F20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119" y="643466"/>
            <a:ext cx="3348017" cy="5571067"/>
          </a:xfrm>
        </p:spPr>
        <p:txBody>
          <a:bodyPr>
            <a:normAutofit/>
          </a:bodyPr>
          <a:lstStyle/>
          <a:p>
            <a:r>
              <a:rPr lang="en-US" sz="4100" b="1">
                <a:solidFill>
                  <a:schemeClr val="tx1"/>
                </a:solidFill>
              </a:rPr>
              <a:t>Significance</a:t>
            </a:r>
            <a:br>
              <a:rPr lang="en-US" sz="4100" b="1">
                <a:solidFill>
                  <a:schemeClr val="tx1"/>
                </a:solidFill>
              </a:rPr>
            </a:br>
            <a:endParaRPr lang="en-US" sz="410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DA4A-0893-1207-28EC-1D178ED47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2315" y="643467"/>
            <a:ext cx="4534781" cy="5571066"/>
          </a:xfrm>
        </p:spPr>
        <p:txBody>
          <a:bodyPr anchor="ctr">
            <a:normAutofit/>
          </a:bodyPr>
          <a:lstStyle/>
          <a:p>
            <a:r>
              <a:rPr lang="en-US" sz="1800"/>
              <a:t>Marked the </a:t>
            </a:r>
            <a:r>
              <a:rPr lang="en-US" sz="1800" b="1"/>
              <a:t>formal entry of Muslims</a:t>
            </a:r>
            <a:r>
              <a:rPr lang="en-US" sz="1800"/>
              <a:t> into politics as a separate community.</a:t>
            </a:r>
          </a:p>
          <a:p>
            <a:r>
              <a:rPr lang="en-US" sz="1800"/>
              <a:t>First step towards </a:t>
            </a:r>
            <a:r>
              <a:rPr lang="en-US" sz="1800" b="1"/>
              <a:t>Muslim nationhood</a:t>
            </a:r>
            <a:r>
              <a:rPr lang="en-US" sz="1800"/>
              <a:t>.</a:t>
            </a:r>
          </a:p>
          <a:p>
            <a:r>
              <a:rPr lang="en-US" sz="1800"/>
              <a:t>Created political consciousness among Muslims.</a:t>
            </a:r>
          </a:p>
          <a:p>
            <a:r>
              <a:rPr lang="en-US" sz="1800"/>
              <a:t>Strengthened Muslim trust in the British government compared to Hindus.</a:t>
            </a:r>
          </a:p>
          <a:p>
            <a:r>
              <a:rPr lang="en-US" sz="1800"/>
              <a:t>Laid the foundation for the </a:t>
            </a:r>
            <a:r>
              <a:rPr lang="en-US" sz="1800" b="1"/>
              <a:t>Two-Nation Theory</a:t>
            </a:r>
            <a:r>
              <a:rPr lang="en-US" sz="1800"/>
              <a:t> and ultimately the </a:t>
            </a:r>
            <a:r>
              <a:rPr lang="en-US" sz="1800" b="1"/>
              <a:t>Pakistan Movement</a:t>
            </a:r>
            <a:r>
              <a:rPr lang="en-US" sz="1800"/>
              <a:t>.</a:t>
            </a:r>
          </a:p>
          <a:p>
            <a:endParaRPr lang="en-US" sz="18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B69B0BE-E00A-432A-98D1-A47B82C16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401725" y="6229681"/>
            <a:chExt cx="457200" cy="4572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AF8A5ED-19F8-4707-8EEC-7115E6B11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1725" y="6229681"/>
              <a:ext cx="457200" cy="45720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5F50C1C-978D-45B5-B716-7DA91773C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30918" y="6258874"/>
              <a:ext cx="398813" cy="398815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1211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FCA88C2-C73C-4062-A097-8FBCE3090B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981C21-E132-4402-B31B-D725C1CE7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04" y="653241"/>
            <a:ext cx="109087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685C77-4E84-486A-9AE5-F3635BE98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02" y="822324"/>
            <a:ext cx="5149596" cy="5228279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E57BE-E607-B6A8-144C-E77607EA0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4" y="1465790"/>
            <a:ext cx="3860798" cy="3941345"/>
          </a:xfrm>
        </p:spPr>
        <p:txBody>
          <a:bodyPr>
            <a:normAutofit/>
          </a:bodyPr>
          <a:lstStyle/>
          <a:p>
            <a:r>
              <a:rPr lang="en-US" sz="5600" b="1"/>
              <a:t>Conclusion</a:t>
            </a:r>
            <a:br>
              <a:rPr lang="en-US" sz="5600" b="1"/>
            </a:br>
            <a:endParaRPr lang="en-US" sz="5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B6006-3180-97FF-419F-AFA36B4BF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7733" y="1359090"/>
            <a:ext cx="5132665" cy="4048046"/>
          </a:xfrm>
        </p:spPr>
        <p:txBody>
          <a:bodyPr anchor="ctr">
            <a:normAutofit/>
          </a:bodyPr>
          <a:lstStyle/>
          <a:p>
            <a:r>
              <a:rPr lang="en-US" dirty="0"/>
              <a:t>The Shimla Deputation was a </a:t>
            </a:r>
            <a:r>
              <a:rPr lang="en-US" b="1" dirty="0"/>
              <a:t>turning point</a:t>
            </a:r>
            <a:r>
              <a:rPr lang="en-US" dirty="0"/>
              <a:t> in Muslim politics.</a:t>
            </a:r>
          </a:p>
          <a:p>
            <a:r>
              <a:rPr lang="en-US" dirty="0"/>
              <a:t>It not only secured constitutional recognition for Muslims but also set the stage for the creation of the </a:t>
            </a:r>
            <a:r>
              <a:rPr lang="en-US" b="1" dirty="0"/>
              <a:t>All India Muslim League</a:t>
            </a:r>
            <a:r>
              <a:rPr lang="en-US" dirty="0"/>
              <a:t> and the eventual struggle for </a:t>
            </a:r>
            <a:r>
              <a:rPr lang="en-US" b="1" dirty="0"/>
              <a:t>Pakistan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5C1C3E-5158-47F3-8FD9-14B22C3E6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04" y="6121662"/>
            <a:ext cx="109087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012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99C3D5-7D55-4046-808C-F290F456D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61035" y="1679569"/>
            <a:ext cx="3498864" cy="3498858"/>
            <a:chOff x="1061035" y="1679569"/>
            <a:chExt cx="3498864" cy="349885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59D8741-EAD6-41B1-A882-70D70FC358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1035" y="1679569"/>
              <a:ext cx="3498864" cy="3498858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400000"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5444F36-3103-4D11-A25F-C054D4606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46134" y="1864667"/>
              <a:ext cx="3128666" cy="312866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593F3BC-3AFA-EAA7-B4D3-5CA45A8E8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145" y="2376862"/>
            <a:ext cx="2640646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en-US" sz="3000" b="1">
                <a:solidFill>
                  <a:srgbClr val="FFFFFF"/>
                </a:solidFill>
              </a:rPr>
              <a:t>References</a:t>
            </a:r>
            <a:br>
              <a:rPr lang="en-US" sz="3000" b="1">
                <a:solidFill>
                  <a:srgbClr val="FFFFFF"/>
                </a:solidFill>
              </a:rPr>
            </a:br>
            <a:endParaRPr lang="en-US" sz="3000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2277" y="3388659"/>
            <a:ext cx="3657600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C2C6A-35EB-CF9A-2814-6864138A6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1089" y="725394"/>
            <a:ext cx="5142658" cy="5407212"/>
          </a:xfrm>
        </p:spPr>
        <p:txBody>
          <a:bodyPr anchor="ctr">
            <a:normAutofit/>
          </a:bodyPr>
          <a:lstStyle/>
          <a:p>
            <a:r>
              <a:rPr lang="en-US" dirty="0"/>
              <a:t>Jalal, A. (1994). </a:t>
            </a:r>
            <a:r>
              <a:rPr lang="en-US" i="1" dirty="0"/>
              <a:t>The Sole Spokesman: Jinnah, the Muslim League and the Demand for Pakistan</a:t>
            </a:r>
            <a:r>
              <a:rPr lang="en-US" dirty="0"/>
              <a:t>. Cambridge University Press.</a:t>
            </a:r>
          </a:p>
          <a:p>
            <a:r>
              <a:rPr lang="en-US" dirty="0"/>
              <a:t>Metcalf, B. D., &amp; Metcalf, T. R. (2006). </a:t>
            </a:r>
            <a:r>
              <a:rPr lang="en-US" i="1" dirty="0"/>
              <a:t>A Concise History of Modern India</a:t>
            </a:r>
            <a:r>
              <a:rPr lang="en-US" dirty="0"/>
              <a:t>. Cambridge University Press.</a:t>
            </a:r>
          </a:p>
          <a:p>
            <a:r>
              <a:rPr lang="en-US" dirty="0"/>
              <a:t>Aziz, K. K. (1987). </a:t>
            </a:r>
            <a:r>
              <a:rPr lang="en-US" i="1" dirty="0"/>
              <a:t>The Making of Pakistan</a:t>
            </a:r>
            <a:r>
              <a:rPr lang="en-US" dirty="0"/>
              <a:t>. Lahore: Sang-e-Meel Publications.</a:t>
            </a:r>
          </a:p>
          <a:p>
            <a:r>
              <a:rPr lang="en-US" dirty="0"/>
              <a:t>Afzal, M. R. (2001). </a:t>
            </a:r>
            <a:r>
              <a:rPr lang="en-US" i="1" dirty="0"/>
              <a:t>Political Parties in Pakistan, 1906–1971</a:t>
            </a:r>
            <a:r>
              <a:rPr lang="en-US" dirty="0"/>
              <a:t>. National Institute of Historical and Cultural Research.</a:t>
            </a:r>
          </a:p>
          <a:p>
            <a:r>
              <a:rPr lang="en-US" dirty="0"/>
              <a:t>Hardy, P. (1972). </a:t>
            </a:r>
            <a:r>
              <a:rPr lang="en-US" i="1" dirty="0"/>
              <a:t>The Muslims of British India</a:t>
            </a:r>
            <a:r>
              <a:rPr lang="en-US" dirty="0"/>
              <a:t>. Cambridge University Press.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875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10</TotalTime>
  <Words>531</Words>
  <Application>Microsoft Office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Rockwell</vt:lpstr>
      <vt:lpstr>Rockwell Condensed</vt:lpstr>
      <vt:lpstr>Rockwell Extra Bold</vt:lpstr>
      <vt:lpstr>Wingdings</vt:lpstr>
      <vt:lpstr>Wood Type</vt:lpstr>
      <vt:lpstr>Shimla Deputation 1906</vt:lpstr>
      <vt:lpstr>Introduction </vt:lpstr>
      <vt:lpstr>Causes of the Deputation </vt:lpstr>
      <vt:lpstr>Demands of the Deputation</vt:lpstr>
      <vt:lpstr>Outcomes </vt:lpstr>
      <vt:lpstr>Significance </vt:lpstr>
      <vt:lpstr>Conclusion 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PMLS</dc:creator>
  <cp:lastModifiedBy>PMLS</cp:lastModifiedBy>
  <cp:revision>5</cp:revision>
  <dcterms:created xsi:type="dcterms:W3CDTF">2025-09-02T08:40:03Z</dcterms:created>
  <dcterms:modified xsi:type="dcterms:W3CDTF">2025-09-02T08:54:25Z</dcterms:modified>
</cp:coreProperties>
</file>