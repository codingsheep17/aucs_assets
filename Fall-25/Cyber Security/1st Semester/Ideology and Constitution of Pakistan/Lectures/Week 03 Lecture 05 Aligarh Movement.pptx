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70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9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6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2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6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6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7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4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9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0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FBB4CE6-73E8-44E6-ACCA-9CED204D0F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9BB6DBF-537D-4905-A815-B4A302740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384DB2-5DBE-4000-BBD8-68F4A6F35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497EEB-0DDE-4044-AAB7-899504057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72078"/>
            <a:ext cx="12192000" cy="309575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1D5588-0A43-44F8-8BF9-4BD0CB073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218262"/>
            <a:ext cx="1080904" cy="1080902"/>
            <a:chOff x="9685338" y="4460675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96F04B2-EA02-4F51-91CB-9399DBE72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24F9A86-344F-4139-A831-9D8F3E0EE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0C6205-B095-B991-6B2D-787BB42F1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32" y="3803009"/>
            <a:ext cx="10953136" cy="1604733"/>
          </a:xfrm>
        </p:spPr>
        <p:txBody>
          <a:bodyPr anchor="b">
            <a:normAutofit/>
          </a:bodyPr>
          <a:lstStyle/>
          <a:p>
            <a:pPr algn="ctr"/>
            <a:r>
              <a:rPr lang="en-US" sz="7200" b="1"/>
              <a:t>Aligarh Movement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73FC2-0E54-BE90-8839-A6C682A7B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4031" y="5407742"/>
            <a:ext cx="8283940" cy="865042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Habib Ali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B6C5289D-2F14-0002-C6BB-B600B41800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88" y="643468"/>
            <a:ext cx="8101623" cy="27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6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64BD8-15A7-C816-E98F-696CFD57B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89D2D-6ECB-9BE5-395D-98A6FC529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The Aligarh Movement was launched by Sir Syed Ahmad Khan (1817–1898) after the War of Independence (1857).</a:t>
            </a:r>
          </a:p>
          <a:p>
            <a:r>
              <a:rPr lang="en-US" sz="1800"/>
              <a:t>It aimed at the social, educational, and political uplift of Muslims of India.</a:t>
            </a:r>
          </a:p>
          <a:p>
            <a:r>
              <a:rPr lang="en-US" sz="1800"/>
              <a:t>Movement was centered around Aligarh (U.P.) and became the foundation of Muslim nationalism in India.</a:t>
            </a:r>
          </a:p>
          <a:p>
            <a:r>
              <a:rPr lang="en-US" sz="1800"/>
              <a:t>Motto of the Aligarh Movement</a:t>
            </a:r>
          </a:p>
          <a:p>
            <a:pPr lvl="1"/>
            <a:r>
              <a:rPr lang="en-US" dirty="0"/>
              <a:t>"Progress through Education."</a:t>
            </a:r>
          </a:p>
          <a:p>
            <a:pPr lvl="1"/>
            <a:r>
              <a:rPr lang="en-US" dirty="0"/>
              <a:t>Sir Syed emphasized:</a:t>
            </a:r>
          </a:p>
          <a:p>
            <a:pPr lvl="1"/>
            <a:r>
              <a:rPr lang="en-US" b="1" dirty="0"/>
              <a:t>“Education is a matter of life and death for us. It is the only way to secure our future.”</a:t>
            </a:r>
          </a:p>
          <a:p>
            <a:endParaRPr lang="en-US" sz="1800"/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427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BA7CA-93A0-6F8F-20C5-EF1610A2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Causes of the Aligarh Movement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64448-1907-29ED-306A-1FC32B02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 b="1"/>
              <a:t>Aftermath of 1857 Revolt: </a:t>
            </a:r>
            <a:r>
              <a:rPr lang="en-US" sz="1800"/>
              <a:t>Muslims were blamed and marginalized.</a:t>
            </a:r>
          </a:p>
          <a:p>
            <a:r>
              <a:rPr lang="en-US" sz="1800" b="1"/>
              <a:t>Decline of Muslim Power: E</a:t>
            </a:r>
            <a:r>
              <a:rPr lang="en-US" sz="1800"/>
              <a:t>conomic and political downfall.</a:t>
            </a:r>
          </a:p>
          <a:p>
            <a:r>
              <a:rPr lang="en-US" sz="1800" b="1"/>
              <a:t>Educational Backwardness: </a:t>
            </a:r>
            <a:r>
              <a:rPr lang="en-US" sz="1800"/>
              <a:t>Muslims shunned English education.</a:t>
            </a:r>
          </a:p>
          <a:p>
            <a:r>
              <a:rPr lang="en-US" sz="1800" b="1"/>
              <a:t>Hindu Advancement: </a:t>
            </a:r>
            <a:r>
              <a:rPr lang="en-US" sz="1800"/>
              <a:t>Hindus benefited from Western education and secured jobs.</a:t>
            </a:r>
          </a:p>
          <a:p>
            <a:r>
              <a:rPr lang="en-US" sz="1800" b="1"/>
              <a:t>Need for Modernization: </a:t>
            </a:r>
            <a:r>
              <a:rPr lang="en-US" sz="1800"/>
              <a:t>Sir Syed stressed scientific and rational thinking.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0349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2E42F-21EF-306F-FE5C-E300E39C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Objectives &amp; Aims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57D8-E05B-77A8-B050-952ECAECC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To </a:t>
            </a:r>
            <a:r>
              <a:rPr lang="en-US" sz="1800" b="1"/>
              <a:t>modernize Muslim education</a:t>
            </a:r>
            <a:r>
              <a:rPr lang="en-US" sz="1800"/>
              <a:t> and introduce </a:t>
            </a:r>
            <a:r>
              <a:rPr lang="en-US" sz="1800" b="1"/>
              <a:t>Western sciences</a:t>
            </a:r>
            <a:r>
              <a:rPr lang="en-US" sz="1800"/>
              <a:t>.</a:t>
            </a:r>
          </a:p>
          <a:p>
            <a:r>
              <a:rPr lang="en-US" sz="1800"/>
              <a:t>To </a:t>
            </a:r>
            <a:r>
              <a:rPr lang="en-US" sz="1800" b="1"/>
              <a:t>bridge the gap</a:t>
            </a:r>
            <a:r>
              <a:rPr lang="en-US" sz="1800"/>
              <a:t> between </a:t>
            </a:r>
            <a:r>
              <a:rPr lang="en-US" sz="1800" b="1"/>
              <a:t>British rulers and Muslims</a:t>
            </a:r>
            <a:r>
              <a:rPr lang="en-US" sz="1800"/>
              <a:t>.</a:t>
            </a:r>
          </a:p>
          <a:p>
            <a:r>
              <a:rPr lang="en-US" sz="1800"/>
              <a:t>To </a:t>
            </a:r>
            <a:r>
              <a:rPr lang="en-US" sz="1800" b="1"/>
              <a:t>protect Islamic identity</a:t>
            </a:r>
            <a:r>
              <a:rPr lang="en-US" sz="1800"/>
              <a:t> while </a:t>
            </a:r>
            <a:r>
              <a:rPr lang="en-US" sz="1800" b="1"/>
              <a:t>adapting to modern needs</a:t>
            </a:r>
            <a:r>
              <a:rPr lang="en-US" sz="1800"/>
              <a:t>.</a:t>
            </a:r>
          </a:p>
          <a:p>
            <a:r>
              <a:rPr lang="en-US" sz="1800"/>
              <a:t>To prepare Muslims for </a:t>
            </a:r>
            <a:r>
              <a:rPr lang="en-US" sz="1800" b="1"/>
              <a:t>competitive exams, government services, and modern professions</a:t>
            </a:r>
            <a:r>
              <a:rPr lang="en-US" sz="1800"/>
              <a:t>.</a:t>
            </a:r>
          </a:p>
          <a:p>
            <a:r>
              <a:rPr lang="en-US" sz="1800"/>
              <a:t>To </a:t>
            </a:r>
            <a:r>
              <a:rPr lang="en-US" sz="1800" b="1"/>
              <a:t>inculcate unity, discipline, and progress</a:t>
            </a:r>
            <a:r>
              <a:rPr lang="en-US" sz="1800"/>
              <a:t> among Muslims.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61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65103-EFDE-DFD8-859B-39E6BF08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chemeClr val="tx1"/>
                </a:solidFill>
              </a:rPr>
              <a:t>Educational Efforts (Schools, Colleges, Institutions)</a:t>
            </a:r>
            <a:endParaRPr lang="en-US" sz="41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1C34-3694-F40B-5146-982002CAC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endParaRPr lang="en-US" sz="1800" b="1"/>
          </a:p>
          <a:p>
            <a:r>
              <a:rPr lang="en-US" sz="1800" b="1"/>
              <a:t>Ghazipur School (1863): </a:t>
            </a:r>
            <a:r>
              <a:rPr lang="en-US" sz="1800"/>
              <a:t>First step in Muslim modern education.</a:t>
            </a:r>
          </a:p>
          <a:p>
            <a:r>
              <a:rPr lang="en-US" sz="1800" b="1"/>
              <a:t>Scientific Society (1864, Ghazipur/Aligarh): </a:t>
            </a:r>
            <a:r>
              <a:rPr lang="en-US" sz="1800"/>
              <a:t>Translated English works into Urdu.</a:t>
            </a:r>
          </a:p>
          <a:p>
            <a:r>
              <a:rPr lang="en-US" sz="1800" b="1"/>
              <a:t>Aligarh Institute Gazette (1866): </a:t>
            </a:r>
            <a:r>
              <a:rPr lang="en-US" sz="1800"/>
              <a:t>Journal promoting modern knowledge.</a:t>
            </a:r>
          </a:p>
          <a:p>
            <a:r>
              <a:rPr lang="en-US" sz="1800" b="1"/>
              <a:t>Muhammadan Anglo-Oriental (M.A.O.) School, Aligarh (1875): </a:t>
            </a:r>
            <a:r>
              <a:rPr lang="en-US" sz="1800"/>
              <a:t>Later upgraded</a:t>
            </a:r>
          </a:p>
          <a:p>
            <a:r>
              <a:rPr lang="en-US" sz="1800" b="1"/>
              <a:t>M.A.O. College, Aligarh (1877): </a:t>
            </a:r>
            <a:r>
              <a:rPr lang="en-US" sz="1800"/>
              <a:t>Modelled after Cambridge and Oxford.</a:t>
            </a:r>
          </a:p>
          <a:p>
            <a:r>
              <a:rPr lang="en-US" sz="1800" b="1"/>
              <a:t>Aligarh Muslim University (1920): </a:t>
            </a:r>
            <a:r>
              <a:rPr lang="en-US" sz="1800"/>
              <a:t>Culmination of the Movement.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6587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12960-2215-8DE2-A25F-7C1BC5B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tx1"/>
                </a:solidFill>
              </a:rPr>
              <a:t>Success &amp; Achievements</a:t>
            </a:r>
            <a:endParaRPr lang="en-US" sz="37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E62B-CEE1-0684-3291-90944D2CC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endParaRPr lang="en-US" sz="1800" b="1"/>
          </a:p>
          <a:p>
            <a:r>
              <a:rPr lang="en-US" sz="1800"/>
              <a:t>It produced a </a:t>
            </a:r>
            <a:r>
              <a:rPr lang="en-US" sz="1800" b="1"/>
              <a:t>modern, educated Muslim middle class</a:t>
            </a:r>
            <a:r>
              <a:rPr lang="en-US" sz="1800"/>
              <a:t>.</a:t>
            </a:r>
          </a:p>
          <a:p>
            <a:r>
              <a:rPr lang="en-US" sz="1800"/>
              <a:t>It restored the </a:t>
            </a:r>
            <a:r>
              <a:rPr lang="en-US" sz="1800" b="1"/>
              <a:t>confidence</a:t>
            </a:r>
            <a:r>
              <a:rPr lang="en-US" sz="1800"/>
              <a:t> of Muslims in modern sciences and English.</a:t>
            </a:r>
          </a:p>
          <a:p>
            <a:r>
              <a:rPr lang="en-US" sz="1800"/>
              <a:t>It strengthened </a:t>
            </a:r>
            <a:r>
              <a:rPr lang="en-US" sz="1800" b="1"/>
              <a:t>political consciousness</a:t>
            </a:r>
            <a:r>
              <a:rPr lang="en-US" sz="1800"/>
              <a:t> among Muslims.</a:t>
            </a:r>
          </a:p>
          <a:p>
            <a:r>
              <a:rPr lang="en-US" sz="1800"/>
              <a:t>It provided </a:t>
            </a:r>
            <a:r>
              <a:rPr lang="en-US" sz="1800" b="1"/>
              <a:t>leaders</a:t>
            </a:r>
            <a:r>
              <a:rPr lang="en-US" sz="1800"/>
              <a:t> for the All-India Muslim League (founded in 1906).</a:t>
            </a:r>
          </a:p>
          <a:p>
            <a:r>
              <a:rPr lang="en-US" sz="1800"/>
              <a:t>It became the </a:t>
            </a:r>
            <a:r>
              <a:rPr lang="en-US" sz="1800" b="1"/>
              <a:t>intellectual foundation</a:t>
            </a:r>
            <a:r>
              <a:rPr lang="en-US" sz="1800"/>
              <a:t> of the Pakistan Movement.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42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15FC5-C458-3A40-EC0C-B1FE8326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Legacy of Aligarh Movement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E1A8D-EECA-0C51-F96A-97252C1B2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It laid the </a:t>
            </a:r>
            <a:r>
              <a:rPr lang="en-US" sz="1800" b="1"/>
              <a:t>intellectual groundwork</a:t>
            </a:r>
            <a:r>
              <a:rPr lang="en-US" sz="1800"/>
              <a:t> for Muslim political identity.</a:t>
            </a:r>
          </a:p>
          <a:p>
            <a:r>
              <a:rPr lang="en-US" sz="1800"/>
              <a:t>It helped Muslims compete with Hindus for jobs and opportunities.</a:t>
            </a:r>
          </a:p>
          <a:p>
            <a:r>
              <a:rPr lang="en-US" sz="1800"/>
              <a:t>It played a direct role in the formation of the </a:t>
            </a:r>
            <a:r>
              <a:rPr lang="en-US" sz="1800" b="1"/>
              <a:t>All India Muslim League (1906)</a:t>
            </a:r>
            <a:r>
              <a:rPr lang="en-US" sz="1800"/>
              <a:t>.</a:t>
            </a:r>
          </a:p>
          <a:p>
            <a:r>
              <a:rPr lang="en-US" sz="1800"/>
              <a:t>It provided a </a:t>
            </a:r>
            <a:r>
              <a:rPr lang="en-US" sz="1800" b="1"/>
              <a:t>link between tradition and modernity</a:t>
            </a:r>
            <a:r>
              <a:rPr lang="en-US" sz="1800"/>
              <a:t> for Indian Muslims.</a:t>
            </a:r>
          </a:p>
          <a:p>
            <a:r>
              <a:rPr lang="en-US" sz="1800"/>
              <a:t>It inspired the </a:t>
            </a:r>
            <a:r>
              <a:rPr lang="en-US" sz="1800" b="1"/>
              <a:t>Pakistan Movement</a:t>
            </a:r>
            <a:r>
              <a:rPr lang="en-US" sz="1800"/>
              <a:t> under Quaid-i-Azam.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51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F9DEF-58B0-CD69-9168-82F6FD47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1"/>
                </a:solidFill>
              </a:rPr>
              <a:t>Conclusion</a:t>
            </a:r>
            <a:br>
              <a:rPr lang="en-US" sz="4800" b="1">
                <a:solidFill>
                  <a:schemeClr val="tx1"/>
                </a:solidFill>
              </a:rPr>
            </a:br>
            <a:endParaRPr lang="en-US" sz="48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716ED-BBC9-F7D4-B415-B7B0B89F8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The </a:t>
            </a:r>
            <a:r>
              <a:rPr lang="en-US" sz="1800" b="1"/>
              <a:t>Aligarh Movement</a:t>
            </a:r>
            <a:r>
              <a:rPr lang="en-US" sz="1800"/>
              <a:t> was not just an educational reform but a </a:t>
            </a:r>
            <a:r>
              <a:rPr lang="en-US" sz="1800" b="1"/>
              <a:t>revivalist movement</a:t>
            </a:r>
            <a:r>
              <a:rPr lang="en-US" sz="1800"/>
              <a:t> that shaped the destiny of Muslims in India.</a:t>
            </a:r>
          </a:p>
          <a:p>
            <a:r>
              <a:rPr lang="en-US" sz="1800"/>
              <a:t>It transformed Muslims from a </a:t>
            </a:r>
            <a:r>
              <a:rPr lang="en-US" sz="1800" b="1"/>
              <a:t>defeated, marginalized community</a:t>
            </a:r>
            <a:r>
              <a:rPr lang="en-US" sz="1800"/>
              <a:t> into an </a:t>
            </a:r>
            <a:r>
              <a:rPr lang="en-US" sz="1800" b="1"/>
              <a:t>organized and politically conscious nation</a:t>
            </a:r>
            <a:r>
              <a:rPr lang="en-US" sz="1800"/>
              <a:t>.</a:t>
            </a:r>
          </a:p>
          <a:p>
            <a:r>
              <a:rPr lang="en-US" sz="1800"/>
              <a:t>Sir Syed said:</a:t>
            </a:r>
          </a:p>
          <a:p>
            <a:pPr lvl="1"/>
            <a:r>
              <a:rPr lang="en-US" dirty="0"/>
              <a:t>“Do not show ill-will towards the British Government. The future of the Muslims depends upon their friendship with the rulers.”</a:t>
            </a:r>
          </a:p>
          <a:p>
            <a:pPr lvl="1"/>
            <a:r>
              <a:rPr lang="en-US" dirty="0"/>
              <a:t>“A nation without education is like a body without a soul.”</a:t>
            </a:r>
          </a:p>
          <a:p>
            <a:pPr lvl="1"/>
            <a:r>
              <a:rPr lang="en-US" dirty="0"/>
              <a:t>“Acquiring modern education is the religious duty of every Muslim.”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5719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CC229-DD27-A06A-36B9-524D27E6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</a:rPr>
              <a:t>References for Further Reading</a:t>
            </a:r>
            <a:br>
              <a:rPr lang="en-US" sz="4400">
                <a:solidFill>
                  <a:schemeClr val="tx1"/>
                </a:solidFill>
              </a:rPr>
            </a:br>
            <a:endParaRPr lang="en-US" sz="44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33960-3E92-61D1-DC83-6D99AD35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/>
              <a:t>Aziz, K. K. (1972). </a:t>
            </a:r>
            <a:r>
              <a:rPr lang="en-US" sz="1800" i="1"/>
              <a:t>The Making of Pakistan: A Study in Nationalism.</a:t>
            </a:r>
            <a:r>
              <a:rPr lang="en-US" sz="1800"/>
              <a:t> Lahore: Sang-e-Meel.</a:t>
            </a:r>
          </a:p>
          <a:p>
            <a:r>
              <a:rPr lang="en-US" sz="1800"/>
              <a:t>Hardy, P. (1972). </a:t>
            </a:r>
            <a:r>
              <a:rPr lang="en-US" sz="1800" i="1"/>
              <a:t>The Muslims of British India.</a:t>
            </a:r>
            <a:r>
              <a:rPr lang="en-US" sz="1800"/>
              <a:t> Cambridge University Press.</a:t>
            </a:r>
          </a:p>
          <a:p>
            <a:r>
              <a:rPr lang="en-US" sz="1800"/>
              <a:t>Malik, H. (2001). </a:t>
            </a:r>
            <a:r>
              <a:rPr lang="en-US" sz="1800" i="1"/>
              <a:t>Sir Sayyid Ahmad Khan and Muslim Modernization in India and Pakistan.</a:t>
            </a:r>
            <a:r>
              <a:rPr lang="en-US" sz="1800"/>
              <a:t> Islamabad: IPRI.</a:t>
            </a:r>
          </a:p>
          <a:p>
            <a:r>
              <a:rPr lang="en-US" sz="1800"/>
              <a:t>Qureshi, I. H. (1962). </a:t>
            </a:r>
            <a:r>
              <a:rPr lang="en-US" sz="1800" i="1"/>
              <a:t>Ulema in Politics.</a:t>
            </a:r>
            <a:r>
              <a:rPr lang="en-US" sz="1800"/>
              <a:t> Karachi: Ma’aref.</a:t>
            </a:r>
          </a:p>
          <a:p>
            <a:r>
              <a:rPr lang="en-US" sz="1800"/>
              <a:t>Smith, W. C. (1961). </a:t>
            </a:r>
            <a:r>
              <a:rPr lang="en-US" sz="1800" i="1"/>
              <a:t>Modern Islam in India: A Social Analysis.</a:t>
            </a:r>
            <a:r>
              <a:rPr lang="en-US" sz="1800"/>
              <a:t> Lahore: Sh. Muhammad Ashraf.</a:t>
            </a:r>
          </a:p>
          <a:p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07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2A692-E397-DED4-182A-DC9703FA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1"/>
            <a:ext cx="6730277" cy="5121512"/>
          </a:xfrm>
          <a:ln>
            <a:noFill/>
          </a:ln>
        </p:spPr>
        <p:txBody>
          <a:bodyPr>
            <a:noAutofit/>
          </a:bodyPr>
          <a:lstStyle/>
          <a:p>
            <a:pPr marL="0" indent="0" algn="ctr"/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Thank you for your time and attention!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Hopefully, I will see you in the next class. Until then, take care, &amp; have a great day!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dirty="0"/>
            </a:br>
            <a:endParaRPr lang="en-US" sz="2800" dirty="0"/>
          </a:p>
        </p:txBody>
      </p:sp>
      <p:pic>
        <p:nvPicPr>
          <p:cNvPr id="4" name="Content Placeholder 3" descr="Books, pens, and a wall clock">
            <a:extLst>
              <a:ext uri="{FF2B5EF4-FFF2-40B4-BE49-F238E27FC236}">
                <a16:creationId xmlns:a16="http://schemas.microsoft.com/office/drawing/2014/main" id="{0FB0FB7A-7A24-BFB1-C7FE-140C14781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36" r="3429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5330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35</TotalTime>
  <Words>669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Rockwell</vt:lpstr>
      <vt:lpstr>Rockwell Condensed</vt:lpstr>
      <vt:lpstr>Rockwell Extra Bold</vt:lpstr>
      <vt:lpstr>Wingdings</vt:lpstr>
      <vt:lpstr>Wood Type</vt:lpstr>
      <vt:lpstr>Aligarh Movement</vt:lpstr>
      <vt:lpstr>Introduction</vt:lpstr>
      <vt:lpstr>Causes of the Aligarh Movement </vt:lpstr>
      <vt:lpstr>Objectives &amp; Aims </vt:lpstr>
      <vt:lpstr>Educational Efforts (Schools, Colleges, Institutions)</vt:lpstr>
      <vt:lpstr>Success &amp; Achievements</vt:lpstr>
      <vt:lpstr>Legacy of Aligarh Movement </vt:lpstr>
      <vt:lpstr>Conclusion </vt:lpstr>
      <vt:lpstr>References for Further Reading </vt:lpstr>
      <vt:lpstr>    Thank you for your time and attention!  Hopefully, I will see you in the next class. Until then, take care, &amp; have a great day!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3</cp:revision>
  <dcterms:created xsi:type="dcterms:W3CDTF">2025-09-01T05:53:59Z</dcterms:created>
  <dcterms:modified xsi:type="dcterms:W3CDTF">2025-09-01T06:29:56Z</dcterms:modified>
</cp:coreProperties>
</file>