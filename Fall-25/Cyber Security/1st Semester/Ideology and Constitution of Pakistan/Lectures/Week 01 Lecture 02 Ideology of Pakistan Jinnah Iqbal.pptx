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0" r:id="rId4"/>
    <p:sldId id="259" r:id="rId5"/>
    <p:sldId id="260" r:id="rId6"/>
    <p:sldId id="262" r:id="rId7"/>
    <p:sldId id="267" r:id="rId8"/>
    <p:sldId id="27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BDCE32-0190-416D-8E27-00517B39907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84E13A0-3A49-4910-BBB3-BC5B9999A9A9}">
      <dgm:prSet/>
      <dgm:spPr/>
      <dgm:t>
        <a:bodyPr/>
        <a:lstStyle/>
        <a:p>
          <a:pPr>
            <a:lnSpc>
              <a:spcPct val="100000"/>
            </a:lnSpc>
          </a:pPr>
          <a:r>
            <a:rPr lang="en-US" b="1" dirty="0"/>
            <a:t>Islam: A nation-building force</a:t>
          </a:r>
        </a:p>
      </dgm:t>
    </dgm:pt>
    <dgm:pt modelId="{A7F9529B-6A36-4690-B638-A337444D7CE4}" type="parTrans" cxnId="{A49B555A-47BB-4FA5-BADF-09845469654E}">
      <dgm:prSet/>
      <dgm:spPr/>
      <dgm:t>
        <a:bodyPr/>
        <a:lstStyle/>
        <a:p>
          <a:endParaRPr lang="en-US"/>
        </a:p>
      </dgm:t>
    </dgm:pt>
    <dgm:pt modelId="{2355D623-DB85-4133-AF79-F328D1062C2A}" type="sibTrans" cxnId="{A49B555A-47BB-4FA5-BADF-09845469654E}">
      <dgm:prSet/>
      <dgm:spPr/>
      <dgm:t>
        <a:bodyPr/>
        <a:lstStyle/>
        <a:p>
          <a:endParaRPr lang="en-US"/>
        </a:p>
      </dgm:t>
    </dgm:pt>
    <dgm:pt modelId="{5C7A8346-EAAF-4117-AAEA-261023A71468}">
      <dgm:prSet/>
      <dgm:spPr/>
      <dgm:t>
        <a:bodyPr/>
        <a:lstStyle/>
        <a:p>
          <a:pPr>
            <a:lnSpc>
              <a:spcPct val="100000"/>
            </a:lnSpc>
          </a:pPr>
          <a:r>
            <a:rPr lang="en-US" b="1" dirty="0"/>
            <a:t>Territorial Land.</a:t>
          </a:r>
        </a:p>
      </dgm:t>
    </dgm:pt>
    <dgm:pt modelId="{F6DF398E-D7DA-41D4-BBFB-6638C738F848}" type="parTrans" cxnId="{3C25C4C2-BC58-4721-98F3-452CE303F4C3}">
      <dgm:prSet/>
      <dgm:spPr/>
      <dgm:t>
        <a:bodyPr/>
        <a:lstStyle/>
        <a:p>
          <a:endParaRPr lang="en-US"/>
        </a:p>
      </dgm:t>
    </dgm:pt>
    <dgm:pt modelId="{0FF8AF81-5610-4E89-9257-8E9BA42418C4}" type="sibTrans" cxnId="{3C25C4C2-BC58-4721-98F3-452CE303F4C3}">
      <dgm:prSet/>
      <dgm:spPr/>
      <dgm:t>
        <a:bodyPr/>
        <a:lstStyle/>
        <a:p>
          <a:endParaRPr lang="en-US"/>
        </a:p>
      </dgm:t>
    </dgm:pt>
    <dgm:pt modelId="{839A30A8-72F5-4B31-A8CA-CC0ACDBF3938}">
      <dgm:prSet/>
      <dgm:spPr/>
      <dgm:t>
        <a:bodyPr/>
        <a:lstStyle/>
        <a:p>
          <a:pPr>
            <a:lnSpc>
              <a:spcPct val="100000"/>
            </a:lnSpc>
          </a:pPr>
          <a:r>
            <a:rPr lang="en-US" b="1" dirty="0"/>
            <a:t>Democratic System. </a:t>
          </a:r>
        </a:p>
      </dgm:t>
    </dgm:pt>
    <dgm:pt modelId="{3FCEB5BD-B879-4CA4-82C6-A2B3DC8209BE}" type="parTrans" cxnId="{6C0C54B9-8CA9-472D-BB2F-0DD6C31F37E2}">
      <dgm:prSet/>
      <dgm:spPr/>
      <dgm:t>
        <a:bodyPr/>
        <a:lstStyle/>
        <a:p>
          <a:endParaRPr lang="en-US"/>
        </a:p>
      </dgm:t>
    </dgm:pt>
    <dgm:pt modelId="{4B032A8C-9422-4DA2-9B25-AC90DF23F342}" type="sibTrans" cxnId="{6C0C54B9-8CA9-472D-BB2F-0DD6C31F37E2}">
      <dgm:prSet/>
      <dgm:spPr/>
      <dgm:t>
        <a:bodyPr/>
        <a:lstStyle/>
        <a:p>
          <a:endParaRPr lang="en-US"/>
        </a:p>
      </dgm:t>
    </dgm:pt>
    <dgm:pt modelId="{10C98457-F33A-46F1-B286-FE192E1B48E6}">
      <dgm:prSet/>
      <dgm:spPr/>
      <dgm:t>
        <a:bodyPr/>
        <a:lstStyle/>
        <a:p>
          <a:pPr>
            <a:lnSpc>
              <a:spcPct val="100000"/>
            </a:lnSpc>
          </a:pPr>
          <a:r>
            <a:rPr lang="en-US" b="1" dirty="0"/>
            <a:t>Social Justice, Equality,  Responsibility.</a:t>
          </a:r>
        </a:p>
      </dgm:t>
    </dgm:pt>
    <dgm:pt modelId="{59E55C5D-4A9F-4D60-93B9-97E951BF9026}" type="parTrans" cxnId="{CDCC4FBF-1A83-440A-B5F9-271DC8BC82F2}">
      <dgm:prSet/>
      <dgm:spPr/>
      <dgm:t>
        <a:bodyPr/>
        <a:lstStyle/>
        <a:p>
          <a:endParaRPr lang="en-US"/>
        </a:p>
      </dgm:t>
    </dgm:pt>
    <dgm:pt modelId="{1E4EFB8A-BBBD-4F4C-9142-50D0A4F5818A}" type="sibTrans" cxnId="{CDCC4FBF-1A83-440A-B5F9-271DC8BC82F2}">
      <dgm:prSet/>
      <dgm:spPr/>
      <dgm:t>
        <a:bodyPr/>
        <a:lstStyle/>
        <a:p>
          <a:endParaRPr lang="en-US"/>
        </a:p>
      </dgm:t>
    </dgm:pt>
    <dgm:pt modelId="{8983E9B8-0A54-4236-AF2D-5097D96AD4FE}" type="pres">
      <dgm:prSet presAssocID="{A2BDCE32-0190-416D-8E27-00517B399072}" presName="root" presStyleCnt="0">
        <dgm:presLayoutVars>
          <dgm:dir/>
          <dgm:resizeHandles val="exact"/>
        </dgm:presLayoutVars>
      </dgm:prSet>
      <dgm:spPr/>
    </dgm:pt>
    <dgm:pt modelId="{493BF074-F968-4BBD-99E8-82EFD5CDFEAF}" type="pres">
      <dgm:prSet presAssocID="{F84E13A0-3A49-4910-BBB3-BC5B9999A9A9}" presName="compNode" presStyleCnt="0"/>
      <dgm:spPr/>
    </dgm:pt>
    <dgm:pt modelId="{F586B7B1-0393-46AF-B1EC-FFB9460F00DB}" type="pres">
      <dgm:prSet presAssocID="{F84E13A0-3A49-4910-BBB3-BC5B9999A9A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ayer Candle"/>
        </a:ext>
      </dgm:extLst>
    </dgm:pt>
    <dgm:pt modelId="{ED0DBF80-E1D5-4071-8388-0FE7C1C2F454}" type="pres">
      <dgm:prSet presAssocID="{F84E13A0-3A49-4910-BBB3-BC5B9999A9A9}" presName="spaceRect" presStyleCnt="0"/>
      <dgm:spPr/>
    </dgm:pt>
    <dgm:pt modelId="{DE8FB432-EC46-496C-9B95-492AA5944A8F}" type="pres">
      <dgm:prSet presAssocID="{F84E13A0-3A49-4910-BBB3-BC5B9999A9A9}" presName="textRect" presStyleLbl="revTx" presStyleIdx="0" presStyleCnt="4">
        <dgm:presLayoutVars>
          <dgm:chMax val="1"/>
          <dgm:chPref val="1"/>
        </dgm:presLayoutVars>
      </dgm:prSet>
      <dgm:spPr/>
    </dgm:pt>
    <dgm:pt modelId="{735A699C-E9ED-468D-96A4-12DE19D0B601}" type="pres">
      <dgm:prSet presAssocID="{2355D623-DB85-4133-AF79-F328D1062C2A}" presName="sibTrans" presStyleCnt="0"/>
      <dgm:spPr/>
    </dgm:pt>
    <dgm:pt modelId="{1F059DC8-1462-4CF5-BF3D-811E742208A9}" type="pres">
      <dgm:prSet presAssocID="{5C7A8346-EAAF-4117-AAEA-261023A71468}" presName="compNode" presStyleCnt="0"/>
      <dgm:spPr/>
    </dgm:pt>
    <dgm:pt modelId="{C1B8133D-1E9C-4169-AAB4-D4996AB17304}" type="pres">
      <dgm:prSet presAssocID="{5C7A8346-EAAF-4117-AAEA-261023A7146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arm scene"/>
        </a:ext>
      </dgm:extLst>
    </dgm:pt>
    <dgm:pt modelId="{9331E5D7-A380-40C0-854B-7C26DEFE2A94}" type="pres">
      <dgm:prSet presAssocID="{5C7A8346-EAAF-4117-AAEA-261023A71468}" presName="spaceRect" presStyleCnt="0"/>
      <dgm:spPr/>
    </dgm:pt>
    <dgm:pt modelId="{C0D3B007-58FC-40E3-8F9E-6C74A4A431B8}" type="pres">
      <dgm:prSet presAssocID="{5C7A8346-EAAF-4117-AAEA-261023A71468}" presName="textRect" presStyleLbl="revTx" presStyleIdx="1" presStyleCnt="4">
        <dgm:presLayoutVars>
          <dgm:chMax val="1"/>
          <dgm:chPref val="1"/>
        </dgm:presLayoutVars>
      </dgm:prSet>
      <dgm:spPr/>
    </dgm:pt>
    <dgm:pt modelId="{00C47DE9-E709-41C2-88DC-77AD49DC3C07}" type="pres">
      <dgm:prSet presAssocID="{0FF8AF81-5610-4E89-9257-8E9BA42418C4}" presName="sibTrans" presStyleCnt="0"/>
      <dgm:spPr/>
    </dgm:pt>
    <dgm:pt modelId="{BD751D28-DF94-4301-803A-EB33460796FD}" type="pres">
      <dgm:prSet presAssocID="{839A30A8-72F5-4B31-A8CA-CC0ACDBF3938}" presName="compNode" presStyleCnt="0"/>
      <dgm:spPr/>
    </dgm:pt>
    <dgm:pt modelId="{585CD247-A3B2-408B-98E9-22E2CCAAD6D2}" type="pres">
      <dgm:prSet presAssocID="{839A30A8-72F5-4B31-A8CA-CC0ACDBF393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urt"/>
        </a:ext>
      </dgm:extLst>
    </dgm:pt>
    <dgm:pt modelId="{F9104874-878C-45D1-BAFA-C60DC2C3BE1C}" type="pres">
      <dgm:prSet presAssocID="{839A30A8-72F5-4B31-A8CA-CC0ACDBF3938}" presName="spaceRect" presStyleCnt="0"/>
      <dgm:spPr/>
    </dgm:pt>
    <dgm:pt modelId="{456E4A8B-A900-4072-97AD-8660C315FC45}" type="pres">
      <dgm:prSet presAssocID="{839A30A8-72F5-4B31-A8CA-CC0ACDBF3938}" presName="textRect" presStyleLbl="revTx" presStyleIdx="2" presStyleCnt="4">
        <dgm:presLayoutVars>
          <dgm:chMax val="1"/>
          <dgm:chPref val="1"/>
        </dgm:presLayoutVars>
      </dgm:prSet>
      <dgm:spPr/>
    </dgm:pt>
    <dgm:pt modelId="{6B911674-E8F0-4122-816D-637DC8C2875E}" type="pres">
      <dgm:prSet presAssocID="{4B032A8C-9422-4DA2-9B25-AC90DF23F342}" presName="sibTrans" presStyleCnt="0"/>
      <dgm:spPr/>
    </dgm:pt>
    <dgm:pt modelId="{18662911-56EF-4E25-8967-F50C496559B5}" type="pres">
      <dgm:prSet presAssocID="{10C98457-F33A-46F1-B286-FE192E1B48E6}" presName="compNode" presStyleCnt="0"/>
      <dgm:spPr/>
    </dgm:pt>
    <dgm:pt modelId="{FAA768A7-50FF-49EE-B721-EB9190243755}" type="pres">
      <dgm:prSet presAssocID="{10C98457-F33A-46F1-B286-FE192E1B48E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B9351D6A-27B2-4CD3-B56C-994A35BC4BA3}" type="pres">
      <dgm:prSet presAssocID="{10C98457-F33A-46F1-B286-FE192E1B48E6}" presName="spaceRect" presStyleCnt="0"/>
      <dgm:spPr/>
    </dgm:pt>
    <dgm:pt modelId="{EC21FA30-67E6-403F-93A7-E4568D8A5413}" type="pres">
      <dgm:prSet presAssocID="{10C98457-F33A-46F1-B286-FE192E1B48E6}" presName="textRect" presStyleLbl="revTx" presStyleIdx="3" presStyleCnt="4">
        <dgm:presLayoutVars>
          <dgm:chMax val="1"/>
          <dgm:chPref val="1"/>
        </dgm:presLayoutVars>
      </dgm:prSet>
      <dgm:spPr/>
    </dgm:pt>
  </dgm:ptLst>
  <dgm:cxnLst>
    <dgm:cxn modelId="{4975FA0C-6280-4ED8-AF77-3DC6E064E05D}" type="presOf" srcId="{10C98457-F33A-46F1-B286-FE192E1B48E6}" destId="{EC21FA30-67E6-403F-93A7-E4568D8A5413}" srcOrd="0" destOrd="0" presId="urn:microsoft.com/office/officeart/2018/2/layout/IconLabelList"/>
    <dgm:cxn modelId="{AECB694F-3F7F-4B2D-8A2C-451CDB26C241}" type="presOf" srcId="{A2BDCE32-0190-416D-8E27-00517B399072}" destId="{8983E9B8-0A54-4236-AF2D-5097D96AD4FE}" srcOrd="0" destOrd="0" presId="urn:microsoft.com/office/officeart/2018/2/layout/IconLabelList"/>
    <dgm:cxn modelId="{0FB9BA71-C459-4378-ADD3-2AFCEB67A9DB}" type="presOf" srcId="{F84E13A0-3A49-4910-BBB3-BC5B9999A9A9}" destId="{DE8FB432-EC46-496C-9B95-492AA5944A8F}" srcOrd="0" destOrd="0" presId="urn:microsoft.com/office/officeart/2018/2/layout/IconLabelList"/>
    <dgm:cxn modelId="{A49B555A-47BB-4FA5-BADF-09845469654E}" srcId="{A2BDCE32-0190-416D-8E27-00517B399072}" destId="{F84E13A0-3A49-4910-BBB3-BC5B9999A9A9}" srcOrd="0" destOrd="0" parTransId="{A7F9529B-6A36-4690-B638-A337444D7CE4}" sibTransId="{2355D623-DB85-4133-AF79-F328D1062C2A}"/>
    <dgm:cxn modelId="{69482B8F-A4C1-47D7-A707-26B57AD6E3C5}" type="presOf" srcId="{5C7A8346-EAAF-4117-AAEA-261023A71468}" destId="{C0D3B007-58FC-40E3-8F9E-6C74A4A431B8}" srcOrd="0" destOrd="0" presId="urn:microsoft.com/office/officeart/2018/2/layout/IconLabelList"/>
    <dgm:cxn modelId="{6C0C54B9-8CA9-472D-BB2F-0DD6C31F37E2}" srcId="{A2BDCE32-0190-416D-8E27-00517B399072}" destId="{839A30A8-72F5-4B31-A8CA-CC0ACDBF3938}" srcOrd="2" destOrd="0" parTransId="{3FCEB5BD-B879-4CA4-82C6-A2B3DC8209BE}" sibTransId="{4B032A8C-9422-4DA2-9B25-AC90DF23F342}"/>
    <dgm:cxn modelId="{CDCC4FBF-1A83-440A-B5F9-271DC8BC82F2}" srcId="{A2BDCE32-0190-416D-8E27-00517B399072}" destId="{10C98457-F33A-46F1-B286-FE192E1B48E6}" srcOrd="3" destOrd="0" parTransId="{59E55C5D-4A9F-4D60-93B9-97E951BF9026}" sibTransId="{1E4EFB8A-BBBD-4F4C-9142-50D0A4F5818A}"/>
    <dgm:cxn modelId="{3C25C4C2-BC58-4721-98F3-452CE303F4C3}" srcId="{A2BDCE32-0190-416D-8E27-00517B399072}" destId="{5C7A8346-EAAF-4117-AAEA-261023A71468}" srcOrd="1" destOrd="0" parTransId="{F6DF398E-D7DA-41D4-BBFB-6638C738F848}" sibTransId="{0FF8AF81-5610-4E89-9257-8E9BA42418C4}"/>
    <dgm:cxn modelId="{0C676EF3-AC5E-44B8-950D-270C0A003754}" type="presOf" srcId="{839A30A8-72F5-4B31-A8CA-CC0ACDBF3938}" destId="{456E4A8B-A900-4072-97AD-8660C315FC45}" srcOrd="0" destOrd="0" presId="urn:microsoft.com/office/officeart/2018/2/layout/IconLabelList"/>
    <dgm:cxn modelId="{407E7C86-B2C4-4383-AF24-59215FBFD628}" type="presParOf" srcId="{8983E9B8-0A54-4236-AF2D-5097D96AD4FE}" destId="{493BF074-F968-4BBD-99E8-82EFD5CDFEAF}" srcOrd="0" destOrd="0" presId="urn:microsoft.com/office/officeart/2018/2/layout/IconLabelList"/>
    <dgm:cxn modelId="{C3218C58-7134-48B5-9675-510BA4108DE4}" type="presParOf" srcId="{493BF074-F968-4BBD-99E8-82EFD5CDFEAF}" destId="{F586B7B1-0393-46AF-B1EC-FFB9460F00DB}" srcOrd="0" destOrd="0" presId="urn:microsoft.com/office/officeart/2018/2/layout/IconLabelList"/>
    <dgm:cxn modelId="{A208DE17-2ED0-4E6B-BD04-627B7CBFF1A6}" type="presParOf" srcId="{493BF074-F968-4BBD-99E8-82EFD5CDFEAF}" destId="{ED0DBF80-E1D5-4071-8388-0FE7C1C2F454}" srcOrd="1" destOrd="0" presId="urn:microsoft.com/office/officeart/2018/2/layout/IconLabelList"/>
    <dgm:cxn modelId="{3DF2E44F-C346-413F-806D-4B99B7626E35}" type="presParOf" srcId="{493BF074-F968-4BBD-99E8-82EFD5CDFEAF}" destId="{DE8FB432-EC46-496C-9B95-492AA5944A8F}" srcOrd="2" destOrd="0" presId="urn:microsoft.com/office/officeart/2018/2/layout/IconLabelList"/>
    <dgm:cxn modelId="{FEFC7B86-BEFA-455D-9B2E-5414A9D34D34}" type="presParOf" srcId="{8983E9B8-0A54-4236-AF2D-5097D96AD4FE}" destId="{735A699C-E9ED-468D-96A4-12DE19D0B601}" srcOrd="1" destOrd="0" presId="urn:microsoft.com/office/officeart/2018/2/layout/IconLabelList"/>
    <dgm:cxn modelId="{E6157AE4-999C-4DD3-BFB8-C6A2456D9652}" type="presParOf" srcId="{8983E9B8-0A54-4236-AF2D-5097D96AD4FE}" destId="{1F059DC8-1462-4CF5-BF3D-811E742208A9}" srcOrd="2" destOrd="0" presId="urn:microsoft.com/office/officeart/2018/2/layout/IconLabelList"/>
    <dgm:cxn modelId="{531753F5-2537-4F20-A186-89DA3E587F99}" type="presParOf" srcId="{1F059DC8-1462-4CF5-BF3D-811E742208A9}" destId="{C1B8133D-1E9C-4169-AAB4-D4996AB17304}" srcOrd="0" destOrd="0" presId="urn:microsoft.com/office/officeart/2018/2/layout/IconLabelList"/>
    <dgm:cxn modelId="{BF471621-4669-431C-B9AF-BD6E1A2A67C3}" type="presParOf" srcId="{1F059DC8-1462-4CF5-BF3D-811E742208A9}" destId="{9331E5D7-A380-40C0-854B-7C26DEFE2A94}" srcOrd="1" destOrd="0" presId="urn:microsoft.com/office/officeart/2018/2/layout/IconLabelList"/>
    <dgm:cxn modelId="{00620864-7302-4F1F-966F-6AF8E8A1F7B5}" type="presParOf" srcId="{1F059DC8-1462-4CF5-BF3D-811E742208A9}" destId="{C0D3B007-58FC-40E3-8F9E-6C74A4A431B8}" srcOrd="2" destOrd="0" presId="urn:microsoft.com/office/officeart/2018/2/layout/IconLabelList"/>
    <dgm:cxn modelId="{9FB57253-61BC-4F1C-B85D-1AF781ED3537}" type="presParOf" srcId="{8983E9B8-0A54-4236-AF2D-5097D96AD4FE}" destId="{00C47DE9-E709-41C2-88DC-77AD49DC3C07}" srcOrd="3" destOrd="0" presId="urn:microsoft.com/office/officeart/2018/2/layout/IconLabelList"/>
    <dgm:cxn modelId="{02345872-A142-4D34-AB44-2D0E612564A7}" type="presParOf" srcId="{8983E9B8-0A54-4236-AF2D-5097D96AD4FE}" destId="{BD751D28-DF94-4301-803A-EB33460796FD}" srcOrd="4" destOrd="0" presId="urn:microsoft.com/office/officeart/2018/2/layout/IconLabelList"/>
    <dgm:cxn modelId="{87C5EC4C-2DED-4E46-AD0F-E3D1E1342DD6}" type="presParOf" srcId="{BD751D28-DF94-4301-803A-EB33460796FD}" destId="{585CD247-A3B2-408B-98E9-22E2CCAAD6D2}" srcOrd="0" destOrd="0" presId="urn:microsoft.com/office/officeart/2018/2/layout/IconLabelList"/>
    <dgm:cxn modelId="{965BEDAF-2B85-41B9-A0ED-59B80063DE59}" type="presParOf" srcId="{BD751D28-DF94-4301-803A-EB33460796FD}" destId="{F9104874-878C-45D1-BAFA-C60DC2C3BE1C}" srcOrd="1" destOrd="0" presId="urn:microsoft.com/office/officeart/2018/2/layout/IconLabelList"/>
    <dgm:cxn modelId="{53454203-1B4D-493C-9A8C-E7F05DC9EDAE}" type="presParOf" srcId="{BD751D28-DF94-4301-803A-EB33460796FD}" destId="{456E4A8B-A900-4072-97AD-8660C315FC45}" srcOrd="2" destOrd="0" presId="urn:microsoft.com/office/officeart/2018/2/layout/IconLabelList"/>
    <dgm:cxn modelId="{82D50D54-3455-4190-94AD-FD8B59D55E02}" type="presParOf" srcId="{8983E9B8-0A54-4236-AF2D-5097D96AD4FE}" destId="{6B911674-E8F0-4122-816D-637DC8C2875E}" srcOrd="5" destOrd="0" presId="urn:microsoft.com/office/officeart/2018/2/layout/IconLabelList"/>
    <dgm:cxn modelId="{1B06BBAD-4DBE-4DC5-AF74-819859D2219F}" type="presParOf" srcId="{8983E9B8-0A54-4236-AF2D-5097D96AD4FE}" destId="{18662911-56EF-4E25-8967-F50C496559B5}" srcOrd="6" destOrd="0" presId="urn:microsoft.com/office/officeart/2018/2/layout/IconLabelList"/>
    <dgm:cxn modelId="{060F273F-1B25-4BA1-8257-32AE43D95823}" type="presParOf" srcId="{18662911-56EF-4E25-8967-F50C496559B5}" destId="{FAA768A7-50FF-49EE-B721-EB9190243755}" srcOrd="0" destOrd="0" presId="urn:microsoft.com/office/officeart/2018/2/layout/IconLabelList"/>
    <dgm:cxn modelId="{2512380B-5511-44E7-A4DC-479C7DF6B47D}" type="presParOf" srcId="{18662911-56EF-4E25-8967-F50C496559B5}" destId="{B9351D6A-27B2-4CD3-B56C-994A35BC4BA3}" srcOrd="1" destOrd="0" presId="urn:microsoft.com/office/officeart/2018/2/layout/IconLabelList"/>
    <dgm:cxn modelId="{50C6ACBE-60ED-4192-A968-6CF46064FE2F}" type="presParOf" srcId="{18662911-56EF-4E25-8967-F50C496559B5}" destId="{EC21FA30-67E6-403F-93A7-E4568D8A5413}"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6B7B1-0393-46AF-B1EC-FFB9460F00DB}">
      <dsp:nvSpPr>
        <dsp:cNvPr id="0" name=""/>
        <dsp:cNvSpPr/>
      </dsp:nvSpPr>
      <dsp:spPr>
        <a:xfrm>
          <a:off x="938775" y="840541"/>
          <a:ext cx="926133" cy="9261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8FB432-EC46-496C-9B95-492AA5944A8F}">
      <dsp:nvSpPr>
        <dsp:cNvPr id="0" name=""/>
        <dsp:cNvSpPr/>
      </dsp:nvSpPr>
      <dsp:spPr>
        <a:xfrm>
          <a:off x="372805"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Islam: A nation-building force</a:t>
          </a:r>
        </a:p>
      </dsp:txBody>
      <dsp:txXfrm>
        <a:off x="372805" y="2057303"/>
        <a:ext cx="2058075" cy="720000"/>
      </dsp:txXfrm>
    </dsp:sp>
    <dsp:sp modelId="{C1B8133D-1E9C-4169-AAB4-D4996AB17304}">
      <dsp:nvSpPr>
        <dsp:cNvPr id="0" name=""/>
        <dsp:cNvSpPr/>
      </dsp:nvSpPr>
      <dsp:spPr>
        <a:xfrm>
          <a:off x="3357014" y="840541"/>
          <a:ext cx="926133" cy="9261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D3B007-58FC-40E3-8F9E-6C74A4A431B8}">
      <dsp:nvSpPr>
        <dsp:cNvPr id="0" name=""/>
        <dsp:cNvSpPr/>
      </dsp:nvSpPr>
      <dsp:spPr>
        <a:xfrm>
          <a:off x="2791043"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Territorial Land.</a:t>
          </a:r>
        </a:p>
      </dsp:txBody>
      <dsp:txXfrm>
        <a:off x="2791043" y="2057303"/>
        <a:ext cx="2058075" cy="720000"/>
      </dsp:txXfrm>
    </dsp:sp>
    <dsp:sp modelId="{585CD247-A3B2-408B-98E9-22E2CCAAD6D2}">
      <dsp:nvSpPr>
        <dsp:cNvPr id="0" name=""/>
        <dsp:cNvSpPr/>
      </dsp:nvSpPr>
      <dsp:spPr>
        <a:xfrm>
          <a:off x="5775252" y="840541"/>
          <a:ext cx="926133" cy="9261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6E4A8B-A900-4072-97AD-8660C315FC45}">
      <dsp:nvSpPr>
        <dsp:cNvPr id="0" name=""/>
        <dsp:cNvSpPr/>
      </dsp:nvSpPr>
      <dsp:spPr>
        <a:xfrm>
          <a:off x="5209281"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Democratic System. </a:t>
          </a:r>
        </a:p>
      </dsp:txBody>
      <dsp:txXfrm>
        <a:off x="5209281" y="2057303"/>
        <a:ext cx="2058075" cy="720000"/>
      </dsp:txXfrm>
    </dsp:sp>
    <dsp:sp modelId="{FAA768A7-50FF-49EE-B721-EB9190243755}">
      <dsp:nvSpPr>
        <dsp:cNvPr id="0" name=""/>
        <dsp:cNvSpPr/>
      </dsp:nvSpPr>
      <dsp:spPr>
        <a:xfrm>
          <a:off x="8193490" y="840541"/>
          <a:ext cx="926133" cy="9261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21FA30-67E6-403F-93A7-E4568D8A5413}">
      <dsp:nvSpPr>
        <dsp:cNvPr id="0" name=""/>
        <dsp:cNvSpPr/>
      </dsp:nvSpPr>
      <dsp:spPr>
        <a:xfrm>
          <a:off x="7627519"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Social Justice, Equality,  Responsibility.</a:t>
          </a:r>
        </a:p>
      </dsp:txBody>
      <dsp:txXfrm>
        <a:off x="7627519" y="2057303"/>
        <a:ext cx="2058075"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9F1060-01D7-4C74-92D7-BC5F5679842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DCDE92E-F11E-48CE-8B17-63D3464E539D}" type="slidenum">
              <a:rPr lang="en-US" smtClean="0"/>
              <a:t>‹#›</a:t>
            </a:fld>
            <a:endParaRPr lang="en-US"/>
          </a:p>
        </p:txBody>
      </p:sp>
    </p:spTree>
    <p:extLst>
      <p:ext uri="{BB962C8B-B14F-4D97-AF65-F5344CB8AC3E}">
        <p14:creationId xmlns:p14="http://schemas.microsoft.com/office/powerpoint/2010/main" val="2937514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9F1060-01D7-4C74-92D7-BC5F5679842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854205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559F1060-01D7-4C74-92D7-BC5F56798423}" type="datetimeFigureOut">
              <a:rPr lang="en-US" smtClean="0"/>
              <a:t>8/20/2025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DCDE92E-F11E-48CE-8B17-63D3464E539D}" type="slidenum">
              <a:rPr lang="en-US" smtClean="0"/>
              <a:t>‹#›</a:t>
            </a:fld>
            <a:endParaRPr lang="en-US"/>
          </a:p>
        </p:txBody>
      </p:sp>
    </p:spTree>
    <p:extLst>
      <p:ext uri="{BB962C8B-B14F-4D97-AF65-F5344CB8AC3E}">
        <p14:creationId xmlns:p14="http://schemas.microsoft.com/office/powerpoint/2010/main" val="625545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9F1060-01D7-4C74-92D7-BC5F56798423}" type="datetimeFigureOut">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3393381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9F1060-01D7-4C74-92D7-BC5F56798423}" type="datetimeFigureOut">
              <a:rPr lang="en-US" smtClean="0"/>
              <a:t>8/20/2025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2174687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9F1060-01D7-4C74-92D7-BC5F56798423}" type="datetimeFigureOut">
              <a:rPr lang="en-US" smtClean="0"/>
              <a:t>8/20/2025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1867390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9F1060-01D7-4C74-92D7-BC5F56798423}" type="datetimeFigureOut">
              <a:rPr lang="en-US" smtClean="0"/>
              <a:t>8/20/2025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1273138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59F1060-01D7-4C74-92D7-BC5F56798423}" type="datetimeFigureOut">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107034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59F1060-01D7-4C74-92D7-BC5F56798423}" type="datetimeFigureOut">
              <a:rPr lang="en-US" smtClean="0"/>
              <a:t>8/20/2025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812166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9F1060-01D7-4C74-92D7-BC5F5679842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3079309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9F1060-01D7-4C74-92D7-BC5F5679842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DE92E-F11E-48CE-8B17-63D3464E539D}" type="slidenum">
              <a:rPr lang="en-US" smtClean="0"/>
              <a:t>‹#›</a:t>
            </a:fld>
            <a:endParaRPr lang="en-US"/>
          </a:p>
        </p:txBody>
      </p:sp>
    </p:spTree>
    <p:extLst>
      <p:ext uri="{BB962C8B-B14F-4D97-AF65-F5344CB8AC3E}">
        <p14:creationId xmlns:p14="http://schemas.microsoft.com/office/powerpoint/2010/main" val="3450938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59F1060-01D7-4C74-92D7-BC5F56798423}" type="datetimeFigureOut">
              <a:rPr lang="en-US" smtClean="0"/>
              <a:t>8/20/2025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DCDE92E-F11E-48CE-8B17-63D3464E539D}" type="slidenum">
              <a:rPr lang="en-US" smtClean="0"/>
              <a:t>‹#›</a:t>
            </a:fld>
            <a:endParaRPr lang="en-US"/>
          </a:p>
        </p:txBody>
      </p:sp>
    </p:spTree>
    <p:extLst>
      <p:ext uri="{BB962C8B-B14F-4D97-AF65-F5344CB8AC3E}">
        <p14:creationId xmlns:p14="http://schemas.microsoft.com/office/powerpoint/2010/main" val="3419220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2.wdp"/><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B73E-7543-89E8-9969-AE2607036EB4}"/>
              </a:ext>
            </a:extLst>
          </p:cNvPr>
          <p:cNvSpPr>
            <a:spLocks noGrp="1"/>
          </p:cNvSpPr>
          <p:nvPr>
            <p:ph type="ctrTitle"/>
          </p:nvPr>
        </p:nvSpPr>
        <p:spPr>
          <a:xfrm>
            <a:off x="838199" y="1578076"/>
            <a:ext cx="10506455" cy="2482919"/>
          </a:xfrm>
        </p:spPr>
        <p:txBody>
          <a:bodyPr>
            <a:noAutofit/>
          </a:bodyPr>
          <a:lstStyle/>
          <a:p>
            <a:pPr algn="ctr"/>
            <a:r>
              <a:rPr lang="en-US" sz="6000" b="1" dirty="0"/>
              <a:t>Ideology of Pakistan in the Light of M. A. Jinnah &amp; A. M. Iqbal </a:t>
            </a:r>
          </a:p>
        </p:txBody>
      </p:sp>
      <p:sp>
        <p:nvSpPr>
          <p:cNvPr id="3" name="Subtitle 2">
            <a:extLst>
              <a:ext uri="{FF2B5EF4-FFF2-40B4-BE49-F238E27FC236}">
                <a16:creationId xmlns:a16="http://schemas.microsoft.com/office/drawing/2014/main" id="{0BA4FE9E-5632-2439-739E-00A004D4059B}"/>
              </a:ext>
            </a:extLst>
          </p:cNvPr>
          <p:cNvSpPr>
            <a:spLocks noGrp="1"/>
          </p:cNvSpPr>
          <p:nvPr>
            <p:ph type="subTitle" idx="1"/>
          </p:nvPr>
        </p:nvSpPr>
        <p:spPr>
          <a:xfrm>
            <a:off x="838199" y="4715972"/>
            <a:ext cx="3946779" cy="879372"/>
          </a:xfrm>
        </p:spPr>
        <p:txBody>
          <a:bodyPr>
            <a:normAutofit fontScale="92500"/>
          </a:bodyPr>
          <a:lstStyle/>
          <a:p>
            <a:r>
              <a:rPr lang="en-US" sz="3600" b="1" dirty="0"/>
              <a:t>Habib Ali Katohar</a:t>
            </a:r>
          </a:p>
        </p:txBody>
      </p:sp>
      <p:pic>
        <p:nvPicPr>
          <p:cNvPr id="5" name="Picture 4" descr="A logo with text on it&#10;&#10;AI-generated content may be incorrect.">
            <a:extLst>
              <a:ext uri="{FF2B5EF4-FFF2-40B4-BE49-F238E27FC236}">
                <a16:creationId xmlns:a16="http://schemas.microsoft.com/office/drawing/2014/main" id="{30CAD61C-2354-05D0-2976-016AEF494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216" y="0"/>
            <a:ext cx="4310743" cy="1491343"/>
          </a:xfrm>
          <a:prstGeom prst="rect">
            <a:avLst/>
          </a:prstGeom>
        </p:spPr>
      </p:pic>
    </p:spTree>
    <p:extLst>
      <p:ext uri="{BB962C8B-B14F-4D97-AF65-F5344CB8AC3E}">
        <p14:creationId xmlns:p14="http://schemas.microsoft.com/office/powerpoint/2010/main" val="1047909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1F0DE13-6E73-60AA-7D4E-3972094BAD2A}"/>
              </a:ext>
            </a:extLst>
          </p:cNvPr>
          <p:cNvSpPr>
            <a:spLocks noGrp="1"/>
          </p:cNvSpPr>
          <p:nvPr>
            <p:ph type="title"/>
          </p:nvPr>
        </p:nvSpPr>
        <p:spPr>
          <a:xfrm>
            <a:off x="1069848" y="484632"/>
            <a:ext cx="10058400" cy="1609344"/>
          </a:xfrm>
        </p:spPr>
        <p:txBody>
          <a:bodyPr>
            <a:normAutofit/>
          </a:bodyPr>
          <a:lstStyle/>
          <a:p>
            <a:r>
              <a:rPr lang="en-US" b="1" dirty="0"/>
              <a:t>Definition of Ideology</a:t>
            </a:r>
            <a:br>
              <a:rPr lang="en-US" b="1" dirty="0"/>
            </a:br>
            <a:endParaRPr lang="en-US" b="1" dirty="0"/>
          </a:p>
        </p:txBody>
      </p:sp>
      <p:sp>
        <p:nvSpPr>
          <p:cNvPr id="3" name="Content Placeholder 2">
            <a:extLst>
              <a:ext uri="{FF2B5EF4-FFF2-40B4-BE49-F238E27FC236}">
                <a16:creationId xmlns:a16="http://schemas.microsoft.com/office/drawing/2014/main" id="{F498E816-12F7-9DF2-998A-DDB5AC65F52D}"/>
              </a:ext>
            </a:extLst>
          </p:cNvPr>
          <p:cNvSpPr>
            <a:spLocks noGrp="1"/>
          </p:cNvSpPr>
          <p:nvPr>
            <p:ph idx="1"/>
          </p:nvPr>
        </p:nvSpPr>
        <p:spPr>
          <a:xfrm>
            <a:off x="1069848" y="2320412"/>
            <a:ext cx="10058400" cy="3851787"/>
          </a:xfrm>
        </p:spPr>
        <p:txBody>
          <a:bodyPr>
            <a:normAutofit/>
          </a:bodyPr>
          <a:lstStyle/>
          <a:p>
            <a:pPr>
              <a:buFont typeface="Candara" panose="020E0502030303020204" pitchFamily="34" charset="0"/>
              <a:buChar char="*"/>
            </a:pPr>
            <a:r>
              <a:rPr lang="en-US" dirty="0"/>
              <a:t>A system of </a:t>
            </a:r>
            <a:r>
              <a:rPr lang="en-US" b="1" dirty="0"/>
              <a:t>ideas, beliefs, values, and ideals</a:t>
            </a:r>
            <a:r>
              <a:rPr lang="en-US" dirty="0"/>
              <a:t> that shapes and governs the political, economic, social, and cultural perspectives of individuals or groups. </a:t>
            </a:r>
          </a:p>
          <a:p>
            <a:pPr>
              <a:buFont typeface="Candara" panose="020E0502030303020204" pitchFamily="34" charset="0"/>
              <a:buChar char="*"/>
            </a:pPr>
            <a:r>
              <a:rPr lang="en-US" dirty="0"/>
              <a:t>The science of ideas; the study of their origin and nature.</a:t>
            </a:r>
          </a:p>
          <a:p>
            <a:pPr>
              <a:buFont typeface="Candara" panose="020E0502030303020204" pitchFamily="34" charset="0"/>
              <a:buChar char="*"/>
            </a:pPr>
            <a:r>
              <a:rPr lang="en-US" b="1" dirty="0"/>
              <a:t>Karl Marx and Friedrich Engels </a:t>
            </a:r>
            <a:r>
              <a:rPr lang="en-US" dirty="0"/>
              <a:t>In </a:t>
            </a:r>
            <a:r>
              <a:rPr lang="en-US" i="1" dirty="0"/>
              <a:t>The German Ideology</a:t>
            </a:r>
            <a:r>
              <a:rPr lang="en-US" dirty="0"/>
              <a:t> (1846): </a:t>
            </a:r>
          </a:p>
          <a:p>
            <a:pPr lvl="1">
              <a:buFont typeface="Candara" panose="020E0502030303020204" pitchFamily="34" charset="0"/>
              <a:buChar char="*"/>
            </a:pPr>
            <a:r>
              <a:rPr lang="en-US" dirty="0"/>
              <a:t>Both define ideology as "the ruling ideas of any age being the ideas of the ruling class." They view ideology as a tool used by dominant groups to maintain their power and control over society.</a:t>
            </a:r>
          </a:p>
          <a:p>
            <a:pPr>
              <a:buFont typeface="Candara" panose="020E0502030303020204" pitchFamily="34" charset="0"/>
              <a:buChar char="*"/>
            </a:pPr>
            <a:r>
              <a:rPr lang="en-US" b="1" dirty="0"/>
              <a:t>Antonio Gramsci:</a:t>
            </a:r>
            <a:r>
              <a:rPr lang="en-US" dirty="0"/>
              <a:t> In </a:t>
            </a:r>
            <a:r>
              <a:rPr lang="en-US" i="1" dirty="0"/>
              <a:t>Prison Notebooks</a:t>
            </a:r>
            <a:r>
              <a:rPr lang="en-US" dirty="0"/>
              <a:t> (1929-1935): </a:t>
            </a:r>
          </a:p>
          <a:p>
            <a:pPr lvl="1">
              <a:buFont typeface="Candara" panose="020E0502030303020204" pitchFamily="34" charset="0"/>
              <a:buChar char="*"/>
            </a:pPr>
            <a:r>
              <a:rPr lang="en-US" dirty="0"/>
              <a:t>Ideology is a set of beliefs that maintain cultural hegemony. He sees ideology as a means by which dominant groups secure consent and normalize their worldview.</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56621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E95101-4F3A-7103-AB97-0A03357213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9B19678-450C-7B4F-0269-E8F50F4E3223}"/>
              </a:ext>
            </a:extLst>
          </p:cNvPr>
          <p:cNvSpPr>
            <a:spLocks noGrp="1"/>
          </p:cNvSpPr>
          <p:nvPr>
            <p:ph type="title"/>
          </p:nvPr>
        </p:nvSpPr>
        <p:spPr>
          <a:xfrm>
            <a:off x="1069848" y="484632"/>
            <a:ext cx="10058400" cy="1609344"/>
          </a:xfrm>
        </p:spPr>
        <p:txBody>
          <a:bodyPr>
            <a:normAutofit/>
          </a:bodyPr>
          <a:lstStyle/>
          <a:p>
            <a:r>
              <a:rPr lang="en-US" b="1" dirty="0">
                <a:latin typeface="+mn-lt"/>
              </a:rPr>
              <a:t>Ideology of Pakistan</a:t>
            </a:r>
          </a:p>
        </p:txBody>
      </p:sp>
      <p:sp>
        <p:nvSpPr>
          <p:cNvPr id="3" name="Content Placeholder 2">
            <a:extLst>
              <a:ext uri="{FF2B5EF4-FFF2-40B4-BE49-F238E27FC236}">
                <a16:creationId xmlns:a16="http://schemas.microsoft.com/office/drawing/2014/main" id="{96D9427B-38E0-5389-FFDF-69C83CEECBFE}"/>
              </a:ext>
            </a:extLst>
          </p:cNvPr>
          <p:cNvSpPr>
            <a:spLocks noGrp="1"/>
          </p:cNvSpPr>
          <p:nvPr>
            <p:ph idx="1"/>
          </p:nvPr>
        </p:nvSpPr>
        <p:spPr>
          <a:xfrm>
            <a:off x="1069848" y="2320412"/>
            <a:ext cx="10058400" cy="3851787"/>
          </a:xfrm>
        </p:spPr>
        <p:txBody>
          <a:bodyPr>
            <a:normAutofit/>
          </a:bodyPr>
          <a:lstStyle/>
          <a:p>
            <a:pPr>
              <a:buFont typeface="Candara" panose="020E0502030303020204" pitchFamily="34" charset="0"/>
              <a:buChar char="*"/>
            </a:pPr>
            <a:r>
              <a:rPr lang="en-US" dirty="0"/>
              <a:t>Pakistan is an ideological state &amp; the ideology of Pakistan is an ideology of Islam.</a:t>
            </a:r>
          </a:p>
          <a:p>
            <a:pPr>
              <a:buFont typeface="Candara" panose="020E0502030303020204" pitchFamily="34" charset="0"/>
              <a:buChar char="*"/>
            </a:pPr>
            <a:r>
              <a:rPr lang="en-US" dirty="0"/>
              <a:t>Islam acted as a nation-building force in the creation of Pakistan.</a:t>
            </a:r>
          </a:p>
          <a:p>
            <a:pPr>
              <a:buFont typeface="Candara" panose="020E0502030303020204" pitchFamily="34" charset="0"/>
              <a:buChar char="*"/>
            </a:pPr>
            <a:r>
              <a:rPr lang="en-US" dirty="0"/>
              <a:t> The ideology of Pakistan promises that its citizens shall lead their way of life as per the principles of Islam. </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12025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E8BFB-D8A2-E022-8189-6B093A9B569E}"/>
              </a:ext>
            </a:extLst>
          </p:cNvPr>
          <p:cNvSpPr>
            <a:spLocks noGrp="1"/>
          </p:cNvSpPr>
          <p:nvPr>
            <p:ph type="title"/>
          </p:nvPr>
        </p:nvSpPr>
        <p:spPr>
          <a:xfrm>
            <a:off x="1069848" y="484632"/>
            <a:ext cx="10058400" cy="1609344"/>
          </a:xfrm>
        </p:spPr>
        <p:txBody>
          <a:bodyPr>
            <a:normAutofit/>
          </a:bodyPr>
          <a:lstStyle/>
          <a:p>
            <a:r>
              <a:rPr lang="en-US" b="1" dirty="0"/>
              <a:t>Elements of Ideology of Pakistan</a:t>
            </a:r>
          </a:p>
        </p:txBody>
      </p:sp>
      <p:sp>
        <p:nvSpPr>
          <p:cNvPr id="30" name="Rectangle 29">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9B6D05D-7E90-9ABB-A4C6-8DB3871F7F2A}"/>
              </a:ext>
            </a:extLst>
          </p:cNvPr>
          <p:cNvGraphicFramePr>
            <a:graphicFrameLocks noGrp="1"/>
          </p:cNvGraphicFramePr>
          <p:nvPr>
            <p:ph idx="1"/>
            <p:extLst>
              <p:ext uri="{D42A27DB-BD31-4B8C-83A1-F6EECF244321}">
                <p14:modId xmlns:p14="http://schemas.microsoft.com/office/powerpoint/2010/main" val="700034445"/>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7497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DAF950F-78BC-2A10-0359-6EC7E19D65E7}"/>
              </a:ext>
            </a:extLst>
          </p:cNvPr>
          <p:cNvSpPr>
            <a:spLocks noGrp="1"/>
          </p:cNvSpPr>
          <p:nvPr>
            <p:ph type="title"/>
          </p:nvPr>
        </p:nvSpPr>
        <p:spPr>
          <a:xfrm>
            <a:off x="1069848" y="484632"/>
            <a:ext cx="10058400" cy="1609344"/>
          </a:xfrm>
        </p:spPr>
        <p:txBody>
          <a:bodyPr>
            <a:normAutofit/>
          </a:bodyPr>
          <a:lstStyle/>
          <a:p>
            <a:r>
              <a:rPr lang="en-US" b="1" dirty="0"/>
              <a:t>Statement/Speeches of M.A. Jinnah</a:t>
            </a:r>
          </a:p>
        </p:txBody>
      </p:sp>
      <p:sp>
        <p:nvSpPr>
          <p:cNvPr id="3" name="Content Placeholder 2">
            <a:extLst>
              <a:ext uri="{FF2B5EF4-FFF2-40B4-BE49-F238E27FC236}">
                <a16:creationId xmlns:a16="http://schemas.microsoft.com/office/drawing/2014/main" id="{741BBEDE-28B2-6EAD-2C44-49F1CE2B6533}"/>
              </a:ext>
            </a:extLst>
          </p:cNvPr>
          <p:cNvSpPr>
            <a:spLocks noGrp="1"/>
          </p:cNvSpPr>
          <p:nvPr>
            <p:ph idx="1"/>
          </p:nvPr>
        </p:nvSpPr>
        <p:spPr>
          <a:xfrm>
            <a:off x="1069848" y="2320412"/>
            <a:ext cx="10058400" cy="3851787"/>
          </a:xfrm>
        </p:spPr>
        <p:txBody>
          <a:bodyPr>
            <a:normAutofit/>
          </a:bodyPr>
          <a:lstStyle/>
          <a:p>
            <a:r>
              <a:rPr lang="en-US" b="1" dirty="0"/>
              <a:t>Islam: A Nation-Building Force:</a:t>
            </a:r>
          </a:p>
          <a:p>
            <a:pPr lvl="1">
              <a:buFont typeface="Candara" panose="020E0502030303020204" pitchFamily="34" charset="0"/>
              <a:buChar char="*"/>
            </a:pPr>
            <a:r>
              <a:rPr lang="en-US" dirty="0"/>
              <a:t>Quaid-</a:t>
            </a:r>
            <a:r>
              <a:rPr lang="en-US" dirty="0" err="1"/>
              <a:t>i</a:t>
            </a:r>
            <a:r>
              <a:rPr lang="en-US" dirty="0"/>
              <a:t>-Azam Said: </a:t>
            </a:r>
          </a:p>
          <a:p>
            <a:pPr marL="0" indent="0">
              <a:buNone/>
            </a:pPr>
            <a:r>
              <a:rPr lang="en-US" i="1" dirty="0"/>
              <a:t>	“We do not demand Pakistan simply to have a piece of land, but we want a 	laboratory where we could experiment on Islamic principles.” </a:t>
            </a:r>
          </a:p>
          <a:p>
            <a:pPr marL="0" indent="0">
              <a:buNone/>
            </a:pPr>
            <a:endParaRPr lang="en-US" i="1" dirty="0"/>
          </a:p>
          <a:p>
            <a:r>
              <a:rPr lang="en-US" b="1" dirty="0"/>
              <a:t>Territorial Land:</a:t>
            </a:r>
          </a:p>
          <a:p>
            <a:pPr lvl="1">
              <a:buFont typeface="Candara" panose="020E0502030303020204" pitchFamily="34" charset="0"/>
              <a:buChar char="*"/>
            </a:pPr>
            <a:r>
              <a:rPr lang="en-US" dirty="0"/>
              <a:t>While addressing the Punjab Muslim Students’ Federation in March 1941, Jinnah said:</a:t>
            </a:r>
          </a:p>
          <a:p>
            <a:pPr marL="0" indent="0">
              <a:buFont typeface="Arial" panose="020B0604020202020204" pitchFamily="34" charset="0"/>
              <a:buNone/>
            </a:pPr>
            <a:r>
              <a:rPr lang="en-US" i="1" dirty="0"/>
              <a:t>	“Nothing could be achieved simply by raising slogans for the nation. We are 	one nation, and the nation cannot survive in the air, it requires an independent 	land to settle where it can rule, and our demand is the same.”</a:t>
            </a:r>
          </a:p>
          <a:p>
            <a:pPr marL="0" indent="0">
              <a:buNone/>
            </a:pPr>
            <a:endParaRPr lang="en-US" i="1" dirty="0"/>
          </a:p>
        </p:txBody>
      </p:sp>
      <p:sp>
        <p:nvSpPr>
          <p:cNvPr id="18" name="Oval 17">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5" name="Content Placeholder 2">
            <a:extLst>
              <a:ext uri="{FF2B5EF4-FFF2-40B4-BE49-F238E27FC236}">
                <a16:creationId xmlns:a16="http://schemas.microsoft.com/office/drawing/2014/main" id="{758E9427-F8B8-B489-C764-FBD60D74A6B1}"/>
              </a:ext>
            </a:extLst>
          </p:cNvPr>
          <p:cNvSpPr txBox="1">
            <a:spLocks/>
          </p:cNvSpPr>
          <p:nvPr/>
        </p:nvSpPr>
        <p:spPr>
          <a:xfrm>
            <a:off x="2351314" y="4405198"/>
            <a:ext cx="7772400" cy="24528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i="1" u="sng" dirty="0">
              <a:latin typeface="Candara" panose="020E0502030303020204" pitchFamily="34" charset="0"/>
            </a:endParaRPr>
          </a:p>
        </p:txBody>
      </p:sp>
    </p:spTree>
    <p:extLst>
      <p:ext uri="{BB962C8B-B14F-4D97-AF65-F5344CB8AC3E}">
        <p14:creationId xmlns:p14="http://schemas.microsoft.com/office/powerpoint/2010/main" val="587067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98EE56E-9BB8-67CC-647C-FED7A0EBC320}"/>
              </a:ext>
            </a:extLst>
          </p:cNvPr>
          <p:cNvSpPr>
            <a:spLocks noGrp="1"/>
          </p:cNvSpPr>
          <p:nvPr>
            <p:ph type="title"/>
          </p:nvPr>
        </p:nvSpPr>
        <p:spPr>
          <a:xfrm>
            <a:off x="1069848" y="484632"/>
            <a:ext cx="10058400" cy="1609344"/>
          </a:xfrm>
        </p:spPr>
        <p:txBody>
          <a:bodyPr>
            <a:normAutofit/>
          </a:bodyPr>
          <a:lstStyle/>
          <a:p>
            <a:r>
              <a:rPr lang="en-US" b="1" dirty="0"/>
              <a:t>Statement/Speeches of M.A. Jinnah</a:t>
            </a:r>
            <a:endParaRPr lang="en-US" dirty="0"/>
          </a:p>
        </p:txBody>
      </p:sp>
      <p:sp>
        <p:nvSpPr>
          <p:cNvPr id="3" name="Content Placeholder 2">
            <a:extLst>
              <a:ext uri="{FF2B5EF4-FFF2-40B4-BE49-F238E27FC236}">
                <a16:creationId xmlns:a16="http://schemas.microsoft.com/office/drawing/2014/main" id="{5739E4AD-379D-E7FE-6FA9-CFCB74020943}"/>
              </a:ext>
            </a:extLst>
          </p:cNvPr>
          <p:cNvSpPr>
            <a:spLocks noGrp="1"/>
          </p:cNvSpPr>
          <p:nvPr>
            <p:ph idx="1"/>
          </p:nvPr>
        </p:nvSpPr>
        <p:spPr>
          <a:xfrm>
            <a:off x="1069848" y="2320412"/>
            <a:ext cx="10058400" cy="3851787"/>
          </a:xfrm>
        </p:spPr>
        <p:txBody>
          <a:bodyPr>
            <a:normAutofit/>
          </a:bodyPr>
          <a:lstStyle/>
          <a:p>
            <a:r>
              <a:rPr lang="en-US" sz="1600" b="1" dirty="0"/>
              <a:t>Democratic System:</a:t>
            </a:r>
          </a:p>
          <a:p>
            <a:pPr lvl="1"/>
            <a:r>
              <a:rPr lang="en-US" sz="1400" dirty="0"/>
              <a:t>Quaid in a meeting at London, 14</a:t>
            </a:r>
            <a:r>
              <a:rPr lang="en-US" sz="1400" baseline="30000" dirty="0"/>
              <a:t>th</a:t>
            </a:r>
            <a:r>
              <a:rPr lang="en-US" sz="1400" dirty="0"/>
              <a:t> December 1946:</a:t>
            </a:r>
          </a:p>
          <a:p>
            <a:pPr marL="0" indent="0">
              <a:buNone/>
            </a:pPr>
            <a:r>
              <a:rPr lang="en-US" sz="1600" i="1" dirty="0"/>
              <a:t>	“Democracy is in the blood of Muslims who look upon complete </a:t>
            </a:r>
            <a:r>
              <a:rPr lang="en-US" sz="1600" b="1" i="1" dirty="0"/>
              <a:t>equality of man.”</a:t>
            </a:r>
          </a:p>
          <a:p>
            <a:endParaRPr lang="en-US" sz="1600" b="1" dirty="0"/>
          </a:p>
          <a:p>
            <a:r>
              <a:rPr lang="en-US" sz="1600" b="1" dirty="0"/>
              <a:t>Social Justice, Equality, &amp; Responsibility:</a:t>
            </a:r>
          </a:p>
          <a:p>
            <a:pPr lvl="1"/>
            <a:r>
              <a:rPr lang="en-US" sz="1400" dirty="0"/>
              <a:t>During the occasion of the opening of the State Bank of Pakistan (1</a:t>
            </a:r>
            <a:r>
              <a:rPr lang="en-US" sz="1400" baseline="30000" dirty="0"/>
              <a:t>st</a:t>
            </a:r>
            <a:r>
              <a:rPr lang="en-US" sz="1400" dirty="0"/>
              <a:t> July 1948):</a:t>
            </a:r>
          </a:p>
          <a:p>
            <a:pPr marL="0" indent="0">
              <a:buNone/>
            </a:pPr>
            <a:r>
              <a:rPr lang="en-US" sz="1600" i="1" dirty="0"/>
              <a:t>	“We must work destiny in our way &amp; present to the world an economic system based on the true 	Islamic concept of </a:t>
            </a:r>
            <a:r>
              <a:rPr lang="en-US" sz="1600" b="1" i="1" dirty="0"/>
              <a:t>equality of manhood &amp; social justice</a:t>
            </a:r>
            <a:r>
              <a:rPr lang="en-US" sz="1600" i="1" dirty="0"/>
              <a:t>. We will thereby be fulfilling our mission 	as Muslims &amp; giving to humanity the </a:t>
            </a:r>
            <a:r>
              <a:rPr lang="en-US" sz="1600" b="1" i="1" dirty="0"/>
              <a:t>message of peace</a:t>
            </a:r>
            <a:r>
              <a:rPr lang="en-US" sz="1600" i="1" dirty="0"/>
              <a:t> which alone can save it &amp; secure the 	</a:t>
            </a:r>
            <a:r>
              <a:rPr lang="en-US" sz="1600" b="1" i="1" dirty="0"/>
              <a:t>welfare, happiness, &amp; prosperity</a:t>
            </a:r>
            <a:r>
              <a:rPr lang="en-US" sz="1600" i="1" dirty="0"/>
              <a:t> of mankind.” </a:t>
            </a:r>
          </a:p>
          <a:p>
            <a:endParaRPr lang="en-US" sz="1600" b="1"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14460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F44CEBF-2C3E-EE24-D9FD-2C182B5EBFFA}"/>
              </a:ext>
            </a:extLst>
          </p:cNvPr>
          <p:cNvSpPr>
            <a:spLocks noGrp="1"/>
          </p:cNvSpPr>
          <p:nvPr>
            <p:ph type="title"/>
          </p:nvPr>
        </p:nvSpPr>
        <p:spPr>
          <a:xfrm>
            <a:off x="1069848" y="484632"/>
            <a:ext cx="10058400" cy="1609344"/>
          </a:xfrm>
        </p:spPr>
        <p:txBody>
          <a:bodyPr>
            <a:normAutofit/>
          </a:bodyPr>
          <a:lstStyle/>
          <a:p>
            <a:r>
              <a:rPr lang="en-US" b="1" dirty="0"/>
              <a:t>Statement/Speeches of A. M. Iqbal</a:t>
            </a:r>
            <a:endParaRPr lang="en-US" dirty="0"/>
          </a:p>
        </p:txBody>
      </p:sp>
      <p:sp>
        <p:nvSpPr>
          <p:cNvPr id="3" name="Content Placeholder 2">
            <a:extLst>
              <a:ext uri="{FF2B5EF4-FFF2-40B4-BE49-F238E27FC236}">
                <a16:creationId xmlns:a16="http://schemas.microsoft.com/office/drawing/2014/main" id="{E3F0AB49-237D-8986-2386-A58E1DA99CB0}"/>
              </a:ext>
            </a:extLst>
          </p:cNvPr>
          <p:cNvSpPr>
            <a:spLocks noGrp="1"/>
          </p:cNvSpPr>
          <p:nvPr>
            <p:ph idx="1"/>
          </p:nvPr>
        </p:nvSpPr>
        <p:spPr>
          <a:xfrm>
            <a:off x="1069848" y="2320412"/>
            <a:ext cx="10058400" cy="3851787"/>
          </a:xfrm>
        </p:spPr>
        <p:txBody>
          <a:bodyPr>
            <a:normAutofit fontScale="85000" lnSpcReduction="10000"/>
          </a:bodyPr>
          <a:lstStyle/>
          <a:p>
            <a:r>
              <a:rPr lang="en-US" b="1" i="0" dirty="0">
                <a:effectLst/>
              </a:rPr>
              <a:t>Islam: as Code of Conduct and Way of Life:</a:t>
            </a:r>
            <a:endParaRPr lang="en-US" b="1" dirty="0"/>
          </a:p>
          <a:p>
            <a:pPr marL="274320" lvl="1" indent="0">
              <a:buNone/>
            </a:pPr>
            <a:r>
              <a:rPr lang="en-US" i="1" dirty="0">
                <a:effectLst/>
              </a:rPr>
              <a:t>	“Islam is a </a:t>
            </a:r>
            <a:r>
              <a:rPr lang="en-US" b="1" i="1" dirty="0">
                <a:effectLst/>
              </a:rPr>
              <a:t>complete code of life</a:t>
            </a:r>
            <a:r>
              <a:rPr lang="en-US" i="1" dirty="0">
                <a:effectLst/>
              </a:rPr>
              <a:t>; so Indian Muslims should get assistance from 	</a:t>
            </a:r>
          </a:p>
          <a:p>
            <a:pPr marL="274320" lvl="1" indent="0">
              <a:buNone/>
            </a:pPr>
            <a:r>
              <a:rPr lang="en-US" i="1" dirty="0">
                <a:effectLst/>
              </a:rPr>
              <a:t>	Islam. It will support them fully. </a:t>
            </a:r>
            <a:endParaRPr lang="en-US" b="1" dirty="0"/>
          </a:p>
          <a:p>
            <a:r>
              <a:rPr lang="en-US" b="1" i="0" dirty="0">
                <a:effectLst/>
              </a:rPr>
              <a:t>Muslims are a Separate Nation:</a:t>
            </a:r>
          </a:p>
          <a:p>
            <a:pPr lvl="1"/>
            <a:r>
              <a:rPr lang="en-US" b="0" i="0" dirty="0" err="1">
                <a:effectLst/>
              </a:rPr>
              <a:t>Allama</a:t>
            </a:r>
            <a:r>
              <a:rPr lang="en-US" b="0" i="0" dirty="0">
                <a:effectLst/>
              </a:rPr>
              <a:t> Iqbal openly negated the concept of a unified Indian nation and said:</a:t>
            </a:r>
          </a:p>
          <a:p>
            <a:pPr marL="0" indent="0">
              <a:buNone/>
            </a:pPr>
            <a:r>
              <a:rPr lang="en-US" b="0" i="1" dirty="0">
                <a:effectLst/>
              </a:rPr>
              <a:t>	“Nations are based on religion; not with territories. So, we are separate nations 	</a:t>
            </a:r>
          </a:p>
          <a:p>
            <a:pPr marL="0" indent="0">
              <a:buNone/>
            </a:pPr>
            <a:r>
              <a:rPr lang="en-US" b="0" i="1" dirty="0">
                <a:effectLst/>
              </a:rPr>
              <a:t>	because we have our ideology.”</a:t>
            </a:r>
            <a:endParaRPr lang="en-US" b="1" i="0" dirty="0">
              <a:effectLst/>
            </a:endParaRPr>
          </a:p>
          <a:p>
            <a:r>
              <a:rPr lang="en-US" b="1" dirty="0"/>
              <a:t>Demand for Separate State: </a:t>
            </a:r>
            <a:endParaRPr lang="en-US" i="1" dirty="0">
              <a:effectLst/>
            </a:endParaRPr>
          </a:p>
          <a:p>
            <a:pPr lvl="1"/>
            <a:r>
              <a:rPr lang="en-US" dirty="0"/>
              <a:t>During his Allahabad Address on 29 Dec 1930, he said:</a:t>
            </a:r>
            <a:endParaRPr lang="en-US" i="1" dirty="0"/>
          </a:p>
          <a:p>
            <a:pPr marL="0" indent="0">
              <a:buNone/>
            </a:pPr>
            <a:r>
              <a:rPr lang="en-US" i="1" dirty="0"/>
              <a:t>	“I would like to see the Punjab, North-West Frontier Province, Sind, &amp; Baluchistan 	amalgamated into a single state. Self-government within the British Empire, or without the 	British Empire, the formation of a consolidated Northwest India Muslim State appears to me to 	be the final destiny of the Muslims, at least of Northwest India.”</a:t>
            </a:r>
          </a:p>
          <a:p>
            <a:pPr marL="0" indent="0">
              <a:buNone/>
            </a:pPr>
            <a:endParaRPr lang="en-US" b="0" i="1" dirty="0">
              <a:effectLst/>
            </a:endParaRPr>
          </a:p>
          <a:p>
            <a:pPr marL="0" indent="0">
              <a:buNone/>
            </a:pPr>
            <a:endParaRPr lang="en-US" b="0" i="1" dirty="0">
              <a:effectLst/>
            </a:endParaRPr>
          </a:p>
          <a:p>
            <a:pPr marL="0" indent="0">
              <a:buNone/>
            </a:pPr>
            <a:endParaRPr lang="en-US" b="0" i="1" dirty="0">
              <a:effectLst/>
            </a:endParaRP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68481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ooks, pens, and a wall clock">
            <a:extLst>
              <a:ext uri="{FF2B5EF4-FFF2-40B4-BE49-F238E27FC236}">
                <a16:creationId xmlns:a16="http://schemas.microsoft.com/office/drawing/2014/main" id="{DCD9367C-4A09-5A59-F197-75DF8F62A7F8}"/>
              </a:ext>
            </a:extLst>
          </p:cNvPr>
          <p:cNvPicPr>
            <a:picLocks noChangeAspect="1"/>
          </p:cNvPicPr>
          <p:nvPr/>
        </p:nvPicPr>
        <p:blipFill>
          <a:blip r:embed="rId4"/>
          <a:srcRect l="50836" r="3429"/>
          <a:stretch/>
        </p:blipFill>
        <p:spPr>
          <a:xfrm>
            <a:off x="3344" y="10"/>
            <a:ext cx="4646726" cy="6857990"/>
          </a:xfrm>
          <a:prstGeom prst="rect">
            <a:avLst/>
          </a:prstGeom>
        </p:spPr>
      </p:pic>
      <p:sp>
        <p:nvSpPr>
          <p:cNvPr id="3" name="Content Placeholder 2"/>
          <p:cNvSpPr>
            <a:spLocks noGrp="1"/>
          </p:cNvSpPr>
          <p:nvPr>
            <p:ph idx="1"/>
          </p:nvPr>
        </p:nvSpPr>
        <p:spPr>
          <a:xfrm>
            <a:off x="4970109" y="2121408"/>
            <a:ext cx="6730276" cy="4050792"/>
          </a:xfrm>
        </p:spPr>
        <p:txBody>
          <a:bodyPr>
            <a:normAutofit/>
          </a:bodyPr>
          <a:lstStyle/>
          <a:p>
            <a:pPr marL="0" indent="0" algn="ctr">
              <a:buNone/>
            </a:pPr>
            <a:r>
              <a:rPr lang="en-US" sz="2800" b="1" dirty="0"/>
              <a:t>Thank you for your time and attention!</a:t>
            </a:r>
          </a:p>
          <a:p>
            <a:pPr algn="ctr"/>
            <a:endParaRPr lang="en-US" sz="2800" b="1" dirty="0"/>
          </a:p>
          <a:p>
            <a:pPr marL="0" indent="0" algn="ctr">
              <a:buNone/>
            </a:pPr>
            <a:endParaRPr lang="en-US" sz="2800" b="1" dirty="0"/>
          </a:p>
          <a:p>
            <a:pPr marL="0" indent="0" algn="ctr">
              <a:buNone/>
            </a:pPr>
            <a:r>
              <a:rPr lang="en-US" sz="2800" b="1" dirty="0"/>
              <a:t>Hopefully, I will see you in the next class. Until then, take </a:t>
            </a:r>
            <a:r>
              <a:rPr lang="en-US" sz="2800" b="1"/>
              <a:t>care, &amp; have </a:t>
            </a:r>
            <a:r>
              <a:rPr lang="en-US" sz="2800" b="1" dirty="0"/>
              <a:t>a great day!</a:t>
            </a:r>
          </a:p>
          <a:p>
            <a:pPr algn="ctr"/>
            <a:endParaRPr lang="en-US" sz="2800" b="1" dirty="0"/>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1813508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187</TotalTime>
  <Words>685</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Candara</vt:lpstr>
      <vt:lpstr>Rockwell</vt:lpstr>
      <vt:lpstr>Rockwell Condensed</vt:lpstr>
      <vt:lpstr>Rockwell Extra Bold</vt:lpstr>
      <vt:lpstr>Wingdings</vt:lpstr>
      <vt:lpstr>Wood Type</vt:lpstr>
      <vt:lpstr>Ideology of Pakistan in the Light of M. A. Jinnah &amp; A. M. Iqbal </vt:lpstr>
      <vt:lpstr>Definition of Ideology </vt:lpstr>
      <vt:lpstr>Ideology of Pakistan</vt:lpstr>
      <vt:lpstr>Elements of Ideology of Pakistan</vt:lpstr>
      <vt:lpstr>Statement/Speeches of M.A. Jinnah</vt:lpstr>
      <vt:lpstr>Statement/Speeches of M.A. Jinnah</vt:lpstr>
      <vt:lpstr>Statement/Speeches of A. M. Iqbal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Ideology of Pakistan in the Light of M. A. Jinnah &amp; A. M. Iqbal </dc:title>
  <dc:creator>PMLS</dc:creator>
  <cp:lastModifiedBy>PMLS</cp:lastModifiedBy>
  <cp:revision>17</cp:revision>
  <dcterms:created xsi:type="dcterms:W3CDTF">2025-01-21T05:51:03Z</dcterms:created>
  <dcterms:modified xsi:type="dcterms:W3CDTF">2025-08-20T11:50:03Z</dcterms:modified>
</cp:coreProperties>
</file>