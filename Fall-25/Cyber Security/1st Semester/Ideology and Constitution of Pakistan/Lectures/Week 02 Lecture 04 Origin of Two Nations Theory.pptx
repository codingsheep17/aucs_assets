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4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3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9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0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37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7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8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6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9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1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37EC85D-D3FA-44AC-B819-B6509F44155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C8E5A4C-B78B-43FD-BDB4-16E649D32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4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8864" y="1769805"/>
            <a:ext cx="6894576" cy="1964485"/>
          </a:xfrm>
        </p:spPr>
        <p:txBody>
          <a:bodyPr anchor="b">
            <a:normAutofit/>
          </a:bodyPr>
          <a:lstStyle/>
          <a:p>
            <a:pPr algn="ctr"/>
            <a:r>
              <a:rPr lang="en-US" sz="6600" b="1" dirty="0"/>
              <a:t>Origin of Two Nations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6696" y="4444279"/>
            <a:ext cx="6894576" cy="157276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Habib Ali Katohar</a:t>
            </a:r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30CAD61C-2354-05D0-2976-016AEF494D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0"/>
            <a:ext cx="4310743" cy="149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5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5962784" cy="1807305"/>
          </a:xfrm>
        </p:spPr>
        <p:txBody>
          <a:bodyPr>
            <a:normAutofit/>
          </a:bodyPr>
          <a:lstStyle/>
          <a:p>
            <a:r>
              <a:rPr lang="en-US" b="1" dirty="0"/>
              <a:t>Evolution of the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7281"/>
            <a:ext cx="4619621" cy="342392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The history of the Two Nations Theory is as old as the history of man.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dirty="0">
                <a:cs typeface="Times New Roman" panose="02020603050405020304" pitchFamily="18" charset="0"/>
              </a:rPr>
              <a:t>The concept was given by Islam 14 hundred years ago. 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dirty="0">
                <a:cs typeface="Times New Roman" panose="02020603050405020304" pitchFamily="18" charset="0"/>
              </a:rPr>
              <a:t>According to Islam, there are only two nations in the world; </a:t>
            </a:r>
          </a:p>
          <a:p>
            <a:pPr lvl="1"/>
            <a:r>
              <a:rPr lang="en-US" u="sng" dirty="0">
                <a:cs typeface="Times New Roman" panose="02020603050405020304" pitchFamily="18" charset="0"/>
              </a:rPr>
              <a:t> Believers vs Non-believers </a:t>
            </a:r>
            <a:endParaRPr lang="en-US" dirty="0">
              <a:cs typeface="Times New Roman" panose="02020603050405020304" pitchFamily="18" charset="0"/>
            </a:endParaRPr>
          </a:p>
          <a:p>
            <a:endParaRPr lang="en-US" sz="2400" u="sng" dirty="0">
              <a:cs typeface="Times New Roman" panose="02020603050405020304" pitchFamily="18" charset="0"/>
            </a:endParaRPr>
          </a:p>
        </p:txBody>
      </p:sp>
      <p:pic>
        <p:nvPicPr>
          <p:cNvPr id="18" name="Picture 17" descr="Three neatly stacked books">
            <a:extLst>
              <a:ext uri="{FF2B5EF4-FFF2-40B4-BE49-F238E27FC236}">
                <a16:creationId xmlns:a16="http://schemas.microsoft.com/office/drawing/2014/main" id="{15FF5978-43C2-A9BE-38CA-ACAE39A63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21" r="104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281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74C8E-40E1-069A-5548-A4C29E50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279E-224C-6E79-A358-BA0C6D36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365125"/>
            <a:ext cx="5962785" cy="180730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</a:rPr>
              <a:t>Evolution of the Concept in India 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7E2B6-60D6-AB43-2F5F-DA3935128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280" y="2333297"/>
            <a:ext cx="5466080" cy="4159578"/>
          </a:xfrm>
        </p:spPr>
        <p:txBody>
          <a:bodyPr>
            <a:normAutofit/>
          </a:bodyPr>
          <a:lstStyle/>
          <a:p>
            <a:pPr>
              <a:buFont typeface="Candara" panose="020E0502030303020204" pitchFamily="34" charset="0"/>
              <a:buChar char="*"/>
            </a:pPr>
            <a:r>
              <a:rPr lang="en-US" sz="1600" dirty="0">
                <a:solidFill>
                  <a:srgbClr val="000000"/>
                </a:solidFill>
              </a:rPr>
              <a:t>Two nations - Hindus &amp; Muslims - inhabited the subcontinent.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600" dirty="0">
                <a:solidFill>
                  <a:srgbClr val="000000"/>
                </a:solidFill>
              </a:rPr>
              <a:t>Sharp discrepancies in the </a:t>
            </a:r>
            <a:r>
              <a:rPr lang="en-US" sz="1600" b="1" dirty="0">
                <a:solidFill>
                  <a:srgbClr val="000000"/>
                </a:solidFill>
              </a:rPr>
              <a:t>culture, language, &amp; religious</a:t>
            </a:r>
            <a:r>
              <a:rPr lang="en-US" sz="1600" dirty="0">
                <a:solidFill>
                  <a:srgbClr val="000000"/>
                </a:solidFill>
              </a:rPr>
              <a:t> practices of both communities.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600" b="1" dirty="0">
                <a:solidFill>
                  <a:srgbClr val="000000"/>
                </a:solidFill>
              </a:rPr>
              <a:t>Sir Syed</a:t>
            </a:r>
            <a:r>
              <a:rPr lang="en-US" sz="1600" dirty="0">
                <a:solidFill>
                  <a:srgbClr val="000000"/>
                </a:solidFill>
              </a:rPr>
              <a:t> Ahmed Khan, addressed them as ‘</a:t>
            </a:r>
            <a:r>
              <a:rPr lang="en-US" sz="1600" b="1" dirty="0">
                <a:solidFill>
                  <a:srgbClr val="000000"/>
                </a:solidFill>
              </a:rPr>
              <a:t>QAUM</a:t>
            </a:r>
            <a:r>
              <a:rPr lang="en-US" sz="1600" dirty="0">
                <a:solidFill>
                  <a:srgbClr val="000000"/>
                </a:solidFill>
              </a:rPr>
              <a:t>’ – </a:t>
            </a:r>
            <a:r>
              <a:rPr lang="en-US" sz="1600" b="1" dirty="0">
                <a:solidFill>
                  <a:srgbClr val="000000"/>
                </a:solidFill>
              </a:rPr>
              <a:t>Theoretical Applications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</a:rPr>
              <a:t>Agha Khan, Amir Ali</a:t>
            </a:r>
            <a:r>
              <a:rPr lang="en-US" sz="1600" dirty="0">
                <a:solidFill>
                  <a:srgbClr val="000000"/>
                </a:solidFill>
              </a:rPr>
              <a:t>, &amp; others referred to </a:t>
            </a:r>
            <a:r>
              <a:rPr lang="en-US" sz="1600" b="1" dirty="0">
                <a:solidFill>
                  <a:srgbClr val="000000"/>
                </a:solidFill>
              </a:rPr>
              <a:t>their community as a ‘nation’.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600" b="1" dirty="0" err="1">
                <a:solidFill>
                  <a:srgbClr val="000000"/>
                </a:solidFill>
              </a:rPr>
              <a:t>Allama</a:t>
            </a:r>
            <a:r>
              <a:rPr lang="en-US" sz="1600" b="1" dirty="0">
                <a:solidFill>
                  <a:srgbClr val="000000"/>
                </a:solidFill>
              </a:rPr>
              <a:t> Iqbal provided a Philosophical Explanation.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600" b="1" dirty="0">
                <a:solidFill>
                  <a:srgbClr val="000000"/>
                </a:solidFill>
              </a:rPr>
              <a:t>Jinnah</a:t>
            </a:r>
            <a:r>
              <a:rPr lang="en-US" sz="1600" dirty="0">
                <a:solidFill>
                  <a:srgbClr val="000000"/>
                </a:solidFill>
              </a:rPr>
              <a:t> implemented the idea </a:t>
            </a:r>
            <a:r>
              <a:rPr lang="en-US" sz="1600" b="1" dirty="0">
                <a:solidFill>
                  <a:srgbClr val="000000"/>
                </a:solidFill>
              </a:rPr>
              <a:t>Practically</a:t>
            </a:r>
            <a:r>
              <a:rPr lang="en-US" sz="1600" dirty="0">
                <a:solidFill>
                  <a:srgbClr val="000000"/>
                </a:solidFill>
              </a:rPr>
              <a:t>  (</a:t>
            </a:r>
            <a:r>
              <a:rPr lang="en-US" sz="1600" b="1" dirty="0">
                <a:solidFill>
                  <a:srgbClr val="000000"/>
                </a:solidFill>
              </a:rPr>
              <a:t>Lahore Resolution 1940)</a:t>
            </a:r>
            <a:r>
              <a:rPr lang="en-US" sz="1600" dirty="0">
                <a:solidFill>
                  <a:srgbClr val="000000"/>
                </a:solidFill>
              </a:rPr>
              <a:t>   </a:t>
            </a:r>
          </a:p>
        </p:txBody>
      </p:sp>
      <p:pic>
        <p:nvPicPr>
          <p:cNvPr id="18" name="Picture 17" descr="Three neatly stacked books">
            <a:extLst>
              <a:ext uri="{FF2B5EF4-FFF2-40B4-BE49-F238E27FC236}">
                <a16:creationId xmlns:a16="http://schemas.microsoft.com/office/drawing/2014/main" id="{E01A977D-2F16-9175-4182-3EAB706236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21" r="104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1442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76BAE-BA63-7C7B-B640-F9EA4B52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C2E8-4C73-CBD3-CAEF-CF5E5456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365125"/>
            <a:ext cx="5642477" cy="180730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Main Proponents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4AC2-50A5-EBE4-7192-E81BDEA5A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880"/>
            <a:ext cx="5251317" cy="4216083"/>
          </a:xfrm>
        </p:spPr>
        <p:txBody>
          <a:bodyPr>
            <a:normAutofit/>
          </a:bodyPr>
          <a:lstStyle/>
          <a:p>
            <a:pPr>
              <a:buFont typeface="Candara" panose="020E0502030303020204" pitchFamily="34" charset="0"/>
              <a:buChar char="*"/>
            </a:pPr>
            <a:r>
              <a:rPr lang="en-US" sz="1800" b="1" dirty="0" err="1">
                <a:cs typeface="Times New Roman" panose="02020603050405020304" pitchFamily="18" charset="0"/>
              </a:rPr>
              <a:t>Hazrat</a:t>
            </a:r>
            <a:r>
              <a:rPr lang="en-US" sz="1800" b="1" dirty="0"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cs typeface="Times New Roman" panose="02020603050405020304" pitchFamily="18" charset="0"/>
              </a:rPr>
              <a:t>Mujadid</a:t>
            </a:r>
            <a:r>
              <a:rPr lang="en-US" sz="1800" b="1" dirty="0">
                <a:cs typeface="Times New Roman" panose="02020603050405020304" pitchFamily="18" charset="0"/>
              </a:rPr>
              <a:t> Alf Sani (</a:t>
            </a:r>
            <a:r>
              <a:rPr lang="en-US" sz="1800" dirty="0"/>
              <a:t>Islamic Revivalism and Identity Preservation)</a:t>
            </a:r>
            <a:endParaRPr lang="en-US" sz="1800" b="1" dirty="0">
              <a:cs typeface="Times New Roman" panose="02020603050405020304" pitchFamily="18" charset="0"/>
            </a:endParaRPr>
          </a:p>
          <a:p>
            <a:pPr>
              <a:buFont typeface="Candara" panose="020E0502030303020204" pitchFamily="34" charset="0"/>
              <a:buChar char="*"/>
            </a:pPr>
            <a:r>
              <a:rPr lang="en-US" sz="1800" b="1" dirty="0" err="1">
                <a:cs typeface="Times New Roman" panose="02020603050405020304" pitchFamily="18" charset="0"/>
              </a:rPr>
              <a:t>Hazrat</a:t>
            </a:r>
            <a:r>
              <a:rPr lang="en-US" sz="1800" b="1" dirty="0">
                <a:cs typeface="Times New Roman" panose="02020603050405020304" pitchFamily="18" charset="0"/>
              </a:rPr>
              <a:t> Shah Wali Ullah </a:t>
            </a:r>
            <a:r>
              <a:rPr lang="en-US" sz="1800" dirty="0">
                <a:cs typeface="Times New Roman" panose="02020603050405020304" pitchFamily="18" charset="0"/>
              </a:rPr>
              <a:t>(Socio-Religious Reform and Muslim Unity)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800" b="1" dirty="0">
                <a:cs typeface="Times New Roman" panose="02020603050405020304" pitchFamily="18" charset="0"/>
              </a:rPr>
              <a:t>Sir Syed Ahmed </a:t>
            </a:r>
            <a:r>
              <a:rPr lang="en-US" sz="1800" dirty="0">
                <a:cs typeface="Times New Roman" panose="02020603050405020304" pitchFamily="18" charset="0"/>
              </a:rPr>
              <a:t>(Aligarh Movement)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800" b="1" dirty="0" err="1">
                <a:cs typeface="Times New Roman" panose="02020603050405020304" pitchFamily="18" charset="0"/>
              </a:rPr>
              <a:t>Allama</a:t>
            </a:r>
            <a:r>
              <a:rPr lang="en-US" sz="1800" b="1" dirty="0">
                <a:cs typeface="Times New Roman" panose="02020603050405020304" pitchFamily="18" charset="0"/>
              </a:rPr>
              <a:t> Iqbal </a:t>
            </a:r>
            <a:r>
              <a:rPr lang="en-US" sz="1800" dirty="0">
                <a:cs typeface="Times New Roman" panose="02020603050405020304" pitchFamily="18" charset="0"/>
              </a:rPr>
              <a:t>(Allahabad Address &amp; Poetry)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800" b="1" dirty="0">
                <a:cs typeface="Times New Roman" panose="02020603050405020304" pitchFamily="18" charset="0"/>
              </a:rPr>
              <a:t>Quaid –</a:t>
            </a:r>
            <a:r>
              <a:rPr lang="en-US" sz="1800" b="1" dirty="0" err="1">
                <a:cs typeface="Times New Roman" panose="02020603050405020304" pitchFamily="18" charset="0"/>
              </a:rPr>
              <a:t>i</a:t>
            </a:r>
            <a:r>
              <a:rPr lang="en-US" sz="1800" b="1" dirty="0">
                <a:cs typeface="Times New Roman" panose="02020603050405020304" pitchFamily="18" charset="0"/>
              </a:rPr>
              <a:t>- Azam </a:t>
            </a:r>
            <a:r>
              <a:rPr lang="en-US" sz="1800" dirty="0">
                <a:cs typeface="Times New Roman" panose="02020603050405020304" pitchFamily="18" charset="0"/>
              </a:rPr>
              <a:t>(14 points &amp; Lahore Resolution 1940)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1800" b="1" dirty="0">
                <a:cs typeface="Times New Roman" panose="02020603050405020304" pitchFamily="18" charset="0"/>
              </a:rPr>
              <a:t>Chaudhry Rehmat </a:t>
            </a:r>
            <a:r>
              <a:rPr lang="en-US" sz="1800" dirty="0">
                <a:cs typeface="Times New Roman" panose="02020603050405020304" pitchFamily="18" charset="0"/>
              </a:rPr>
              <a:t>(Now or Never Pamphlet 1932)</a:t>
            </a:r>
          </a:p>
          <a:p>
            <a:pPr>
              <a:buFont typeface="Candara" panose="020E0502030303020204" pitchFamily="34" charset="0"/>
              <a:buChar char="*"/>
            </a:pPr>
            <a:endParaRPr lang="en-US" sz="1800" dirty="0"/>
          </a:p>
        </p:txBody>
      </p:sp>
      <p:pic>
        <p:nvPicPr>
          <p:cNvPr id="18" name="Picture 17" descr="Three neatly stacked books">
            <a:extLst>
              <a:ext uri="{FF2B5EF4-FFF2-40B4-BE49-F238E27FC236}">
                <a16:creationId xmlns:a16="http://schemas.microsoft.com/office/drawing/2014/main" id="{18461280-1CD6-08F8-E5BC-21466CA14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21" r="104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80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99D82-9122-6C4D-FD96-D7F2AF78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7BA40-9ED5-615B-649E-120D837F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365125"/>
            <a:ext cx="5642477" cy="180730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Materialization of Theory in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6E27-1835-6F0E-7D92-D1134C09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6"/>
            <a:ext cx="5391015" cy="4057343"/>
          </a:xfrm>
        </p:spPr>
        <p:txBody>
          <a:bodyPr>
            <a:normAutofit/>
          </a:bodyPr>
          <a:lstStyle/>
          <a:p>
            <a:pPr>
              <a:buFont typeface="Candara" panose="020E0502030303020204" pitchFamily="34" charset="0"/>
              <a:buChar char="*"/>
            </a:pPr>
            <a:endParaRPr lang="en-US" sz="2000" dirty="0">
              <a:cs typeface="Times New Roman" panose="02020603050405020304" pitchFamily="18" charset="0"/>
            </a:endParaRPr>
          </a:p>
          <a:p>
            <a:pPr>
              <a:buFont typeface="Candara" panose="020E0502030303020204" pitchFamily="34" charset="0"/>
              <a:buChar char="*"/>
            </a:pPr>
            <a:endParaRPr lang="en-US" sz="2000" dirty="0">
              <a:cs typeface="Times New Roman" panose="02020603050405020304" pitchFamily="18" charset="0"/>
            </a:endParaRPr>
          </a:p>
          <a:p>
            <a:pPr>
              <a:buFont typeface="Candara" panose="020E0502030303020204" pitchFamily="34" charset="0"/>
              <a:buChar char="*"/>
            </a:pP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Initiated</a:t>
            </a:r>
            <a:r>
              <a:rPr lang="en-US" sz="2000" dirty="0">
                <a:cs typeface="Times New Roman" panose="02020603050405020304" pitchFamily="18" charset="0"/>
              </a:rPr>
              <a:t> by Sir Syed, </a:t>
            </a: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supported</a:t>
            </a:r>
            <a:r>
              <a:rPr 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by the </a:t>
            </a: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philosophy of Iqbal</a:t>
            </a:r>
            <a:r>
              <a:rPr lang="en-US" sz="2000" dirty="0">
                <a:cs typeface="Times New Roman" panose="02020603050405020304" pitchFamily="18" charset="0"/>
              </a:rPr>
              <a:t>, the idea was finally</a:t>
            </a: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materialized by Jinnah</a:t>
            </a:r>
            <a:r>
              <a:rPr lang="en-US" sz="2000" dirty="0">
                <a:cs typeface="Times New Roman" panose="02020603050405020304" pitchFamily="18" charset="0"/>
              </a:rPr>
              <a:t> &amp; his colleagues.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2000" dirty="0">
                <a:cs typeface="Times New Roman" panose="02020603050405020304" pitchFamily="18" charset="0"/>
              </a:rPr>
              <a:t> The Constituent Assembly of Pakistan, by passing the </a:t>
            </a:r>
            <a:r>
              <a:rPr lang="en-US" sz="2000" b="1" dirty="0">
                <a:cs typeface="Times New Roman" panose="02020603050405020304" pitchFamily="18" charset="0"/>
              </a:rPr>
              <a:t>Objectives Resolution</a:t>
            </a:r>
            <a:r>
              <a:rPr lang="en-US" sz="2000" dirty="0">
                <a:cs typeface="Times New Roman" panose="02020603050405020304" pitchFamily="18" charset="0"/>
              </a:rPr>
              <a:t> in March 1949, gave it </a:t>
            </a:r>
            <a:r>
              <a:rPr lang="en-US" sz="2000" b="1" dirty="0">
                <a:cs typeface="Times New Roman" panose="02020603050405020304" pitchFamily="18" charset="0"/>
              </a:rPr>
              <a:t>legal sanction</a:t>
            </a:r>
            <a:r>
              <a:rPr lang="en-US" sz="2000" dirty="0"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18" name="Picture 17" descr="Three neatly stacked books">
            <a:extLst>
              <a:ext uri="{FF2B5EF4-FFF2-40B4-BE49-F238E27FC236}">
                <a16:creationId xmlns:a16="http://schemas.microsoft.com/office/drawing/2014/main" id="{C041A85D-0F3F-CB31-61ED-07EA3DD94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21" r="104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8413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D0C0A-092E-D645-5493-3461578A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7698-3322-87D9-87C4-9420B6C5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365125"/>
            <a:ext cx="5642477" cy="180730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M. A. Jinnah’s Approach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CEA70-A943-590F-9151-7553CCF16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257800" cy="3843666"/>
          </a:xfrm>
        </p:spPr>
        <p:txBody>
          <a:bodyPr>
            <a:normAutofit/>
          </a:bodyPr>
          <a:lstStyle/>
          <a:p>
            <a:pPr>
              <a:buFont typeface="Candara" panose="020E0502030303020204" pitchFamily="34" charset="0"/>
              <a:buChar char="*"/>
            </a:pPr>
            <a:endParaRPr lang="en-US" sz="2000" dirty="0">
              <a:cs typeface="Times New Roman" panose="02020603050405020304" pitchFamily="18" charset="0"/>
            </a:endParaRPr>
          </a:p>
          <a:p>
            <a:pPr>
              <a:buFont typeface="Candara" panose="020E0502030303020204" pitchFamily="34" charset="0"/>
              <a:buChar char="*"/>
            </a:pPr>
            <a:r>
              <a:rPr lang="en-US" sz="2000" i="1" dirty="0">
                <a:cs typeface="Times New Roman" panose="02020603050405020304" pitchFamily="18" charset="0"/>
              </a:rPr>
              <a:t>“</a:t>
            </a:r>
            <a:r>
              <a:rPr lang="en-US" sz="2000" b="1" i="1" u="sng" dirty="0">
                <a:cs typeface="Times New Roman" panose="02020603050405020304" pitchFamily="18" charset="0"/>
              </a:rPr>
              <a:t>Pakistan</a:t>
            </a:r>
            <a:r>
              <a:rPr lang="en-US" sz="2000" i="1" dirty="0">
                <a:cs typeface="Times New Roman" panose="02020603050405020304" pitchFamily="18" charset="0"/>
              </a:rPr>
              <a:t> was created on the very first day when the </a:t>
            </a:r>
            <a:r>
              <a:rPr lang="en-US" sz="2000" b="1" i="1" u="sng" dirty="0">
                <a:cs typeface="Times New Roman" panose="02020603050405020304" pitchFamily="18" charset="0"/>
              </a:rPr>
              <a:t>first Hindu</a:t>
            </a:r>
            <a:r>
              <a:rPr lang="en-US" sz="2000" i="1" dirty="0">
                <a:cs typeface="Times New Roman" panose="02020603050405020304" pitchFamily="18" charset="0"/>
              </a:rPr>
              <a:t> accepted </a:t>
            </a:r>
            <a:r>
              <a:rPr lang="en-US" sz="2000" b="1" i="1" u="sng" dirty="0">
                <a:cs typeface="Times New Roman" panose="02020603050405020304" pitchFamily="18" charset="0"/>
              </a:rPr>
              <a:t>Islam</a:t>
            </a:r>
            <a:r>
              <a:rPr lang="en-US" sz="2000" i="1" dirty="0">
                <a:cs typeface="Times New Roman" panose="02020603050405020304" pitchFamily="18" charset="0"/>
              </a:rPr>
              <a:t> in India”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2000" dirty="0">
                <a:cs typeface="Times New Roman" panose="02020603050405020304" pitchFamily="18" charset="0"/>
              </a:rPr>
              <a:t>“</a:t>
            </a:r>
            <a:r>
              <a:rPr lang="en-US" sz="2000" b="1" u="sng" dirty="0">
                <a:cs typeface="Times New Roman" panose="02020603050405020304" pitchFamily="18" charset="0"/>
              </a:rPr>
              <a:t>Muslims</a:t>
            </a:r>
            <a:r>
              <a:rPr lang="en-US" sz="2000" dirty="0">
                <a:cs typeface="Times New Roman" panose="02020603050405020304" pitchFamily="18" charset="0"/>
              </a:rPr>
              <a:t> are a </a:t>
            </a:r>
            <a:r>
              <a:rPr lang="en-US" sz="2000" b="1" u="sng" dirty="0">
                <a:cs typeface="Times New Roman" panose="02020603050405020304" pitchFamily="18" charset="0"/>
              </a:rPr>
              <a:t>Nation</a:t>
            </a:r>
            <a:r>
              <a:rPr lang="en-US" sz="2000" dirty="0">
                <a:cs typeface="Times New Roman" panose="02020603050405020304" pitchFamily="18" charset="0"/>
              </a:rPr>
              <a:t> according to any definition of a nation &amp; they must have their home &amp; their </a:t>
            </a:r>
            <a:r>
              <a:rPr lang="en-US" sz="2000" b="1" u="sng" dirty="0">
                <a:cs typeface="Times New Roman" panose="02020603050405020304" pitchFamily="18" charset="0"/>
              </a:rPr>
              <a:t>territory</a:t>
            </a:r>
            <a:r>
              <a:rPr lang="en-US" sz="2000" dirty="0">
                <a:cs typeface="Times New Roman" panose="02020603050405020304" pitchFamily="18" charset="0"/>
              </a:rPr>
              <a:t>, &amp; their state.” </a:t>
            </a:r>
          </a:p>
        </p:txBody>
      </p:sp>
      <p:pic>
        <p:nvPicPr>
          <p:cNvPr id="18" name="Picture 17" descr="Three neatly stacked books">
            <a:extLst>
              <a:ext uri="{FF2B5EF4-FFF2-40B4-BE49-F238E27FC236}">
                <a16:creationId xmlns:a16="http://schemas.microsoft.com/office/drawing/2014/main" id="{7D20318B-4151-8C9A-296E-D738250DC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21" r="104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6742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3AFF0-9044-A8EC-D996-D2652350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74B5-EF92-D118-CD8C-7BE47517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365125"/>
            <a:ext cx="5642477" cy="180730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Mandate of the Theory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95284-6D89-BC86-CF6D-3C489FAA6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2333297"/>
            <a:ext cx="5406255" cy="4159578"/>
          </a:xfrm>
        </p:spPr>
        <p:txBody>
          <a:bodyPr>
            <a:normAutofit fontScale="92500" lnSpcReduction="10000"/>
          </a:bodyPr>
          <a:lstStyle/>
          <a:p>
            <a:pPr>
              <a:buFont typeface="Candara" panose="020E0502030303020204" pitchFamily="34" charset="0"/>
              <a:buChar char="*"/>
            </a:pPr>
            <a:r>
              <a:rPr lang="en-US" sz="2000" b="1" dirty="0">
                <a:cs typeface="Times New Roman" panose="02020603050405020304" pitchFamily="18" charset="0"/>
              </a:rPr>
              <a:t>Separate Electorate: 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</a:p>
          <a:p>
            <a:pPr lvl="1">
              <a:buFont typeface="Candara" panose="020E0502030303020204" pitchFamily="34" charset="0"/>
              <a:buChar char="*"/>
            </a:pPr>
            <a:r>
              <a:rPr lang="en-US" sz="1600" dirty="0">
                <a:cs typeface="Times New Roman" panose="02020603050405020304" pitchFamily="18" charset="0"/>
              </a:rPr>
              <a:t>The demand for S.E. was a manifestation of Muslim feelings of separateness. </a:t>
            </a:r>
          </a:p>
          <a:p>
            <a:pPr lvl="1">
              <a:buFont typeface="Candara" panose="020E0502030303020204" pitchFamily="34" charset="0"/>
              <a:buChar char="*"/>
            </a:pPr>
            <a:r>
              <a:rPr lang="en-US" sz="1600" dirty="0">
                <a:cs typeface="Times New Roman" panose="02020603050405020304" pitchFamily="18" charset="0"/>
              </a:rPr>
              <a:t>Sir Syed for the first time demanded a separate electorate in 1892 (Indian Council Act)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2000" b="1" dirty="0">
                <a:cs typeface="Times New Roman" panose="02020603050405020304" pitchFamily="18" charset="0"/>
              </a:rPr>
              <a:t>Minority status in British India: </a:t>
            </a:r>
          </a:p>
          <a:p>
            <a:pPr lvl="1">
              <a:buFont typeface="Candara" panose="020E0502030303020204" pitchFamily="34" charset="0"/>
              <a:buChar char="*"/>
            </a:pPr>
            <a:r>
              <a:rPr lang="en-US" sz="1600" dirty="0">
                <a:cs typeface="Times New Roman" panose="02020603050405020304" pitchFamily="18" charset="0"/>
              </a:rPr>
              <a:t>it was difficult for Muslim candidates to be elected in general elections. </a:t>
            </a:r>
          </a:p>
          <a:p>
            <a:pPr lvl="1">
              <a:buFont typeface="Candara" panose="020E0502030303020204" pitchFamily="34" charset="0"/>
              <a:buChar char="*"/>
            </a:pPr>
            <a:r>
              <a:rPr lang="en-US" sz="1600" dirty="0">
                <a:cs typeface="Times New Roman" panose="02020603050405020304" pitchFamily="18" charset="0"/>
              </a:rPr>
              <a:t>If the two communities were not kept apart at polls, every election would result in riots. 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2000" b="1" dirty="0">
                <a:cs typeface="Times New Roman" panose="02020603050405020304" pitchFamily="18" charset="0"/>
              </a:rPr>
              <a:t>Now or Never Pamphlet 1932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2000" b="1" dirty="0">
                <a:cs typeface="Times New Roman" panose="02020603050405020304" pitchFamily="18" charset="0"/>
              </a:rPr>
              <a:t>Lahore Resolution 1940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2000" b="1" dirty="0">
                <a:cs typeface="Times New Roman" panose="02020603050405020304" pitchFamily="18" charset="0"/>
              </a:rPr>
              <a:t>Demand for a Separate Homeland</a:t>
            </a:r>
          </a:p>
          <a:p>
            <a:pPr>
              <a:buFont typeface="Candara" panose="020E0502030303020204" pitchFamily="34" charset="0"/>
              <a:buChar char="*"/>
            </a:pPr>
            <a:r>
              <a:rPr lang="en-US" sz="2000" b="1" dirty="0">
                <a:cs typeface="Times New Roman" panose="02020603050405020304" pitchFamily="18" charset="0"/>
              </a:rPr>
              <a:t>Creation of Pakistan</a:t>
            </a:r>
          </a:p>
        </p:txBody>
      </p:sp>
      <p:pic>
        <p:nvPicPr>
          <p:cNvPr id="18" name="Picture 17" descr="Three neatly stacked books">
            <a:extLst>
              <a:ext uri="{FF2B5EF4-FFF2-40B4-BE49-F238E27FC236}">
                <a16:creationId xmlns:a16="http://schemas.microsoft.com/office/drawing/2014/main" id="{31784F3C-26E9-58E8-9764-48DDE2CF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21" r="104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832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oks, pens, and a wall clock">
            <a:extLst>
              <a:ext uri="{FF2B5EF4-FFF2-40B4-BE49-F238E27FC236}">
                <a16:creationId xmlns:a16="http://schemas.microsoft.com/office/drawing/2014/main" id="{DCD9367C-4A09-5A59-F197-75DF8F62A7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836" r="3429"/>
          <a:stretch/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0109" y="2121408"/>
            <a:ext cx="6730276" cy="40507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Thank you for your time and attention!</a:t>
            </a:r>
          </a:p>
          <a:p>
            <a:pPr marL="0" indent="0" algn="ctr">
              <a:buNone/>
            </a:pPr>
            <a:endParaRPr lang="en-US" sz="2800" b="1" dirty="0"/>
          </a:p>
          <a:p>
            <a:pPr algn="ctr"/>
            <a:endParaRPr lang="en-US" sz="2800" b="1" dirty="0"/>
          </a:p>
          <a:p>
            <a:pPr marL="0" indent="0" algn="ctr">
              <a:buNone/>
            </a:pPr>
            <a:r>
              <a:rPr lang="en-US" sz="2800" b="1" dirty="0"/>
              <a:t>Hopefully, I will see you in the next class. Until then, take </a:t>
            </a:r>
            <a:r>
              <a:rPr lang="en-US" sz="2800" b="1"/>
              <a:t>care, &amp; have </a:t>
            </a:r>
            <a:r>
              <a:rPr lang="en-US" sz="2800" b="1" dirty="0"/>
              <a:t>a great day!</a:t>
            </a:r>
          </a:p>
          <a:p>
            <a:pPr algn="ctr"/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1350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57</TotalTime>
  <Words>420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Candara</vt:lpstr>
      <vt:lpstr>Rockwell</vt:lpstr>
      <vt:lpstr>Rockwell Condensed</vt:lpstr>
      <vt:lpstr>Rockwell Extra Bold</vt:lpstr>
      <vt:lpstr>Times New Roman</vt:lpstr>
      <vt:lpstr>Wingdings</vt:lpstr>
      <vt:lpstr>Wood Type</vt:lpstr>
      <vt:lpstr>Origin of Two Nations Theory</vt:lpstr>
      <vt:lpstr>Evolution of the Concept</vt:lpstr>
      <vt:lpstr>Evolution of the Concept in India </vt:lpstr>
      <vt:lpstr>Main Proponents</vt:lpstr>
      <vt:lpstr>Materialization of Theory in Pakistan</vt:lpstr>
      <vt:lpstr>M. A. Jinnah’s Approach</vt:lpstr>
      <vt:lpstr>Mandate of the Theory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PMLS</dc:creator>
  <cp:lastModifiedBy>PMLS</cp:lastModifiedBy>
  <cp:revision>16</cp:revision>
  <dcterms:created xsi:type="dcterms:W3CDTF">2025-01-20T20:05:32Z</dcterms:created>
  <dcterms:modified xsi:type="dcterms:W3CDTF">2025-08-20T11:49:30Z</dcterms:modified>
</cp:coreProperties>
</file>