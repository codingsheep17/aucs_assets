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rdo" panose="02020600000000000000" pitchFamily="18" charset="-79"/>
      <p:regular r:id="rId14"/>
    </p:embeddedFont>
    <p:embeddedFont>
      <p:font typeface="Cardo Bold" panose="02020804080000020003" pitchFamily="18" charset="-79"/>
      <p:regular r:id="rId15"/>
    </p:embeddedFont>
    <p:embeddedFont>
      <p:font typeface="Didact Gothic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png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3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.png" /><Relationship Id="rId4" Type="http://schemas.openxmlformats.org/officeDocument/2006/relationships/image" Target="../media/image3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hyperlink" Target="https://www.w3schools.com/cpp/cpp_operators_comparison.asp" TargetMode="External" /><Relationship Id="rId5" Type="http://schemas.openxmlformats.org/officeDocument/2006/relationships/image" Target="../media/image7.png" /><Relationship Id="rId4" Type="http://schemas.openxmlformats.org/officeDocument/2006/relationships/image" Target="../media/image3.sv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78655" y="2990929"/>
            <a:ext cx="10760972" cy="481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Data Types &amp; </a:t>
            </a:r>
          </a:p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Expressions:</a:t>
            </a:r>
          </a:p>
          <a:p>
            <a:pPr algn="ctr">
              <a:lnSpc>
                <a:spcPts val="3961"/>
              </a:lnSpc>
            </a:pPr>
            <a:endParaRPr lang="en-US" sz="10999" spc="-274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  <a:p>
            <a:pPr algn="ctr">
              <a:lnSpc>
                <a:spcPts val="3961"/>
              </a:lnSpc>
            </a:pPr>
            <a:r>
              <a:rPr lang="en-US" sz="3300" spc="-82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By: Mir Faraz Ali</a:t>
            </a:r>
          </a:p>
          <a:p>
            <a:pPr algn="ctr">
              <a:lnSpc>
                <a:spcPts val="3961"/>
              </a:lnSpc>
            </a:pPr>
            <a:r>
              <a:rPr lang="en-US" sz="3300" spc="-82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Programming Fundamentals</a:t>
            </a:r>
          </a:p>
        </p:txBody>
      </p:sp>
      <p:sp>
        <p:nvSpPr>
          <p:cNvPr id="4" name="Freeform 4"/>
          <p:cNvSpPr/>
          <p:nvPr/>
        </p:nvSpPr>
        <p:spPr>
          <a:xfrm>
            <a:off x="7115006" y="247563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15006" y="8134350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31277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4298" y="3956320"/>
            <a:ext cx="17819404" cy="5301980"/>
          </a:xfrm>
          <a:custGeom>
            <a:avLst/>
            <a:gdLst/>
            <a:ahLst/>
            <a:cxnLst/>
            <a:rect l="l" t="t" r="r" b="b"/>
            <a:pathLst>
              <a:path w="17819404" h="5301980">
                <a:moveTo>
                  <a:pt x="0" y="0"/>
                </a:moveTo>
                <a:lnTo>
                  <a:pt x="17819404" y="0"/>
                </a:lnTo>
                <a:lnTo>
                  <a:pt x="17819404" y="5301980"/>
                </a:lnTo>
                <a:lnTo>
                  <a:pt x="0" y="5301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5" r="-64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1090" y="1104900"/>
            <a:ext cx="7507017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Basic Data Types:</a:t>
            </a:r>
          </a:p>
          <a:p>
            <a:pPr algn="l">
              <a:lnSpc>
                <a:spcPts val="7699"/>
              </a:lnSpc>
            </a:pPr>
            <a:endParaRPr lang="en-US" sz="6999" spc="-174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509841" y="2994025"/>
            <a:ext cx="17595896" cy="6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1"/>
              </a:lnSpc>
            </a:pPr>
            <a:r>
              <a:rPr lang="en-US" sz="3658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The data type specifies the size and type of information the variable will store: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9905"/>
            <a:ext cx="11340727" cy="1077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84"/>
              </a:lnSpc>
            </a:pPr>
            <a:r>
              <a:rPr lang="en-US" sz="7622" spc="-19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Numeric Data Types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2750213"/>
            <a:ext cx="18288000" cy="6508087"/>
            <a:chOff x="0" y="0"/>
            <a:chExt cx="4816593" cy="17140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4064"/>
            </a:xfrm>
            <a:custGeom>
              <a:avLst/>
              <a:gdLst/>
              <a:ahLst/>
              <a:cxnLst/>
              <a:rect l="l" t="t" r="r" b="b"/>
              <a:pathLst>
                <a:path w="4816592" h="1714064">
                  <a:moveTo>
                    <a:pt x="0" y="0"/>
                  </a:moveTo>
                  <a:lnTo>
                    <a:pt x="4816592" y="0"/>
                  </a:lnTo>
                  <a:lnTo>
                    <a:pt x="4816592" y="1714064"/>
                  </a:lnTo>
                  <a:lnTo>
                    <a:pt x="0" y="171406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695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3399" y="3057902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Numeric Types: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3519" y="3974649"/>
            <a:ext cx="8353638" cy="3893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6622" lvl="1" indent="-403311" algn="just">
              <a:lnSpc>
                <a:spcPts val="5230"/>
              </a:lnSpc>
              <a:buFont typeface="Arial"/>
              <a:buChar char="•"/>
            </a:pPr>
            <a:r>
              <a:rPr lang="en-US" sz="3736" spc="149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Use int when you need to store a whole number without decimals, like 35 or 1000, and float or double when you need a floating point number (with decimals), like 9.99 or 3.14515.</a:t>
            </a:r>
          </a:p>
        </p:txBody>
      </p:sp>
      <p:sp>
        <p:nvSpPr>
          <p:cNvPr id="9" name="Freeform 9"/>
          <p:cNvSpPr/>
          <p:nvPr/>
        </p:nvSpPr>
        <p:spPr>
          <a:xfrm>
            <a:off x="1518601" y="2090954"/>
            <a:ext cx="5321465" cy="159644"/>
          </a:xfrm>
          <a:custGeom>
            <a:avLst/>
            <a:gdLst/>
            <a:ahLst/>
            <a:cxnLst/>
            <a:rect l="l" t="t" r="r" b="b"/>
            <a:pathLst>
              <a:path w="5321465" h="159644">
                <a:moveTo>
                  <a:pt x="0" y="0"/>
                </a:moveTo>
                <a:lnTo>
                  <a:pt x="5321466" y="0"/>
                </a:lnTo>
                <a:lnTo>
                  <a:pt x="5321466" y="159644"/>
                </a:lnTo>
                <a:lnTo>
                  <a:pt x="0" y="1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734915" y="3057902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Int: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0296" y="3599046"/>
            <a:ext cx="10764474" cy="117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5"/>
              </a:lnSpc>
            </a:pPr>
            <a:r>
              <a:rPr lang="en-US" sz="3396" spc="135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myNum = 1000;</a:t>
            </a:r>
          </a:p>
          <a:p>
            <a:pPr algn="just">
              <a:lnSpc>
                <a:spcPts val="4755"/>
              </a:lnSpc>
            </a:pPr>
            <a:r>
              <a:rPr lang="en-US" sz="3396" spc="135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myNum;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5390" y="4853878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Float: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90296" y="5461697"/>
            <a:ext cx="10764474" cy="117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5"/>
              </a:lnSpc>
            </a:pPr>
            <a:r>
              <a:rPr lang="en-US" sz="3396" spc="135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float myNum = 5.75;</a:t>
            </a:r>
          </a:p>
          <a:p>
            <a:pPr algn="just">
              <a:lnSpc>
                <a:spcPts val="4755"/>
              </a:lnSpc>
            </a:pPr>
            <a:r>
              <a:rPr lang="en-US" sz="3396" spc="135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myNum;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4915" y="6652322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Double: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90296" y="7193467"/>
            <a:ext cx="10764474" cy="117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5"/>
              </a:lnSpc>
            </a:pPr>
            <a:r>
              <a:rPr lang="en-US" sz="3396" spc="135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double myNum = 19.99;</a:t>
            </a:r>
          </a:p>
          <a:p>
            <a:pPr algn="just">
              <a:lnSpc>
                <a:spcPts val="4755"/>
              </a:lnSpc>
            </a:pPr>
            <a:r>
              <a:rPr lang="en-US" sz="3396" spc="135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myNum;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9905"/>
            <a:ext cx="11340727" cy="213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84"/>
              </a:lnSpc>
            </a:pPr>
            <a:r>
              <a:rPr lang="en-US" sz="7622" spc="-19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Boolean Data Types</a:t>
            </a:r>
          </a:p>
          <a:p>
            <a:pPr algn="just">
              <a:lnSpc>
                <a:spcPts val="8384"/>
              </a:lnSpc>
            </a:pPr>
            <a:endParaRPr lang="en-US" sz="7622" spc="-190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2750213"/>
            <a:ext cx="18288000" cy="6508087"/>
            <a:chOff x="0" y="0"/>
            <a:chExt cx="4816593" cy="17140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4064"/>
            </a:xfrm>
            <a:custGeom>
              <a:avLst/>
              <a:gdLst/>
              <a:ahLst/>
              <a:cxnLst/>
              <a:rect l="l" t="t" r="r" b="b"/>
              <a:pathLst>
                <a:path w="4816592" h="1714064">
                  <a:moveTo>
                    <a:pt x="0" y="0"/>
                  </a:moveTo>
                  <a:lnTo>
                    <a:pt x="4816592" y="0"/>
                  </a:lnTo>
                  <a:lnTo>
                    <a:pt x="4816592" y="1714064"/>
                  </a:lnTo>
                  <a:lnTo>
                    <a:pt x="0" y="171406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695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3399" y="3057902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Boolean Types: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3519" y="3929629"/>
            <a:ext cx="8070280" cy="406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3181" lvl="1" indent="-421590" algn="just">
              <a:lnSpc>
                <a:spcPts val="5467"/>
              </a:lnSpc>
              <a:buFont typeface="Arial"/>
              <a:buChar char="•"/>
            </a:pPr>
            <a:r>
              <a:rPr lang="en-US" sz="3905" spc="15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 boolean data type is declared with the bool keyword and can only take the values true or false.</a:t>
            </a:r>
          </a:p>
          <a:p>
            <a:pPr marL="843181" lvl="1" indent="-421590" algn="just">
              <a:lnSpc>
                <a:spcPts val="5467"/>
              </a:lnSpc>
              <a:buFont typeface="Arial"/>
              <a:buChar char="•"/>
            </a:pPr>
            <a:r>
              <a:rPr lang="en-US" sz="3905" spc="15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When the value is returned, true = 1 and false = 0.</a:t>
            </a:r>
          </a:p>
        </p:txBody>
      </p:sp>
      <p:sp>
        <p:nvSpPr>
          <p:cNvPr id="9" name="Freeform 9"/>
          <p:cNvSpPr/>
          <p:nvPr/>
        </p:nvSpPr>
        <p:spPr>
          <a:xfrm>
            <a:off x="1518601" y="2090954"/>
            <a:ext cx="5321465" cy="159644"/>
          </a:xfrm>
          <a:custGeom>
            <a:avLst/>
            <a:gdLst/>
            <a:ahLst/>
            <a:cxnLst/>
            <a:rect l="l" t="t" r="r" b="b"/>
            <a:pathLst>
              <a:path w="5321465" h="159644">
                <a:moveTo>
                  <a:pt x="0" y="0"/>
                </a:moveTo>
                <a:lnTo>
                  <a:pt x="5321466" y="0"/>
                </a:lnTo>
                <a:lnTo>
                  <a:pt x="5321466" y="159644"/>
                </a:lnTo>
                <a:lnTo>
                  <a:pt x="0" y="1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369277" y="3027328"/>
            <a:ext cx="5994850" cy="62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338" lvl="1" indent="-469669" algn="l">
              <a:lnSpc>
                <a:spcPts val="4916"/>
              </a:lnSpc>
              <a:buFont typeface="Arial"/>
              <a:buChar char="•"/>
            </a:pPr>
            <a:r>
              <a:rPr lang="en-US" sz="4350" b="1" spc="34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46261" y="4143707"/>
            <a:ext cx="11435734" cy="253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bool isCodingFun = true;</a:t>
            </a:r>
          </a:p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bool isFishTasty = false;</a:t>
            </a:r>
          </a:p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isCodingFun;  // Outputs 1 (true)</a:t>
            </a:r>
          </a:p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isFishTasty;  // Outputs 0 (false)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9905"/>
            <a:ext cx="11340727" cy="213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84"/>
              </a:lnSpc>
            </a:pPr>
            <a:r>
              <a:rPr lang="en-US" sz="7622" spc="-19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Character Data Types</a:t>
            </a:r>
          </a:p>
          <a:p>
            <a:pPr algn="just">
              <a:lnSpc>
                <a:spcPts val="8384"/>
              </a:lnSpc>
            </a:pPr>
            <a:endParaRPr lang="en-US" sz="7622" spc="-190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2750213"/>
            <a:ext cx="18288000" cy="6508087"/>
            <a:chOff x="0" y="0"/>
            <a:chExt cx="4816593" cy="17140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4064"/>
            </a:xfrm>
            <a:custGeom>
              <a:avLst/>
              <a:gdLst/>
              <a:ahLst/>
              <a:cxnLst/>
              <a:rect l="l" t="t" r="r" b="b"/>
              <a:pathLst>
                <a:path w="4816592" h="1714064">
                  <a:moveTo>
                    <a:pt x="0" y="0"/>
                  </a:moveTo>
                  <a:lnTo>
                    <a:pt x="4816592" y="0"/>
                  </a:lnTo>
                  <a:lnTo>
                    <a:pt x="4816592" y="1714064"/>
                  </a:lnTo>
                  <a:lnTo>
                    <a:pt x="0" y="171406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695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3399" y="3057902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Character Types: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499" y="3801538"/>
            <a:ext cx="7146267" cy="540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6640" lvl="1" indent="-373320" algn="just">
              <a:lnSpc>
                <a:spcPts val="4841"/>
              </a:lnSpc>
              <a:buFont typeface="Arial"/>
              <a:buChar char="•"/>
            </a:pPr>
            <a:r>
              <a:rPr lang="en-US" sz="3458" spc="13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char data type is used to store a single character. The character must be surrounded by single quotes, like 'A' or 'c':</a:t>
            </a:r>
          </a:p>
          <a:p>
            <a:pPr algn="just">
              <a:lnSpc>
                <a:spcPts val="4841"/>
              </a:lnSpc>
            </a:pPr>
            <a:endParaRPr lang="en-US" sz="3458" spc="138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746640" lvl="1" indent="-373320" algn="just">
              <a:lnSpc>
                <a:spcPts val="4841"/>
              </a:lnSpc>
              <a:buFont typeface="Arial"/>
              <a:buChar char="•"/>
            </a:pPr>
            <a:r>
              <a:rPr lang="en-US" sz="3458" spc="13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Alternatively, if you are familiar with ASCII, you can use ASCII values to display certain characters:</a:t>
            </a:r>
          </a:p>
        </p:txBody>
      </p:sp>
      <p:sp>
        <p:nvSpPr>
          <p:cNvPr id="9" name="Freeform 9"/>
          <p:cNvSpPr/>
          <p:nvPr/>
        </p:nvSpPr>
        <p:spPr>
          <a:xfrm>
            <a:off x="1518601" y="2090954"/>
            <a:ext cx="5321465" cy="159644"/>
          </a:xfrm>
          <a:custGeom>
            <a:avLst/>
            <a:gdLst/>
            <a:ahLst/>
            <a:cxnLst/>
            <a:rect l="l" t="t" r="r" b="b"/>
            <a:pathLst>
              <a:path w="5321465" h="159644">
                <a:moveTo>
                  <a:pt x="0" y="0"/>
                </a:moveTo>
                <a:lnTo>
                  <a:pt x="5321466" y="0"/>
                </a:lnTo>
                <a:lnTo>
                  <a:pt x="5321466" y="159644"/>
                </a:lnTo>
                <a:lnTo>
                  <a:pt x="0" y="1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372002" y="3356050"/>
            <a:ext cx="5994850" cy="62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338" lvl="1" indent="-469669" algn="l">
              <a:lnSpc>
                <a:spcPts val="4916"/>
              </a:lnSpc>
              <a:buFont typeface="Arial"/>
              <a:buChar char="•"/>
            </a:pPr>
            <a:r>
              <a:rPr lang="en-US" sz="4350" b="1" spc="34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73951" y="4283170"/>
            <a:ext cx="11435734" cy="1252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char myGrade = 'B';</a:t>
            </a:r>
          </a:p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myGrade;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6697" y="6163006"/>
            <a:ext cx="5994850" cy="62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338" lvl="1" indent="-469669" algn="l">
              <a:lnSpc>
                <a:spcPts val="4916"/>
              </a:lnSpc>
              <a:buFont typeface="Arial"/>
              <a:buChar char="•"/>
            </a:pPr>
            <a:r>
              <a:rPr lang="en-US" sz="4350" b="1" spc="34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73951" y="6829974"/>
            <a:ext cx="10803937" cy="2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6077" lvl="1" indent="-368038" algn="just">
              <a:lnSpc>
                <a:spcPts val="4773"/>
              </a:lnSpc>
              <a:buFont typeface="Arial"/>
              <a:buChar char="•"/>
            </a:pPr>
            <a:r>
              <a:rPr lang="en-US" sz="3409" spc="13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char a = 65, b = 66, c = 67;</a:t>
            </a:r>
          </a:p>
          <a:p>
            <a:pPr marL="736077" lvl="1" indent="-368038" algn="just">
              <a:lnSpc>
                <a:spcPts val="4773"/>
              </a:lnSpc>
              <a:buFont typeface="Arial"/>
              <a:buChar char="•"/>
            </a:pPr>
            <a:r>
              <a:rPr lang="en-US" sz="3409" spc="13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a;</a:t>
            </a:r>
          </a:p>
          <a:p>
            <a:pPr marL="736077" lvl="1" indent="-368038" algn="just">
              <a:lnSpc>
                <a:spcPts val="4773"/>
              </a:lnSpc>
              <a:buFont typeface="Arial"/>
              <a:buChar char="•"/>
            </a:pPr>
            <a:r>
              <a:rPr lang="en-US" sz="3409" spc="13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b;</a:t>
            </a:r>
          </a:p>
          <a:p>
            <a:pPr marL="736077" lvl="1" indent="-368038" algn="just">
              <a:lnSpc>
                <a:spcPts val="4773"/>
              </a:lnSpc>
              <a:buFont typeface="Arial"/>
              <a:buChar char="•"/>
            </a:pPr>
            <a:r>
              <a:rPr lang="en-US" sz="3409" spc="13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c;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9905"/>
            <a:ext cx="11340727" cy="319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84"/>
              </a:lnSpc>
            </a:pPr>
            <a:r>
              <a:rPr lang="en-US" sz="7622" spc="-19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String Data Types</a:t>
            </a:r>
          </a:p>
          <a:p>
            <a:pPr algn="just">
              <a:lnSpc>
                <a:spcPts val="8384"/>
              </a:lnSpc>
            </a:pPr>
            <a:endParaRPr lang="en-US" sz="7622" spc="-190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8384"/>
              </a:lnSpc>
            </a:pPr>
            <a:endParaRPr lang="en-US" sz="7622" spc="-190">
              <a:solidFill>
                <a:srgbClr val="0D0D0D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2750213"/>
            <a:ext cx="18288000" cy="7038710"/>
            <a:chOff x="0" y="0"/>
            <a:chExt cx="4816593" cy="18538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853817"/>
            </a:xfrm>
            <a:custGeom>
              <a:avLst/>
              <a:gdLst/>
              <a:ahLst/>
              <a:cxnLst/>
              <a:rect l="l" t="t" r="r" b="b"/>
              <a:pathLst>
                <a:path w="4816592" h="1853817">
                  <a:moveTo>
                    <a:pt x="0" y="0"/>
                  </a:moveTo>
                  <a:lnTo>
                    <a:pt x="4816592" y="0"/>
                  </a:lnTo>
                  <a:lnTo>
                    <a:pt x="4816592" y="1853817"/>
                  </a:lnTo>
                  <a:lnTo>
                    <a:pt x="0" y="1853817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834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8624" y="2971178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b="1" spc="326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String Types: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399" y="3599046"/>
            <a:ext cx="7926007" cy="601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0146" lvl="1" indent="-370073" algn="just">
              <a:lnSpc>
                <a:spcPts val="4799"/>
              </a:lnSpc>
              <a:buFont typeface="Arial"/>
              <a:buChar char="•"/>
            </a:pPr>
            <a:r>
              <a:rPr lang="en-US" sz="3428" spc="13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string type is used to store a sequence of characters (text). This is not a built-in type, but it behaves like one in its most basic usage.</a:t>
            </a:r>
          </a:p>
          <a:p>
            <a:pPr marL="740146" lvl="1" indent="-370073" algn="just">
              <a:lnSpc>
                <a:spcPts val="4799"/>
              </a:lnSpc>
              <a:buFont typeface="Arial"/>
              <a:buChar char="•"/>
            </a:pPr>
            <a:r>
              <a:rPr lang="en-US" sz="3428" spc="13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String values must be surrounded by double quotes:</a:t>
            </a:r>
          </a:p>
          <a:p>
            <a:pPr algn="just">
              <a:lnSpc>
                <a:spcPts val="4799"/>
              </a:lnSpc>
            </a:pPr>
            <a:endParaRPr lang="en-US" sz="3428" spc="137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740146" lvl="1" indent="-370073" algn="just">
              <a:lnSpc>
                <a:spcPts val="4799"/>
              </a:lnSpc>
              <a:buFont typeface="Arial"/>
              <a:buChar char="•"/>
            </a:pPr>
            <a:r>
              <a:rPr lang="en-US" sz="3428" spc="13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To use strings, you must include an additional header file in the source code, the &lt;string&gt; library:</a:t>
            </a:r>
          </a:p>
        </p:txBody>
      </p:sp>
      <p:sp>
        <p:nvSpPr>
          <p:cNvPr id="9" name="Freeform 9"/>
          <p:cNvSpPr/>
          <p:nvPr/>
        </p:nvSpPr>
        <p:spPr>
          <a:xfrm>
            <a:off x="1518601" y="2090954"/>
            <a:ext cx="5321465" cy="159644"/>
          </a:xfrm>
          <a:custGeom>
            <a:avLst/>
            <a:gdLst/>
            <a:ahLst/>
            <a:cxnLst/>
            <a:rect l="l" t="t" r="r" b="b"/>
            <a:pathLst>
              <a:path w="5321465" h="159644">
                <a:moveTo>
                  <a:pt x="0" y="0"/>
                </a:moveTo>
                <a:lnTo>
                  <a:pt x="5321466" y="0"/>
                </a:lnTo>
                <a:lnTo>
                  <a:pt x="5321466" y="159644"/>
                </a:lnTo>
                <a:lnTo>
                  <a:pt x="0" y="159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372002" y="3356050"/>
            <a:ext cx="5994850" cy="62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338" lvl="1" indent="-469669" algn="l">
              <a:lnSpc>
                <a:spcPts val="4916"/>
              </a:lnSpc>
              <a:buFont typeface="Arial"/>
              <a:buChar char="•"/>
            </a:pPr>
            <a:r>
              <a:rPr lang="en-US" sz="4350" b="1" spc="34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73951" y="4283170"/>
            <a:ext cx="11435734" cy="1252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string greeting = "Hello";</a:t>
            </a:r>
          </a:p>
          <a:p>
            <a:pPr algn="just">
              <a:lnSpc>
                <a:spcPts val="5052"/>
              </a:lnSpc>
            </a:pPr>
            <a:r>
              <a:rPr lang="en-US" sz="3608" spc="14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greeting;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6697" y="6077281"/>
            <a:ext cx="5994850" cy="62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338" lvl="1" indent="-469669" algn="l">
              <a:lnSpc>
                <a:spcPts val="4916"/>
              </a:lnSpc>
              <a:buFont typeface="Arial"/>
              <a:buChar char="•"/>
            </a:pPr>
            <a:r>
              <a:rPr lang="en-US" sz="4350" b="1" spc="34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73951" y="6708807"/>
            <a:ext cx="8889912" cy="296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674" lvl="1" indent="-302837" algn="just">
              <a:lnSpc>
                <a:spcPts val="3927"/>
              </a:lnSpc>
              <a:buFont typeface="Arial"/>
              <a:buChar char="•"/>
            </a:pPr>
            <a:r>
              <a:rPr lang="en-US" sz="2805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Include the string library</a:t>
            </a:r>
          </a:p>
          <a:p>
            <a:pPr marL="605674" lvl="1" indent="-302837" algn="just">
              <a:lnSpc>
                <a:spcPts val="3927"/>
              </a:lnSpc>
              <a:buFont typeface="Arial"/>
              <a:buChar char="•"/>
            </a:pPr>
            <a:r>
              <a:rPr lang="en-US" sz="2805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&lt;string&gt;</a:t>
            </a:r>
          </a:p>
          <a:p>
            <a:pPr marL="605674" lvl="1" indent="-302837" algn="just">
              <a:lnSpc>
                <a:spcPts val="3927"/>
              </a:lnSpc>
              <a:buFont typeface="Arial"/>
              <a:buChar char="•"/>
            </a:pPr>
            <a:r>
              <a:rPr lang="en-US" sz="2805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Create a string variable</a:t>
            </a:r>
          </a:p>
          <a:p>
            <a:pPr marL="605674" lvl="1" indent="-302837" algn="just">
              <a:lnSpc>
                <a:spcPts val="3927"/>
              </a:lnSpc>
              <a:buFont typeface="Arial"/>
              <a:buChar char="•"/>
            </a:pPr>
            <a:r>
              <a:rPr lang="en-US" sz="2805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string greeting = "Hello";</a:t>
            </a:r>
          </a:p>
          <a:p>
            <a:pPr marL="605674" lvl="1" indent="-302837" algn="just">
              <a:lnSpc>
                <a:spcPts val="3927"/>
              </a:lnSpc>
              <a:buFont typeface="Arial"/>
              <a:buChar char="•"/>
            </a:pPr>
            <a:r>
              <a:rPr lang="en-US" sz="2805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Output string value</a:t>
            </a:r>
          </a:p>
          <a:p>
            <a:pPr marL="605674" lvl="1" indent="-302837" algn="just">
              <a:lnSpc>
                <a:spcPts val="3927"/>
              </a:lnSpc>
              <a:buFont typeface="Arial"/>
              <a:buChar char="•"/>
            </a:pPr>
            <a:r>
              <a:rPr lang="en-US" sz="2805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greeting;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3447" y="3452380"/>
            <a:ext cx="13556275" cy="566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Create variables of different data types</a:t>
            </a: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items = 50;</a:t>
            </a: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double cost_per_item = 9.99;</a:t>
            </a: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double total_cost = items * cost_per_item;</a:t>
            </a: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char currency = '$';</a:t>
            </a:r>
          </a:p>
          <a:p>
            <a:pPr algn="just">
              <a:lnSpc>
                <a:spcPts val="4563"/>
              </a:lnSpc>
            </a:pPr>
            <a:endParaRPr lang="en-US" sz="3259" spc="13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Print variables</a:t>
            </a: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"Number of items: " &lt;&lt; items &lt;&lt; "\n";</a:t>
            </a:r>
          </a:p>
          <a:p>
            <a:pPr algn="just">
              <a:lnSpc>
                <a:spcPts val="4563"/>
              </a:lnSpc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"Cost per item: " &lt;&lt; cost_per_item &lt;&lt; currency &lt;&lt; "\n";</a:t>
            </a:r>
          </a:p>
          <a:p>
            <a:pPr algn="just">
              <a:lnSpc>
                <a:spcPts val="4563"/>
              </a:lnSpc>
              <a:spcBef>
                <a:spcPct val="0"/>
              </a:spcBef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"Total cost = " &lt;&lt; total_cost &lt;&lt; currency &lt;&lt; "\n";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104900"/>
            <a:ext cx="9449592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Real life Example: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226760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211475"/>
            <a:ext cx="7407566" cy="8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1"/>
              </a:lnSpc>
            </a:pPr>
            <a:r>
              <a:rPr lang="en-US" sz="5874" spc="-146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Operators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3831683"/>
            <a:ext cx="18288000" cy="6070498"/>
            <a:chOff x="0" y="0"/>
            <a:chExt cx="4816593" cy="1598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598814"/>
            </a:xfrm>
            <a:custGeom>
              <a:avLst/>
              <a:gdLst/>
              <a:ahLst/>
              <a:cxnLst/>
              <a:rect l="l" t="t" r="r" b="b"/>
              <a:pathLst>
                <a:path w="4816592" h="1598814">
                  <a:moveTo>
                    <a:pt x="0" y="0"/>
                  </a:moveTo>
                  <a:lnTo>
                    <a:pt x="4816592" y="0"/>
                  </a:lnTo>
                  <a:lnTo>
                    <a:pt x="4816592" y="1598814"/>
                  </a:lnTo>
                  <a:lnTo>
                    <a:pt x="0" y="159881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579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8530" y="4231559"/>
            <a:ext cx="5298328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4079" lvl="1" indent="-322040" algn="l">
              <a:lnSpc>
                <a:spcPts val="3371"/>
              </a:lnSpc>
              <a:buFont typeface="Arial"/>
              <a:buChar char="•"/>
            </a:pPr>
            <a:r>
              <a:rPr lang="en-US" sz="2983" b="1" spc="23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C++ Operators: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3424" y="6663172"/>
            <a:ext cx="4223434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983" b="1" spc="238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int x = 100 + 50;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99381" y="5634248"/>
            <a:ext cx="6006336" cy="59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5974" lvl="1" indent="-457987" algn="l">
              <a:lnSpc>
                <a:spcPts val="4794"/>
              </a:lnSpc>
              <a:buFont typeface="Arial"/>
              <a:buChar char="•"/>
            </a:pPr>
            <a:r>
              <a:rPr lang="en-US" sz="4242" b="1" spc="339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5575" y="4620030"/>
            <a:ext cx="7570690" cy="191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431" lvl="1" indent="-316216" algn="just">
              <a:lnSpc>
                <a:spcPts val="3808"/>
              </a:lnSpc>
              <a:buFont typeface="Arial"/>
              <a:buChar char="•"/>
            </a:pPr>
            <a:r>
              <a:rPr lang="en-US" sz="2929" spc="11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Operators are used to perform operations on variables and values.</a:t>
            </a:r>
          </a:p>
          <a:p>
            <a:pPr marL="632431" lvl="1" indent="-316216" algn="just">
              <a:lnSpc>
                <a:spcPts val="3808"/>
              </a:lnSpc>
              <a:buFont typeface="Arial"/>
              <a:buChar char="•"/>
            </a:pPr>
            <a:r>
              <a:rPr lang="en-US" sz="2929" spc="11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 the example below, we use the + operator to add together two values: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4833" y="7175468"/>
            <a:ext cx="8115300" cy="227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354" lvl="1" indent="-303177" algn="just">
              <a:lnSpc>
                <a:spcPts val="3651"/>
              </a:lnSpc>
              <a:buFont typeface="Arial"/>
              <a:buChar char="•"/>
            </a:pPr>
            <a:r>
              <a:rPr lang="en-US" sz="2808" spc="11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Although the + operator is often used to add together two values, like in the example above, it can also be used to add together a variable and a value, or a variable and another variable: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61186" y="6515116"/>
            <a:ext cx="9033801" cy="118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8"/>
              </a:lnSpc>
            </a:pPr>
            <a:r>
              <a:rPr lang="en-US" sz="2452" spc="9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sum1 = 100 + 50;        // 150 (100 + 50)</a:t>
            </a:r>
          </a:p>
          <a:p>
            <a:pPr algn="just">
              <a:lnSpc>
                <a:spcPts val="3188"/>
              </a:lnSpc>
            </a:pPr>
            <a:r>
              <a:rPr lang="en-US" sz="2452" spc="9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sum2 = sum1 + 250;      // 400 (150 + 250)</a:t>
            </a:r>
          </a:p>
          <a:p>
            <a:pPr algn="just">
              <a:lnSpc>
                <a:spcPts val="3188"/>
              </a:lnSpc>
            </a:pPr>
            <a:r>
              <a:rPr lang="en-US" sz="2452" spc="9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sum3 = sum2 + sum2;     // 800 (400 + 400)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3296670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6760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5037" y="3481391"/>
            <a:ext cx="15975404" cy="6490008"/>
          </a:xfrm>
          <a:custGeom>
            <a:avLst/>
            <a:gdLst/>
            <a:ahLst/>
            <a:cxnLst/>
            <a:rect l="l" t="t" r="r" b="b"/>
            <a:pathLst>
              <a:path w="15975404" h="6490008">
                <a:moveTo>
                  <a:pt x="0" y="0"/>
                </a:moveTo>
                <a:lnTo>
                  <a:pt x="15975404" y="0"/>
                </a:lnTo>
                <a:lnTo>
                  <a:pt x="15975404" y="6490008"/>
                </a:lnTo>
                <a:lnTo>
                  <a:pt x="0" y="6490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8426" y="2754569"/>
            <a:ext cx="16054889" cy="5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826" lvl="1" indent="-351913" algn="just">
              <a:lnSpc>
                <a:spcPts val="4563"/>
              </a:lnSpc>
              <a:buFont typeface="Arial"/>
              <a:buChar char="•"/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Arithmetic operators are used to perform common mathematical operations.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104900"/>
            <a:ext cx="9449592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Arithmetic Operators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6760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7234" y="3481391"/>
            <a:ext cx="15772066" cy="6427117"/>
          </a:xfrm>
          <a:custGeom>
            <a:avLst/>
            <a:gdLst/>
            <a:ahLst/>
            <a:cxnLst/>
            <a:rect l="l" t="t" r="r" b="b"/>
            <a:pathLst>
              <a:path w="15772066" h="6427117">
                <a:moveTo>
                  <a:pt x="0" y="0"/>
                </a:moveTo>
                <a:lnTo>
                  <a:pt x="15772066" y="0"/>
                </a:lnTo>
                <a:lnTo>
                  <a:pt x="15772066" y="6427117"/>
                </a:lnTo>
                <a:lnTo>
                  <a:pt x="0" y="6427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8426" y="2754569"/>
            <a:ext cx="16054889" cy="5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826" lvl="1" indent="-351913" algn="just">
              <a:lnSpc>
                <a:spcPts val="4563"/>
              </a:lnSpc>
              <a:buFont typeface="Arial"/>
              <a:buChar char="•"/>
            </a:pPr>
            <a:r>
              <a:rPr lang="en-US" sz="3259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 list of all comparison operators: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104900"/>
            <a:ext cx="1221832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Comparison Operators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6760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5916" y="5637122"/>
            <a:ext cx="16950413" cy="3390083"/>
          </a:xfrm>
          <a:custGeom>
            <a:avLst/>
            <a:gdLst/>
            <a:ahLst/>
            <a:cxnLst/>
            <a:rect l="l" t="t" r="r" b="b"/>
            <a:pathLst>
              <a:path w="16950413" h="3390083">
                <a:moveTo>
                  <a:pt x="0" y="0"/>
                </a:moveTo>
                <a:lnTo>
                  <a:pt x="16950413" y="0"/>
                </a:lnTo>
                <a:lnTo>
                  <a:pt x="16950413" y="3390083"/>
                </a:lnTo>
                <a:lnTo>
                  <a:pt x="0" y="3390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5916" y="2927876"/>
            <a:ext cx="15781459" cy="212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022" lvl="1" indent="-331511" algn="just">
              <a:lnSpc>
                <a:spcPts val="4299"/>
              </a:lnSpc>
              <a:buFont typeface="Arial"/>
              <a:buChar char="•"/>
            </a:pPr>
            <a:r>
              <a:rPr lang="en-US" sz="3070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As with </a:t>
            </a:r>
            <a:r>
              <a:rPr lang="en-US" sz="3070" u="sng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  <a:hlinkClick r:id="rId6" tooltip="https://www.w3schools.com/cpp/cpp_operators_comparison.asp"/>
              </a:rPr>
              <a:t>comparison operators</a:t>
            </a:r>
            <a:r>
              <a:rPr lang="en-US" sz="3070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, you can also test for true (1) or false (0) values with logical operators.</a:t>
            </a:r>
          </a:p>
          <a:p>
            <a:pPr marL="663022" lvl="1" indent="-331511" algn="just">
              <a:lnSpc>
                <a:spcPts val="4299"/>
              </a:lnSpc>
              <a:buFont typeface="Arial"/>
              <a:buChar char="•"/>
            </a:pPr>
            <a:r>
              <a:rPr lang="en-US" sz="3070" spc="12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Logical operators are used to determine the logic between variables or values:</a:t>
            </a:r>
          </a:p>
          <a:p>
            <a:pPr algn="just">
              <a:lnSpc>
                <a:spcPts val="4299"/>
              </a:lnSpc>
            </a:pPr>
            <a:endParaRPr lang="en-US" sz="3070" spc="122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104900"/>
            <a:ext cx="1221832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C++ Logical Operators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82" t="-22076" r="-3615" b="-1665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63514" y="4171950"/>
            <a:ext cx="10760972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End Of Class</a:t>
            </a:r>
          </a:p>
        </p:txBody>
      </p:sp>
      <p:sp>
        <p:nvSpPr>
          <p:cNvPr id="4" name="Freeform 4"/>
          <p:cNvSpPr/>
          <p:nvPr/>
        </p:nvSpPr>
        <p:spPr>
          <a:xfrm>
            <a:off x="7115006" y="247563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15006" y="768667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</dc:title>
  <cp:lastModifiedBy>Rafiu Raza</cp:lastModifiedBy>
  <cp:revision>2</cp:revision>
  <dcterms:created xsi:type="dcterms:W3CDTF">2006-08-16T00:00:00Z</dcterms:created>
  <dcterms:modified xsi:type="dcterms:W3CDTF">2025-09-10T04:31:49Z</dcterms:modified>
  <dc:identifier>DAGxoH0_lYo</dc:identifier>
</cp:coreProperties>
</file>