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rdo" panose="02020600000000000000" pitchFamily="18" charset="-79"/>
      <p:regular r:id="rId11"/>
    </p:embeddedFont>
    <p:embeddedFont>
      <p:font typeface="Cardo Bold" panose="02020804080000020003" pitchFamily="18" charset="-79"/>
      <p:regular r:id="rId12"/>
    </p:embeddedFont>
    <p:embeddedFont>
      <p:font typeface="Didact Gothic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3514" y="2943225"/>
            <a:ext cx="10760972" cy="820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Variables and </a:t>
            </a:r>
          </a:p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Assignments</a:t>
            </a:r>
          </a:p>
          <a:p>
            <a:pPr algn="ctr">
              <a:lnSpc>
                <a:spcPts val="4079"/>
              </a:lnSpc>
            </a:pPr>
            <a:endParaRPr lang="en-US" sz="10999" spc="-274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  <a:p>
            <a:pPr algn="ctr">
              <a:lnSpc>
                <a:spcPts val="4079"/>
              </a:lnSpc>
            </a:pPr>
            <a:r>
              <a:rPr lang="en-US" sz="3399" b="1" spc="-84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By: Mir Faraz Ali</a:t>
            </a:r>
          </a:p>
          <a:p>
            <a:pPr algn="ctr">
              <a:lnSpc>
                <a:spcPts val="4079"/>
              </a:lnSpc>
            </a:pPr>
            <a:r>
              <a:rPr lang="en-US" sz="3399" b="1" spc="-84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programming Fundamentals</a:t>
            </a:r>
          </a:p>
          <a:p>
            <a:pPr algn="ctr">
              <a:lnSpc>
                <a:spcPts val="13199"/>
              </a:lnSpc>
            </a:pPr>
            <a:endParaRPr lang="en-US" sz="3399" b="1" spc="-84">
              <a:solidFill>
                <a:srgbClr val="0D0D0D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ctr">
              <a:lnSpc>
                <a:spcPts val="13199"/>
              </a:lnSpc>
            </a:pPr>
            <a:endParaRPr lang="en-US" sz="3399" b="1" spc="-84">
              <a:solidFill>
                <a:srgbClr val="0D0D0D"/>
              </a:solidFill>
              <a:latin typeface="Cardo Bold"/>
              <a:ea typeface="Cardo Bold"/>
              <a:cs typeface="Cardo Bold"/>
              <a:sym typeface="Cardo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850582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7012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0093" y="2801639"/>
            <a:ext cx="15769107" cy="630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45"/>
              </a:lnSpc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Variables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are containers for storing data values.</a:t>
            </a:r>
          </a:p>
          <a:p>
            <a:pPr algn="just">
              <a:lnSpc>
                <a:spcPts val="4545"/>
              </a:lnSpc>
            </a:pP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 C++, there are different types of variables (defined with different keywords).</a:t>
            </a:r>
          </a:p>
          <a:p>
            <a:pPr algn="just">
              <a:lnSpc>
                <a:spcPts val="4545"/>
              </a:lnSpc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For example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:</a:t>
            </a:r>
          </a:p>
          <a:p>
            <a:pPr marL="701036" lvl="1" indent="-350518" algn="just">
              <a:lnSpc>
                <a:spcPts val="4545"/>
              </a:lnSpc>
              <a:buFont typeface="Arial"/>
              <a:buChar char="•"/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- stores integers (whole numbers), without decimals, such as 123 or -123</a:t>
            </a:r>
          </a:p>
          <a:p>
            <a:pPr marL="701036" lvl="1" indent="-350518" algn="just">
              <a:lnSpc>
                <a:spcPts val="4545"/>
              </a:lnSpc>
              <a:buFont typeface="Arial"/>
              <a:buChar char="•"/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double 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- stores floating point numbers, with decimals, such as 19.99 or -19.99</a:t>
            </a:r>
          </a:p>
          <a:p>
            <a:pPr marL="701036" lvl="1" indent="-350518" algn="just">
              <a:lnSpc>
                <a:spcPts val="4545"/>
              </a:lnSpc>
              <a:buFont typeface="Arial"/>
              <a:buChar char="•"/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char 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- stores single characters, such as 'a' or 'B'. Char values are surrounded by single quotes</a:t>
            </a:r>
          </a:p>
          <a:p>
            <a:pPr marL="701036" lvl="1" indent="-350518" algn="just">
              <a:lnSpc>
                <a:spcPts val="4545"/>
              </a:lnSpc>
              <a:buFont typeface="Arial"/>
              <a:buChar char="•"/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string 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- stores text, such as "Hello World". String values are surrounded by double quotes</a:t>
            </a:r>
          </a:p>
          <a:p>
            <a:pPr marL="701036" lvl="1" indent="-350518" algn="just">
              <a:lnSpc>
                <a:spcPts val="4545"/>
              </a:lnSpc>
              <a:buFont typeface="Arial"/>
              <a:buChar char="•"/>
            </a:pPr>
            <a:r>
              <a:rPr lang="en-US" sz="3247" b="1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bool </a:t>
            </a:r>
            <a:r>
              <a:rPr lang="en-US" sz="3247" spc="12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- stores values with two states: true or false</a:t>
            </a:r>
          </a:p>
          <a:p>
            <a:pPr algn="just">
              <a:lnSpc>
                <a:spcPts val="4545"/>
              </a:lnSpc>
              <a:spcBef>
                <a:spcPct val="0"/>
              </a:spcBef>
            </a:pPr>
            <a:endParaRPr lang="en-US" sz="3247" spc="129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114425"/>
            <a:ext cx="8361005" cy="109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7796" spc="-19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476251" y="1346137"/>
            <a:ext cx="9420882" cy="110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595"/>
              </a:lnSpc>
            </a:pPr>
            <a:r>
              <a:rPr lang="en-US" sz="7814" spc="-195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Variable Declarations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4370936"/>
            <a:ext cx="18288000" cy="5283773"/>
            <a:chOff x="0" y="0"/>
            <a:chExt cx="4816593" cy="13916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391611"/>
            </a:xfrm>
            <a:custGeom>
              <a:avLst/>
              <a:gdLst/>
              <a:ahLst/>
              <a:cxnLst/>
              <a:rect l="l" t="t" r="r" b="b"/>
              <a:pathLst>
                <a:path w="4816592" h="1391611">
                  <a:moveTo>
                    <a:pt x="0" y="0"/>
                  </a:moveTo>
                  <a:lnTo>
                    <a:pt x="4816592" y="0"/>
                  </a:lnTo>
                  <a:lnTo>
                    <a:pt x="4816592" y="1391611"/>
                  </a:lnTo>
                  <a:lnTo>
                    <a:pt x="0" y="1391611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372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91049" y="4614780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spc="326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Identifiers: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5516" y="5517875"/>
            <a:ext cx="7917829" cy="371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497" lvl="1" indent="-330748" algn="just">
              <a:lnSpc>
                <a:spcPts val="4289"/>
              </a:lnSpc>
              <a:buFont typeface="Arial"/>
              <a:buChar char="•"/>
            </a:pPr>
            <a:r>
              <a:rPr lang="en-US" sz="3063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All C++ variables must be identified with unique names.</a:t>
            </a:r>
          </a:p>
          <a:p>
            <a:pPr marL="661497" lvl="1" indent="-330748" algn="just">
              <a:lnSpc>
                <a:spcPts val="4289"/>
              </a:lnSpc>
              <a:buFont typeface="Arial"/>
              <a:buChar char="•"/>
            </a:pPr>
            <a:r>
              <a:rPr lang="en-US" sz="3063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These unique names are called identifiers.</a:t>
            </a:r>
          </a:p>
          <a:p>
            <a:pPr marL="661497" lvl="1" indent="-330748" algn="just">
              <a:lnSpc>
                <a:spcPts val="4289"/>
              </a:lnSpc>
              <a:buFont typeface="Arial"/>
              <a:buChar char="•"/>
            </a:pPr>
            <a:r>
              <a:rPr lang="en-US" sz="3063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Identifiers can be short names (like x and y) or more descriptive names (age, sum, totalVolume).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44631" y="4624305"/>
            <a:ext cx="9343369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spc="326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Declaring (Creating) Variables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54821" y="5384525"/>
            <a:ext cx="8290556" cy="42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9"/>
              </a:lnSpc>
            </a:pPr>
            <a:r>
              <a:rPr lang="en-US" sz="3056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Syntax:</a:t>
            </a:r>
          </a:p>
          <a:p>
            <a:pPr algn="just">
              <a:lnSpc>
                <a:spcPts val="4279"/>
              </a:lnSpc>
            </a:pPr>
            <a:r>
              <a:rPr lang="en-US" sz="3056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Datatype variableName = value;</a:t>
            </a:r>
          </a:p>
          <a:p>
            <a:pPr algn="just">
              <a:lnSpc>
                <a:spcPts val="4279"/>
              </a:lnSpc>
            </a:pPr>
            <a:endParaRPr lang="en-US" sz="3056" spc="122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4279"/>
              </a:lnSpc>
            </a:pPr>
            <a:r>
              <a:rPr lang="en-US" sz="3056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Where Datatype is one of C++ types (such as int), and variableName is the name of the variable (such as x or myName). The equal sign is used to assign values to the variable.</a:t>
            </a:r>
          </a:p>
          <a:p>
            <a:pPr algn="just">
              <a:lnSpc>
                <a:spcPts val="4279"/>
              </a:lnSpc>
            </a:pPr>
            <a:endParaRPr lang="en-US" sz="3056" spc="122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815385" y="403964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9" y="0"/>
                </a:lnTo>
                <a:lnTo>
                  <a:pt x="4057989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98350" y="2434745"/>
            <a:ext cx="605025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40"/>
              </a:lnSpc>
            </a:pPr>
            <a:r>
              <a:rPr lang="en-US" sz="7314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&amp; Identifiers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0856" y="2679410"/>
            <a:ext cx="14948215" cy="688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Create a variable called myNum of type int and assign it the value 15:</a:t>
            </a: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myNum = 15;</a:t>
            </a: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myNum;</a:t>
            </a:r>
          </a:p>
          <a:p>
            <a:pPr algn="just">
              <a:lnSpc>
                <a:spcPts val="5032"/>
              </a:lnSpc>
            </a:pPr>
            <a:endParaRPr lang="en-US" sz="3594" spc="143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5032"/>
              </a:lnSpc>
            </a:pPr>
            <a:endParaRPr lang="en-US" sz="3594" spc="143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You can also declare a variable without assigning the value, and assign the value later:</a:t>
            </a: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myNum;</a:t>
            </a: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myNum = 15;</a:t>
            </a:r>
          </a:p>
          <a:p>
            <a:pPr marL="776095" lvl="1" indent="-388048" algn="just">
              <a:lnSpc>
                <a:spcPts val="5032"/>
              </a:lnSpc>
              <a:buFont typeface="Arial"/>
              <a:buChar char="•"/>
            </a:pPr>
            <a:r>
              <a:rPr lang="en-US" sz="3594" spc="143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myNum;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3640" y="1104900"/>
            <a:ext cx="9449592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Examples:</a:t>
            </a:r>
          </a:p>
        </p:txBody>
      </p:sp>
      <p:sp>
        <p:nvSpPr>
          <p:cNvPr id="5" name="Freeform 5"/>
          <p:cNvSpPr/>
          <p:nvPr/>
        </p:nvSpPr>
        <p:spPr>
          <a:xfrm>
            <a:off x="893640" y="235764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119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815660"/>
            <a:ext cx="18288000" cy="5915102"/>
            <a:chOff x="0" y="0"/>
            <a:chExt cx="4816593" cy="15578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557887"/>
            </a:xfrm>
            <a:custGeom>
              <a:avLst/>
              <a:gdLst/>
              <a:ahLst/>
              <a:cxnLst/>
              <a:rect l="l" t="t" r="r" b="b"/>
              <a:pathLst>
                <a:path w="4816592" h="1557887">
                  <a:moveTo>
                    <a:pt x="0" y="0"/>
                  </a:moveTo>
                  <a:lnTo>
                    <a:pt x="4816592" y="0"/>
                  </a:lnTo>
                  <a:lnTo>
                    <a:pt x="4816592" y="1557887"/>
                  </a:lnTo>
                  <a:lnTo>
                    <a:pt x="0" y="1557887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816593" cy="1538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13561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6969" y="3819755"/>
            <a:ext cx="8591085" cy="6142626"/>
          </a:xfrm>
          <a:custGeom>
            <a:avLst/>
            <a:gdLst/>
            <a:ahLst/>
            <a:cxnLst/>
            <a:rect l="l" t="t" r="r" b="b"/>
            <a:pathLst>
              <a:path w="8591085" h="6142626">
                <a:moveTo>
                  <a:pt x="0" y="0"/>
                </a:moveTo>
                <a:lnTo>
                  <a:pt x="8591086" y="0"/>
                </a:lnTo>
                <a:lnTo>
                  <a:pt x="8591086" y="6142626"/>
                </a:lnTo>
                <a:lnTo>
                  <a:pt x="0" y="6142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28165" y="4010951"/>
            <a:ext cx="8985602" cy="5964193"/>
          </a:xfrm>
          <a:custGeom>
            <a:avLst/>
            <a:gdLst/>
            <a:ahLst/>
            <a:cxnLst/>
            <a:rect l="l" t="t" r="r" b="b"/>
            <a:pathLst>
              <a:path w="8985602" h="5964193">
                <a:moveTo>
                  <a:pt x="0" y="0"/>
                </a:moveTo>
                <a:lnTo>
                  <a:pt x="8985602" y="0"/>
                </a:lnTo>
                <a:lnTo>
                  <a:pt x="8985602" y="5964194"/>
                </a:lnTo>
                <a:lnTo>
                  <a:pt x="0" y="5964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85850"/>
            <a:ext cx="15478709" cy="79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5604" spc="-14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Declare Many Variables: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400231"/>
            <a:ext cx="11755769" cy="175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673" lvl="1" indent="-360837" algn="ctr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To declare more than one variable of the same type, use a comma-separated list:</a:t>
            </a:r>
          </a:p>
          <a:p>
            <a:pPr algn="ctr">
              <a:lnSpc>
                <a:spcPts val="4679"/>
              </a:lnSpc>
            </a:pPr>
            <a:endParaRPr lang="en-US" sz="3342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119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13561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85850"/>
            <a:ext cx="15478709" cy="79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5604" spc="-140" dirty="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Real Life Example: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5838" y="2438331"/>
            <a:ext cx="17102162" cy="742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Student data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studentID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= 15;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studentAge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= 23;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float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studentFee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= 75.25;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char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studentGrade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= 'B';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Print variables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"Student ID: " &lt;&lt;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studentID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"\n";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"Student Age: " &lt;&lt;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studentAge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"\n";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"Student Fee: " &lt;&lt;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studentFee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"\n";</a:t>
            </a:r>
          </a:p>
          <a:p>
            <a:pPr algn="just">
              <a:lnSpc>
                <a:spcPts val="5885"/>
              </a:lnSpc>
            </a:pP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"Student Grade: " &lt;&lt; </a:t>
            </a:r>
            <a:r>
              <a:rPr lang="en-US" sz="4203" spc="16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studentGrade</a:t>
            </a:r>
            <a:r>
              <a:rPr lang="en-US" sz="4203" spc="16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"\n";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726643"/>
            <a:ext cx="6990492" cy="90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4"/>
              </a:lnSpc>
            </a:pPr>
            <a:r>
              <a:rPr lang="en-US" sz="6376" spc="-159" dirty="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Output: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3263223"/>
            <a:ext cx="18288000" cy="6526408"/>
            <a:chOff x="0" y="0"/>
            <a:chExt cx="4816593" cy="1718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8889"/>
            </a:xfrm>
            <a:custGeom>
              <a:avLst/>
              <a:gdLst/>
              <a:ahLst/>
              <a:cxnLst/>
              <a:rect l="l" t="t" r="r" b="b"/>
              <a:pathLst>
                <a:path w="4816592" h="1718889">
                  <a:moveTo>
                    <a:pt x="0" y="0"/>
                  </a:moveTo>
                  <a:lnTo>
                    <a:pt x="4816592" y="0"/>
                  </a:lnTo>
                  <a:lnTo>
                    <a:pt x="4816592" y="1718889"/>
                  </a:lnTo>
                  <a:lnTo>
                    <a:pt x="0" y="1718889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699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6330" y="3350925"/>
            <a:ext cx="8451340" cy="643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005" lvl="1" indent="-325502" algn="just">
              <a:lnSpc>
                <a:spcPts val="3919"/>
              </a:lnSpc>
              <a:buFont typeface="Arial"/>
              <a:buChar char="•"/>
            </a:pP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</a:t>
            </a:r>
            <a:r>
              <a:rPr lang="en-US" sz="3015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object, together with the </a:t>
            </a:r>
          </a:p>
          <a:p>
            <a:pPr marL="651005" lvl="1" indent="-325502" algn="just">
              <a:lnSpc>
                <a:spcPts val="3919"/>
              </a:lnSpc>
              <a:buFont typeface="Arial"/>
              <a:buChar char="•"/>
            </a:pP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&lt;&lt; operator, is used to output values and print text.</a:t>
            </a:r>
          </a:p>
          <a:p>
            <a:pPr marL="651005" lvl="1" indent="-325502" algn="just">
              <a:lnSpc>
                <a:spcPts val="3919"/>
              </a:lnSpc>
              <a:buFont typeface="Arial"/>
              <a:buChar char="•"/>
            </a:pP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Just remember to surround the text with double quotes (""):</a:t>
            </a:r>
          </a:p>
          <a:p>
            <a:pPr algn="just">
              <a:lnSpc>
                <a:spcPts val="3919"/>
              </a:lnSpc>
            </a:pPr>
            <a:endParaRPr lang="en-US" sz="3015" spc="12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lvl="3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iostream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&gt;</a:t>
            </a:r>
          </a:p>
          <a:p>
            <a:pPr lvl="3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std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;</a:t>
            </a:r>
          </a:p>
          <a:p>
            <a:pPr lvl="3" algn="just">
              <a:lnSpc>
                <a:spcPts val="3919"/>
              </a:lnSpc>
            </a:pPr>
            <a:endParaRPr lang="en-US" sz="3015" i="1" spc="12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lvl="3" algn="just">
              <a:lnSpc>
                <a:spcPts val="3919"/>
              </a:lnSpc>
            </a:pP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main() {</a:t>
            </a:r>
          </a:p>
          <a:p>
            <a:pPr lvl="3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"Hello World!";</a:t>
            </a:r>
          </a:p>
          <a:p>
            <a:pPr lvl="3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return 0;</a:t>
            </a:r>
          </a:p>
          <a:p>
            <a:pPr lvl="3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998" y="3572386"/>
            <a:ext cx="8907747" cy="597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004" lvl="1" indent="-325502" algn="just">
              <a:lnSpc>
                <a:spcPts val="3919"/>
              </a:lnSpc>
              <a:buFont typeface="Arial"/>
              <a:buChar char="•"/>
            </a:pP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You can add as many </a:t>
            </a:r>
            <a:r>
              <a:rPr lang="en-US" sz="3015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015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objects as you want. However, note that it does not insert a new line at the end of the output:</a:t>
            </a:r>
          </a:p>
          <a:p>
            <a:pPr algn="just">
              <a:lnSpc>
                <a:spcPts val="3919"/>
              </a:lnSpc>
            </a:pPr>
            <a:endParaRPr lang="en-US" sz="3015" spc="12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iostream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&gt;</a:t>
            </a: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std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;</a:t>
            </a:r>
          </a:p>
          <a:p>
            <a:pPr lvl="5" algn="just">
              <a:lnSpc>
                <a:spcPts val="3919"/>
              </a:lnSpc>
            </a:pPr>
            <a:endParaRPr lang="en-US" sz="3015" i="1" spc="12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lvl="5" algn="just">
              <a:lnSpc>
                <a:spcPts val="3919"/>
              </a:lnSpc>
            </a:pP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main() {</a:t>
            </a: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"Hello World!";</a:t>
            </a: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</a:t>
            </a:r>
            <a:r>
              <a:rPr lang="en-US" sz="3015" i="1" spc="12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"I am learning C++";</a:t>
            </a: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return 0;</a:t>
            </a:r>
          </a:p>
          <a:p>
            <a:pPr lvl="5" algn="just">
              <a:lnSpc>
                <a:spcPts val="3919"/>
              </a:lnSpc>
            </a:pPr>
            <a:r>
              <a:rPr lang="en-US" sz="3015" i="1" spc="12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2884309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1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682262"/>
            <a:ext cx="733765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5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User Input: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399" y="2970348"/>
            <a:ext cx="9917979" cy="581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260" lvl="1" indent="-395630" algn="just">
              <a:lnSpc>
                <a:spcPts val="5130"/>
              </a:lnSpc>
              <a:buFont typeface="Arial"/>
              <a:buChar char="•"/>
            </a:pPr>
            <a:r>
              <a:rPr lang="en-US" sz="3664" spc="14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You have already learned that cout is used to output (print) values. Now we will use cin to get user input.</a:t>
            </a:r>
          </a:p>
          <a:p>
            <a:pPr marL="791260" lvl="1" indent="-395630" algn="just">
              <a:lnSpc>
                <a:spcPts val="5130"/>
              </a:lnSpc>
              <a:buFont typeface="Arial"/>
              <a:buChar char="•"/>
            </a:pPr>
            <a:r>
              <a:rPr lang="en-US" sz="3664" spc="14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cin is a predefined variable that reads data from the keyboard with the extraction operator (&gt;&gt;).</a:t>
            </a:r>
          </a:p>
          <a:p>
            <a:pPr marL="791260" lvl="1" indent="-395630" algn="just">
              <a:lnSpc>
                <a:spcPts val="5130"/>
              </a:lnSpc>
              <a:buFont typeface="Arial"/>
              <a:buChar char="•"/>
            </a:pPr>
            <a:r>
              <a:rPr lang="en-US" sz="3664" spc="14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 the following example, the user can input a number, which is stored in the variable x. Then we print the value of x: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648585" y="0"/>
            <a:ext cx="7904389" cy="10287000"/>
            <a:chOff x="0" y="0"/>
            <a:chExt cx="2081814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81814" cy="2709333"/>
            </a:xfrm>
            <a:custGeom>
              <a:avLst/>
              <a:gdLst/>
              <a:ahLst/>
              <a:cxnLst/>
              <a:rect l="l" t="t" r="r" b="b"/>
              <a:pathLst>
                <a:path w="2081814" h="2709333">
                  <a:moveTo>
                    <a:pt x="0" y="0"/>
                  </a:moveTo>
                  <a:lnTo>
                    <a:pt x="2081814" y="0"/>
                  </a:lnTo>
                  <a:lnTo>
                    <a:pt x="20818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081814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2549037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391416" y="1672737"/>
            <a:ext cx="2927368" cy="790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2"/>
              </a:lnSpc>
              <a:spcBef>
                <a:spcPct val="0"/>
              </a:spcBef>
            </a:pPr>
            <a:r>
              <a:rPr lang="en-US" sz="5480" spc="219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9918" y="2824346"/>
            <a:ext cx="6961721" cy="538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1381" lvl="1" indent="-405690" algn="just">
              <a:lnSpc>
                <a:spcPts val="5261"/>
              </a:lnSpc>
              <a:buFont typeface="Arial"/>
              <a:buChar char="•"/>
            </a:pPr>
            <a:r>
              <a:rPr lang="en-US" sz="3758" spc="15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x; </a:t>
            </a:r>
          </a:p>
          <a:p>
            <a:pPr marL="405691" lvl="1" algn="just">
              <a:lnSpc>
                <a:spcPts val="5261"/>
              </a:lnSpc>
            </a:pPr>
            <a:endParaRPr lang="en-US" sz="3758" spc="15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811381" lvl="1" indent="-405690" algn="just">
              <a:lnSpc>
                <a:spcPts val="5261"/>
              </a:lnSpc>
              <a:buFont typeface="Arial"/>
              <a:buChar char="•"/>
            </a:pPr>
            <a:r>
              <a:rPr lang="en-US" sz="3758" spc="15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758" spc="15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"Type a number: "; </a:t>
            </a:r>
          </a:p>
          <a:p>
            <a:pPr marL="405691" lvl="1" algn="just">
              <a:lnSpc>
                <a:spcPts val="5261"/>
              </a:lnSpc>
            </a:pPr>
            <a:endParaRPr lang="en-US" sz="3758" spc="15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811381" lvl="1" indent="-405690" algn="just">
              <a:lnSpc>
                <a:spcPts val="5261"/>
              </a:lnSpc>
              <a:buFont typeface="Arial"/>
              <a:buChar char="•"/>
            </a:pPr>
            <a:r>
              <a:rPr lang="en-US" sz="3758" spc="15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cin</a:t>
            </a:r>
            <a:r>
              <a:rPr lang="en-US" sz="3758" spc="15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&gt;&gt; x; </a:t>
            </a:r>
          </a:p>
          <a:p>
            <a:pPr marL="405691" lvl="1" algn="just">
              <a:lnSpc>
                <a:spcPts val="5261"/>
              </a:lnSpc>
            </a:pPr>
            <a:endParaRPr lang="en-US" sz="3758" spc="150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811381" lvl="1" indent="-405690" algn="just">
              <a:lnSpc>
                <a:spcPts val="5261"/>
              </a:lnSpc>
              <a:buFont typeface="Arial"/>
              <a:buChar char="•"/>
            </a:pPr>
            <a:r>
              <a:rPr lang="en-US" sz="3758" spc="150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758" spc="150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"Your number is: " &lt;&lt; x;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82" t="-22076" r="-3615" b="-1665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3514" y="4318114"/>
            <a:ext cx="10760972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End Of Class</a:t>
            </a: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768667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599</Words>
  <Application>Microsoft Office PowerPoint</Application>
  <PresentationFormat>Custom</PresentationFormat>
  <Paragraphs>83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</dc:title>
  <dc:creator>Yasira Shaikh</dc:creator>
  <cp:lastModifiedBy>Rafiu Raza</cp:lastModifiedBy>
  <cp:revision>4</cp:revision>
  <dcterms:created xsi:type="dcterms:W3CDTF">2006-08-16T00:00:00Z</dcterms:created>
  <dcterms:modified xsi:type="dcterms:W3CDTF">2025-09-10T04:32:19Z</dcterms:modified>
  <dc:identifier>DAGxoH0_lYo</dc:identifier>
</cp:coreProperties>
</file>