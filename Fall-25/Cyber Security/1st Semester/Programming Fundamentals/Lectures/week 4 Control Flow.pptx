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rdo" panose="02020600000000000000" pitchFamily="18" charset="-79"/>
      <p:regular r:id="rId19"/>
    </p:embeddedFont>
    <p:embeddedFont>
      <p:font typeface="Cardo Bold" panose="02020804080000020003" pitchFamily="18" charset="-79"/>
      <p:regular r:id="rId20"/>
    </p:embeddedFont>
    <p:embeddedFont>
      <p:font typeface="Didact Gothic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3" Type="http://schemas.openxmlformats.org/officeDocument/2006/relationships/slide" Target="slides/slide2.xml" /><Relationship Id="rId21" Type="http://schemas.openxmlformats.org/officeDocument/2006/relationships/font" Target="fonts/font7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font" Target="fonts/font6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font" Target="fonts/font5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63514" y="3305175"/>
            <a:ext cx="10760972" cy="465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Simple Flow Of </a:t>
            </a:r>
          </a:p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Controls</a:t>
            </a:r>
          </a:p>
          <a:p>
            <a:pPr algn="ctr">
              <a:lnSpc>
                <a:spcPts val="5279"/>
              </a:lnSpc>
            </a:pPr>
            <a:r>
              <a:rPr lang="en-US" sz="4399" spc="-109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By: Mir Faraz Ali </a:t>
            </a:r>
          </a:p>
          <a:p>
            <a:pPr algn="ctr">
              <a:lnSpc>
                <a:spcPts val="5279"/>
              </a:lnSpc>
            </a:pPr>
            <a:r>
              <a:rPr lang="en-US" sz="4399" spc="-109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Programming Fundamentals</a:t>
            </a:r>
          </a:p>
        </p:txBody>
      </p:sp>
      <p:sp>
        <p:nvSpPr>
          <p:cNvPr id="4" name="Freeform 4"/>
          <p:cNvSpPr/>
          <p:nvPr/>
        </p:nvSpPr>
        <p:spPr>
          <a:xfrm>
            <a:off x="7115006" y="2475638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15006" y="858202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679687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3988" y="3019148"/>
            <a:ext cx="11009273" cy="757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Branching allows the program to make decisions and execute different statements based on conditions.</a:t>
            </a: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It is also called decision control.</a:t>
            </a:r>
          </a:p>
          <a:p>
            <a:pPr algn="just">
              <a:lnSpc>
                <a:spcPts val="5518"/>
              </a:lnSpc>
            </a:pPr>
            <a:endParaRPr lang="en-US" sz="3942" spc="157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Explanation:</a:t>
            </a: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Checks a condition (true/false).</a:t>
            </a: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Executes one block if condition is true, another if false.</a:t>
            </a:r>
          </a:p>
          <a:p>
            <a:pPr algn="just">
              <a:lnSpc>
                <a:spcPts val="5518"/>
              </a:lnSpc>
            </a:pPr>
            <a:endParaRPr lang="en-US" sz="3942" spc="157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590550"/>
            <a:ext cx="7507017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A Simple Branching Mechanism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857249" y="4305300"/>
            <a:ext cx="6430751" cy="5333999"/>
            <a:chOff x="0" y="0"/>
            <a:chExt cx="1805363" cy="1411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5363" cy="1411425"/>
            </a:xfrm>
            <a:custGeom>
              <a:avLst/>
              <a:gdLst/>
              <a:ahLst/>
              <a:cxnLst/>
              <a:rect l="l" t="t" r="r" b="b"/>
              <a:pathLst>
                <a:path w="1805363" h="1411425">
                  <a:moveTo>
                    <a:pt x="0" y="0"/>
                  </a:moveTo>
                  <a:lnTo>
                    <a:pt x="1805363" y="0"/>
                  </a:lnTo>
                  <a:lnTo>
                    <a:pt x="1805363" y="1411425"/>
                  </a:lnTo>
                  <a:lnTo>
                    <a:pt x="0" y="14114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805363" cy="1392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74762" y="4780467"/>
            <a:ext cx="5813238" cy="77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70311" lvl="1" indent="-585156" algn="l">
              <a:lnSpc>
                <a:spcPts val="5962"/>
              </a:lnSpc>
              <a:buFont typeface="Arial"/>
              <a:buChar char="•"/>
            </a:pPr>
            <a:r>
              <a:rPr lang="en-US" sz="5420" spc="-135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83363" y="5827752"/>
            <a:ext cx="11009273" cy="343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if (marks &gt;= 50) {</a:t>
            </a: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</a:t>
            </a:r>
            <a:r>
              <a:rPr lang="en-US" sz="3942" spc="157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942" spc="157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"Pass";</a:t>
            </a: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 else {</a:t>
            </a:r>
          </a:p>
          <a:p>
            <a:pPr marL="851102" lvl="1" indent="-425551" algn="just">
              <a:lnSpc>
                <a:spcPts val="5518"/>
              </a:lnSpc>
              <a:buFont typeface="Arial"/>
              <a:buChar char="•"/>
            </a:pPr>
            <a:r>
              <a:rPr lang="en-US" sz="3942" spc="157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</a:t>
            </a:r>
            <a:r>
              <a:rPr lang="en-US" sz="3942" spc="157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942" spc="157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"Fail";</a:t>
            </a:r>
          </a:p>
          <a:p>
            <a:pPr algn="just">
              <a:lnSpc>
                <a:spcPts val="5518"/>
              </a:lnSpc>
            </a:pPr>
            <a:r>
              <a:rPr lang="en-US" sz="3942" spc="157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2513" y="1919656"/>
            <a:ext cx="10489631" cy="1213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365"/>
              </a:lnSpc>
            </a:pPr>
            <a:r>
              <a:rPr lang="en-US" sz="8514" spc="-212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Compound Statements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4370936"/>
            <a:ext cx="18288000" cy="5340707"/>
            <a:chOff x="0" y="0"/>
            <a:chExt cx="4816593" cy="14066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406606"/>
            </a:xfrm>
            <a:custGeom>
              <a:avLst/>
              <a:gdLst/>
              <a:ahLst/>
              <a:cxnLst/>
              <a:rect l="l" t="t" r="r" b="b"/>
              <a:pathLst>
                <a:path w="4816592" h="1406606">
                  <a:moveTo>
                    <a:pt x="0" y="0"/>
                  </a:moveTo>
                  <a:lnTo>
                    <a:pt x="4816592" y="0"/>
                  </a:lnTo>
                  <a:lnTo>
                    <a:pt x="4816592" y="1406606"/>
                  </a:lnTo>
                  <a:lnTo>
                    <a:pt x="0" y="1406606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4816593" cy="1387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91649" y="4545205"/>
            <a:ext cx="5629213" cy="598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2046" lvl="1" indent="-441023" algn="l">
              <a:lnSpc>
                <a:spcPts val="4616"/>
              </a:lnSpc>
              <a:buFont typeface="Arial"/>
              <a:buChar char="•"/>
            </a:pPr>
            <a:r>
              <a:rPr lang="en-US" sz="4085" spc="326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Definition: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171170"/>
            <a:ext cx="7892383" cy="4540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8"/>
              </a:lnSpc>
            </a:pPr>
            <a:r>
              <a:rPr lang="en-US" sz="3270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A group of statements enclosed within { } that acts as a single unit.</a:t>
            </a:r>
          </a:p>
          <a:p>
            <a:pPr algn="just">
              <a:lnSpc>
                <a:spcPts val="4578"/>
              </a:lnSpc>
            </a:pPr>
            <a:r>
              <a:rPr lang="en-US" sz="3270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Explanation:</a:t>
            </a:r>
          </a:p>
          <a:p>
            <a:pPr marL="706142" lvl="1" indent="-353071" algn="just">
              <a:lnSpc>
                <a:spcPts val="4578"/>
              </a:lnSpc>
              <a:buFont typeface="Arial"/>
              <a:buChar char="•"/>
            </a:pPr>
            <a:r>
              <a:rPr lang="en-US" sz="3270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Helps when multiple statements need to be executed under a single condition.</a:t>
            </a:r>
          </a:p>
          <a:p>
            <a:pPr marL="706142" lvl="1" indent="-353071" algn="just">
              <a:lnSpc>
                <a:spcPts val="4578"/>
              </a:lnSpc>
              <a:buFont typeface="Arial"/>
              <a:buChar char="•"/>
            </a:pPr>
            <a:r>
              <a:rPr lang="en-US" sz="3270" spc="13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Improves code readability.</a:t>
            </a:r>
          </a:p>
          <a:p>
            <a:pPr algn="just">
              <a:lnSpc>
                <a:spcPts val="4578"/>
              </a:lnSpc>
            </a:pPr>
            <a:endParaRPr lang="en-US" sz="3270" spc="13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420533" y="4828366"/>
            <a:ext cx="6441881" cy="668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9384" lvl="1" indent="-504692" algn="l">
              <a:lnSpc>
                <a:spcPts val="5283"/>
              </a:lnSpc>
              <a:buFont typeface="Arial"/>
              <a:buChar char="•"/>
            </a:pPr>
            <a:r>
              <a:rPr lang="en-US" sz="4675" spc="3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34617" y="5795898"/>
            <a:ext cx="11243499" cy="242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6"/>
              </a:lnSpc>
            </a:pPr>
            <a:r>
              <a:rPr lang="en-US" sz="3504" spc="14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if (x &gt; 0) {</a:t>
            </a:r>
          </a:p>
          <a:p>
            <a:pPr algn="just">
              <a:lnSpc>
                <a:spcPts val="4906"/>
              </a:lnSpc>
            </a:pPr>
            <a:r>
              <a:rPr lang="en-US" sz="3504" spc="14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y = y + 1;</a:t>
            </a:r>
          </a:p>
          <a:p>
            <a:pPr algn="just">
              <a:lnSpc>
                <a:spcPts val="4906"/>
              </a:lnSpc>
            </a:pPr>
            <a:r>
              <a:rPr lang="en-US" sz="3504" spc="14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"Positive number";</a:t>
            </a:r>
          </a:p>
          <a:p>
            <a:pPr algn="just">
              <a:lnSpc>
                <a:spcPts val="4906"/>
              </a:lnSpc>
            </a:pPr>
            <a:r>
              <a:rPr lang="en-US" sz="3504" spc="14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  <p:sp>
        <p:nvSpPr>
          <p:cNvPr id="11" name="Freeform 11"/>
          <p:cNvSpPr/>
          <p:nvPr/>
        </p:nvSpPr>
        <p:spPr>
          <a:xfrm>
            <a:off x="822951" y="3415633"/>
            <a:ext cx="6884572" cy="206537"/>
          </a:xfrm>
          <a:custGeom>
            <a:avLst/>
            <a:gdLst/>
            <a:ahLst/>
            <a:cxnLst/>
            <a:rect l="l" t="t" r="r" b="b"/>
            <a:pathLst>
              <a:path w="6884572" h="206537">
                <a:moveTo>
                  <a:pt x="0" y="0"/>
                </a:moveTo>
                <a:lnTo>
                  <a:pt x="6884573" y="0"/>
                </a:lnTo>
                <a:lnTo>
                  <a:pt x="6884573" y="206537"/>
                </a:lnTo>
                <a:lnTo>
                  <a:pt x="0" y="2065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11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59765"/>
            <a:ext cx="9521315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5600" spc="-14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 Simple Loop Mechanisms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8310" y="2005638"/>
            <a:ext cx="18851473" cy="315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77"/>
              </a:lnSpc>
            </a:pPr>
            <a:r>
              <a:rPr lang="en-US" sz="2555" spc="10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algn="just">
              <a:lnSpc>
                <a:spcPts val="3577"/>
              </a:lnSpc>
            </a:pPr>
            <a:r>
              <a:rPr lang="en-US" sz="2555" spc="10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A loop repeats a block of code until a condition becomes false.</a:t>
            </a:r>
          </a:p>
          <a:p>
            <a:pPr algn="just">
              <a:lnSpc>
                <a:spcPts val="3577"/>
              </a:lnSpc>
            </a:pPr>
            <a:r>
              <a:rPr lang="en-US" sz="2555" spc="10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Types:</a:t>
            </a:r>
          </a:p>
          <a:p>
            <a:pPr marL="551680" lvl="1" indent="-275840" algn="just">
              <a:lnSpc>
                <a:spcPts val="3577"/>
              </a:lnSpc>
              <a:buFont typeface="Arial"/>
              <a:buChar char="•"/>
            </a:pPr>
            <a:r>
              <a:rPr lang="en-US" sz="2555" spc="10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for loop – executes a fixed number of times.</a:t>
            </a:r>
          </a:p>
          <a:p>
            <a:pPr marL="551680" lvl="1" indent="-275840" algn="just">
              <a:lnSpc>
                <a:spcPts val="3577"/>
              </a:lnSpc>
              <a:buFont typeface="Arial"/>
              <a:buChar char="•"/>
            </a:pPr>
            <a:r>
              <a:rPr lang="en-US" sz="2555" spc="10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while loop – executes as long as the condition is true.</a:t>
            </a:r>
          </a:p>
          <a:p>
            <a:pPr marL="551680" lvl="1" indent="-275840" algn="just">
              <a:lnSpc>
                <a:spcPts val="3577"/>
              </a:lnSpc>
              <a:spcBef>
                <a:spcPct val="0"/>
              </a:spcBef>
              <a:buFont typeface="Arial"/>
              <a:buChar char="•"/>
            </a:pPr>
            <a:r>
              <a:rPr lang="en-US" sz="2555" spc="102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do…while loop – executes at least once.</a:t>
            </a:r>
          </a:p>
          <a:p>
            <a:pPr algn="just">
              <a:lnSpc>
                <a:spcPts val="3577"/>
              </a:lnSpc>
              <a:spcBef>
                <a:spcPct val="0"/>
              </a:spcBef>
            </a:pPr>
            <a:endParaRPr lang="en-US" sz="2555" spc="102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0" y="4906842"/>
            <a:ext cx="18288000" cy="5171825"/>
            <a:chOff x="0" y="0"/>
            <a:chExt cx="4816593" cy="1362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1362127"/>
            </a:xfrm>
            <a:custGeom>
              <a:avLst/>
              <a:gdLst/>
              <a:ahLst/>
              <a:cxnLst/>
              <a:rect l="l" t="t" r="r" b="b"/>
              <a:pathLst>
                <a:path w="4816592" h="1362127">
                  <a:moveTo>
                    <a:pt x="0" y="0"/>
                  </a:moveTo>
                  <a:lnTo>
                    <a:pt x="4816592" y="0"/>
                  </a:lnTo>
                  <a:lnTo>
                    <a:pt x="4816592" y="1362127"/>
                  </a:lnTo>
                  <a:lnTo>
                    <a:pt x="0" y="1362127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4816593" cy="13430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90912" y="5063698"/>
            <a:ext cx="5133565" cy="44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597" lvl="1" indent="-339799" algn="l">
              <a:lnSpc>
                <a:spcPts val="3556"/>
              </a:lnSpc>
              <a:buFont typeface="Arial"/>
              <a:buChar char="•"/>
            </a:pPr>
            <a:r>
              <a:rPr lang="en-US" sz="3147" b="1" spc="251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For Loop: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8329" y="5457128"/>
            <a:ext cx="5587720" cy="433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#include &lt;iostream&gt;</a:t>
            </a: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namespace std;</a:t>
            </a:r>
          </a:p>
          <a:p>
            <a:pPr algn="just">
              <a:lnSpc>
                <a:spcPts val="3452"/>
              </a:lnSpc>
            </a:pPr>
            <a:endParaRPr lang="en-US" sz="2466" spc="98">
              <a:solidFill>
                <a:srgbClr val="0D0D0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main() {</a:t>
            </a: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"For Loop Example:" &lt;&lt; endl;</a:t>
            </a: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for (int i = 1; i &lt;= 5; i++) {</a:t>
            </a: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cout &lt;&lt; i &lt;&lt; " ";</a:t>
            </a: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}</a:t>
            </a: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return 0;</a:t>
            </a:r>
          </a:p>
          <a:p>
            <a:pPr algn="just">
              <a:lnSpc>
                <a:spcPts val="3452"/>
              </a:lnSpc>
            </a:pPr>
            <a:r>
              <a:rPr lang="en-US" sz="2466" spc="98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96049" y="5514278"/>
            <a:ext cx="6242391" cy="440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#include &lt;iostream&gt;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namespace std;</a:t>
            </a:r>
          </a:p>
          <a:p>
            <a:pPr algn="just">
              <a:lnSpc>
                <a:spcPts val="2920"/>
              </a:lnSpc>
            </a:pPr>
            <a:endParaRPr lang="en-US" sz="2085" spc="83">
              <a:solidFill>
                <a:srgbClr val="0D0D0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main() {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"\nWhile Loop Example:" &lt;&lt; endl;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int i = 1;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while (i &lt;= 5) {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cout &lt;&lt; i &lt;&lt; " ";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i++;  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}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return 0;</a:t>
            </a:r>
          </a:p>
          <a:p>
            <a:pPr algn="just">
              <a:lnSpc>
                <a:spcPts val="2920"/>
              </a:lnSpc>
            </a:pPr>
            <a:r>
              <a:rPr lang="en-US" sz="2085" spc="83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21156" y="5519706"/>
            <a:ext cx="6411919" cy="455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#include &lt;iostream&gt;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namespace std;</a:t>
            </a:r>
          </a:p>
          <a:p>
            <a:pPr algn="just">
              <a:lnSpc>
                <a:spcPts val="3023"/>
              </a:lnSpc>
            </a:pPr>
            <a:endParaRPr lang="en-US" sz="2159" spc="86">
              <a:solidFill>
                <a:srgbClr val="0D0D0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main() {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"\nDo While Loop Example:" &lt;&lt; endl;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int i = 1;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do {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cout &lt;&lt; i &lt;&lt; " ";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i++;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} while (i &lt;= 5);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return 0;</a:t>
            </a:r>
          </a:p>
          <a:p>
            <a:pPr algn="just">
              <a:lnSpc>
                <a:spcPts val="3023"/>
              </a:lnSpc>
            </a:pPr>
            <a:r>
              <a:rPr lang="en-US" sz="2159" spc="86">
                <a:solidFill>
                  <a:srgbClr val="0D0D0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28700" y="1730588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319943" y="5120848"/>
            <a:ext cx="5133565" cy="44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597" lvl="1" indent="-339799" algn="l">
              <a:lnSpc>
                <a:spcPts val="3556"/>
              </a:lnSpc>
              <a:buFont typeface="Arial"/>
              <a:buChar char="•"/>
            </a:pPr>
            <a:r>
              <a:rPr lang="en-US" sz="3147" b="1" spc="251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While Loop: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48833" y="5120848"/>
            <a:ext cx="5133565" cy="44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9597" lvl="1" indent="-339799" algn="l">
              <a:lnSpc>
                <a:spcPts val="3556"/>
              </a:lnSpc>
              <a:buFont typeface="Arial"/>
              <a:buChar char="•"/>
            </a:pPr>
            <a:r>
              <a:rPr lang="en-US" sz="3147" b="1" spc="251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Do While Loop: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19175" y="3640455"/>
            <a:ext cx="10134813" cy="6589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1"/>
              </a:lnSpc>
            </a:pPr>
            <a:r>
              <a:rPr lang="en-US" sz="3151" spc="12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algn="just">
              <a:lnSpc>
                <a:spcPts val="4411"/>
              </a:lnSpc>
            </a:pPr>
            <a:r>
              <a:rPr lang="en-US" sz="3151" spc="12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Increment (++) and Decrement (--) are unary operators used to increase or decrease the value of a variable by 1.</a:t>
            </a:r>
          </a:p>
          <a:p>
            <a:pPr algn="just">
              <a:lnSpc>
                <a:spcPts val="4411"/>
              </a:lnSpc>
            </a:pPr>
            <a:r>
              <a:rPr lang="en-US" sz="3151" spc="12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Types:</a:t>
            </a:r>
          </a:p>
          <a:p>
            <a:pPr marL="680336" lvl="1" indent="-340168" algn="just">
              <a:lnSpc>
                <a:spcPts val="4411"/>
              </a:lnSpc>
              <a:buAutoNum type="arabicPeriod"/>
            </a:pPr>
            <a:r>
              <a:rPr lang="en-US" sz="3151" spc="12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Pre-Increment / Pre-Decrement:</a:t>
            </a:r>
          </a:p>
          <a:p>
            <a:pPr marL="680336" lvl="1" indent="-340168" algn="just">
              <a:lnSpc>
                <a:spcPts val="4411"/>
              </a:lnSpc>
              <a:buFont typeface="Arial"/>
              <a:buChar char="•"/>
            </a:pPr>
            <a:r>
              <a:rPr lang="en-US" sz="3151" spc="12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First increases/decreases the value, then uses it.’</a:t>
            </a:r>
          </a:p>
          <a:p>
            <a:pPr algn="just">
              <a:lnSpc>
                <a:spcPts val="4411"/>
              </a:lnSpc>
            </a:pPr>
            <a:endParaRPr lang="en-US" sz="3151" spc="126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4411"/>
              </a:lnSpc>
            </a:pPr>
            <a:r>
              <a:rPr lang="en-US" sz="3151" spc="12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2-Post-Increment / Post-Decrement:</a:t>
            </a:r>
          </a:p>
          <a:p>
            <a:pPr marL="680336" lvl="1" indent="-340168" algn="just">
              <a:lnSpc>
                <a:spcPts val="4411"/>
              </a:lnSpc>
              <a:buFont typeface="Arial"/>
              <a:buChar char="•"/>
            </a:pPr>
            <a:r>
              <a:rPr lang="en-US" sz="3151" spc="12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First uses the value, then increases/decreases it.</a:t>
            </a:r>
          </a:p>
          <a:p>
            <a:pPr algn="just">
              <a:lnSpc>
                <a:spcPts val="4411"/>
              </a:lnSpc>
              <a:spcBef>
                <a:spcPct val="0"/>
              </a:spcBef>
            </a:pPr>
            <a:endParaRPr lang="en-US" sz="3151" spc="126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4411"/>
              </a:lnSpc>
              <a:spcBef>
                <a:spcPct val="0"/>
              </a:spcBef>
            </a:pPr>
            <a:endParaRPr lang="en-US" sz="3151" spc="126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104900"/>
            <a:ext cx="9449592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Increment And Decrement Operators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3183081"/>
            <a:ext cx="6091299" cy="182739"/>
          </a:xfrm>
          <a:custGeom>
            <a:avLst/>
            <a:gdLst/>
            <a:ahLst/>
            <a:cxnLst/>
            <a:rect l="l" t="t" r="r" b="b"/>
            <a:pathLst>
              <a:path w="6091299" h="182739">
                <a:moveTo>
                  <a:pt x="0" y="0"/>
                </a:moveTo>
                <a:lnTo>
                  <a:pt x="6091299" y="0"/>
                </a:lnTo>
                <a:lnTo>
                  <a:pt x="6091299" y="182739"/>
                </a:lnTo>
                <a:lnTo>
                  <a:pt x="0" y="182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692755" y="3365820"/>
            <a:ext cx="6595245" cy="6368315"/>
            <a:chOff x="0" y="0"/>
            <a:chExt cx="1805363" cy="1677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5363" cy="1677251"/>
            </a:xfrm>
            <a:custGeom>
              <a:avLst/>
              <a:gdLst/>
              <a:ahLst/>
              <a:cxnLst/>
              <a:rect l="l" t="t" r="r" b="b"/>
              <a:pathLst>
                <a:path w="1805363" h="1677251">
                  <a:moveTo>
                    <a:pt x="0" y="0"/>
                  </a:moveTo>
                  <a:lnTo>
                    <a:pt x="1805363" y="0"/>
                  </a:lnTo>
                  <a:lnTo>
                    <a:pt x="1805363" y="1677251"/>
                  </a:lnTo>
                  <a:lnTo>
                    <a:pt x="0" y="1677251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805363" cy="165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08748" y="3611880"/>
            <a:ext cx="3159851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4860" b="1" dirty="0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35216" y="4467897"/>
            <a:ext cx="11905569" cy="127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82"/>
              </a:lnSpc>
            </a:pPr>
            <a:r>
              <a:rPr lang="en-US" sz="3701" spc="14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701" spc="14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x = 5;</a:t>
            </a:r>
          </a:p>
          <a:p>
            <a:pPr algn="just">
              <a:lnSpc>
                <a:spcPts val="5182"/>
              </a:lnSpc>
              <a:spcBef>
                <a:spcPct val="0"/>
              </a:spcBef>
            </a:pPr>
            <a:r>
              <a:rPr lang="en-US" sz="3701" spc="14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701" spc="14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y = ++x;   // x = 6, y =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35216" y="6581090"/>
            <a:ext cx="2980984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sz="4860" b="1" dirty="0">
                <a:solidFill>
                  <a:srgbClr val="000000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08749" y="7378317"/>
            <a:ext cx="11905569" cy="1275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82"/>
              </a:lnSpc>
            </a:pPr>
            <a:r>
              <a:rPr lang="en-US" sz="3701" spc="14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701" spc="14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x = 5;</a:t>
            </a:r>
          </a:p>
          <a:p>
            <a:pPr algn="just">
              <a:lnSpc>
                <a:spcPts val="5182"/>
              </a:lnSpc>
              <a:spcBef>
                <a:spcPct val="0"/>
              </a:spcBef>
            </a:pPr>
            <a:r>
              <a:rPr lang="en-US" sz="3701" spc="148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701" spc="148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y = x++;   // y = 5, x =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11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57225"/>
            <a:ext cx="733765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 spc="-150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9465" y="1992049"/>
            <a:ext cx="15095335" cy="7899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#include &lt;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iostream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&gt;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using namespace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std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;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int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main() {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int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x = 5;</a:t>
            </a:r>
          </a:p>
          <a:p>
            <a:pPr algn="just">
              <a:lnSpc>
                <a:spcPts val="4367"/>
              </a:lnSpc>
            </a:pPr>
            <a:endParaRPr lang="en-US" sz="3119" spc="124" dirty="0">
              <a:solidFill>
                <a:srgbClr val="312E2D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cout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&lt;&lt; "Initial value of x: " &lt;&lt; x &lt;&lt;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endl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;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cout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&lt;&lt; "Pre-increment (++x): " &lt;&lt; ++x &lt;&lt;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endl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;  // x=6, prints 6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cout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&lt;&lt; "Post-increment (x++): " &lt;&lt; x++ &lt;&lt;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endl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; // prints 6, then x=7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cout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&lt;&lt; "Pre-decrement (--x): " &lt;&lt; --x &lt;&lt;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endl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;  // x=6, prints 6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cout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&lt;&lt; "Post-decrement (x--): " &lt;&lt; x-- &lt;&lt;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endl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; // prints 6, then x=5</a:t>
            </a:r>
          </a:p>
          <a:p>
            <a:pPr algn="just">
              <a:lnSpc>
                <a:spcPts val="4367"/>
              </a:lnSpc>
            </a:pPr>
            <a:endParaRPr lang="en-US" sz="3119" spc="124" dirty="0">
              <a:solidFill>
                <a:srgbClr val="312E2D"/>
              </a:solidFill>
              <a:latin typeface="Cardo"/>
              <a:ea typeface="Cardo"/>
              <a:cs typeface="Cardo"/>
              <a:sym typeface="Cardo"/>
            </a:endParaRP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cout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&lt;&lt; "Final value of x: " &lt;&lt; x &lt;&lt; </a:t>
            </a:r>
            <a:r>
              <a:rPr lang="en-US" sz="3119" spc="124" dirty="0" err="1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endl</a:t>
            </a: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;</a:t>
            </a:r>
          </a:p>
          <a:p>
            <a:pPr algn="just">
              <a:lnSpc>
                <a:spcPts val="4367"/>
              </a:lnSpc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    return 0;</a:t>
            </a:r>
          </a:p>
          <a:p>
            <a:pPr algn="just">
              <a:lnSpc>
                <a:spcPts val="4367"/>
              </a:lnSpc>
              <a:spcBef>
                <a:spcPct val="0"/>
              </a:spcBef>
            </a:pPr>
            <a:r>
              <a:rPr lang="en-US" sz="3119" spc="124" dirty="0">
                <a:solidFill>
                  <a:srgbClr val="312E2D"/>
                </a:solidFill>
                <a:latin typeface="Cardo"/>
                <a:ea typeface="Cardo"/>
                <a:cs typeface="Cardo"/>
                <a:sym typeface="Cardo"/>
              </a:rPr>
              <a:t>}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1642550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481826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3988" y="2990573"/>
            <a:ext cx="10768719" cy="7660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Indentation means proper alignment of code with spaces or tabs.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Importance: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Improves readability.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Helps identify blocks of code easily.</a:t>
            </a:r>
          </a:p>
          <a:p>
            <a:pPr algn="just">
              <a:lnSpc>
                <a:spcPts val="6815"/>
              </a:lnSpc>
            </a:pPr>
            <a:endParaRPr lang="en-US" sz="4868" spc="194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02276"/>
            <a:ext cx="1016400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Program Style – Indenting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954011" y="4375131"/>
            <a:ext cx="6333989" cy="5359003"/>
            <a:chOff x="0" y="0"/>
            <a:chExt cx="1805363" cy="1411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5363" cy="1411425"/>
            </a:xfrm>
            <a:custGeom>
              <a:avLst/>
              <a:gdLst/>
              <a:ahLst/>
              <a:cxnLst/>
              <a:rect l="l" t="t" r="r" b="b"/>
              <a:pathLst>
                <a:path w="1805363" h="1411425">
                  <a:moveTo>
                    <a:pt x="0" y="0"/>
                  </a:moveTo>
                  <a:lnTo>
                    <a:pt x="1805363" y="0"/>
                  </a:lnTo>
                  <a:lnTo>
                    <a:pt x="1805363" y="1411425"/>
                  </a:lnTo>
                  <a:lnTo>
                    <a:pt x="0" y="14114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805363" cy="1392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474762" y="4780467"/>
            <a:ext cx="5813238" cy="77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70311" lvl="1" indent="-585156" algn="l">
              <a:lnSpc>
                <a:spcPts val="5962"/>
              </a:lnSpc>
              <a:buFont typeface="Arial"/>
              <a:buChar char="•"/>
            </a:pPr>
            <a:r>
              <a:rPr lang="en-US" sz="5420" spc="-135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46312" y="6032250"/>
            <a:ext cx="5796997" cy="2862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7330" lvl="1" indent="-443665" algn="just">
              <a:lnSpc>
                <a:spcPts val="5753"/>
              </a:lnSpc>
              <a:buFont typeface="Arial"/>
              <a:buChar char="•"/>
            </a:pPr>
            <a:r>
              <a:rPr lang="en-US" sz="4109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if (age &gt; 18) {</a:t>
            </a:r>
          </a:p>
          <a:p>
            <a:pPr marL="887330" lvl="1" indent="-443665" algn="just">
              <a:lnSpc>
                <a:spcPts val="5753"/>
              </a:lnSpc>
              <a:buFont typeface="Arial"/>
              <a:buChar char="•"/>
            </a:pPr>
            <a:r>
              <a:rPr lang="en-US" sz="4109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"Eligible to vote";</a:t>
            </a:r>
          </a:p>
          <a:p>
            <a:pPr algn="just">
              <a:lnSpc>
                <a:spcPts val="5753"/>
              </a:lnSpc>
            </a:pPr>
            <a:r>
              <a:rPr lang="en-US" sz="4109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481826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3988" y="2990573"/>
            <a:ext cx="10768719" cy="595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Comments are non-executable notes written in a program.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Types: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Single-line comment: // text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Multi-line comment: /* text */</a:t>
            </a:r>
          </a:p>
          <a:p>
            <a:pPr algn="just">
              <a:lnSpc>
                <a:spcPts val="6815"/>
              </a:lnSpc>
            </a:pPr>
            <a:endParaRPr lang="en-US" sz="4868" spc="194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02276"/>
            <a:ext cx="1016400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Program Style – Comments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954011" y="4375131"/>
            <a:ext cx="6333989" cy="5359003"/>
            <a:chOff x="0" y="0"/>
            <a:chExt cx="1805363" cy="1411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5363" cy="1411425"/>
            </a:xfrm>
            <a:custGeom>
              <a:avLst/>
              <a:gdLst/>
              <a:ahLst/>
              <a:cxnLst/>
              <a:rect l="l" t="t" r="r" b="b"/>
              <a:pathLst>
                <a:path w="1805363" h="1411425">
                  <a:moveTo>
                    <a:pt x="0" y="0"/>
                  </a:moveTo>
                  <a:lnTo>
                    <a:pt x="1805363" y="0"/>
                  </a:lnTo>
                  <a:lnTo>
                    <a:pt x="1805363" y="1411425"/>
                  </a:lnTo>
                  <a:lnTo>
                    <a:pt x="0" y="14114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805363" cy="1392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230072" y="5246087"/>
            <a:ext cx="5813238" cy="77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70311" lvl="1" indent="-585156" algn="l">
              <a:lnSpc>
                <a:spcPts val="5962"/>
              </a:lnSpc>
              <a:buFont typeface="Arial"/>
              <a:buChar char="•"/>
            </a:pPr>
            <a:r>
              <a:rPr lang="en-US" sz="5420" spc="-135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46312" y="6462725"/>
            <a:ext cx="5796997" cy="142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3"/>
              </a:lnSpc>
            </a:pPr>
            <a:r>
              <a:rPr lang="en-US" sz="4109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// This program checks age eligibility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15597" r="-1559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481826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3988" y="2990573"/>
            <a:ext cx="10768719" cy="5953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Constants are fixed values that do not change during program execution.</a:t>
            </a:r>
          </a:p>
          <a:p>
            <a:pPr marL="1051063" lvl="1" indent="-525531" algn="just">
              <a:lnSpc>
                <a:spcPts val="6815"/>
              </a:lnSpc>
              <a:buFont typeface="Arial"/>
              <a:buChar char="•"/>
            </a:pPr>
            <a:r>
              <a:rPr lang="en-US" sz="4868" spc="19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Best Practice: Use meaningful names with const keyword.</a:t>
            </a:r>
          </a:p>
          <a:p>
            <a:pPr algn="just">
              <a:lnSpc>
                <a:spcPts val="6815"/>
              </a:lnSpc>
            </a:pPr>
            <a:endParaRPr lang="en-US" sz="4868" spc="194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02276"/>
            <a:ext cx="13160185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Program Style – Naming Constants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954011" y="4375131"/>
            <a:ext cx="6333989" cy="5359003"/>
            <a:chOff x="0" y="0"/>
            <a:chExt cx="1805363" cy="14114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5363" cy="1411425"/>
            </a:xfrm>
            <a:custGeom>
              <a:avLst/>
              <a:gdLst/>
              <a:ahLst/>
              <a:cxnLst/>
              <a:rect l="l" t="t" r="r" b="b"/>
              <a:pathLst>
                <a:path w="1805363" h="1411425">
                  <a:moveTo>
                    <a:pt x="0" y="0"/>
                  </a:moveTo>
                  <a:lnTo>
                    <a:pt x="1805363" y="0"/>
                  </a:lnTo>
                  <a:lnTo>
                    <a:pt x="1805363" y="1411425"/>
                  </a:lnTo>
                  <a:lnTo>
                    <a:pt x="0" y="1411425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805363" cy="1392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51615" y="4963429"/>
            <a:ext cx="5813238" cy="773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70311" lvl="1" indent="-585156" algn="l">
              <a:lnSpc>
                <a:spcPts val="5962"/>
              </a:lnSpc>
              <a:buFont typeface="Arial"/>
              <a:buChar char="•"/>
            </a:pPr>
            <a:r>
              <a:rPr lang="en-US" sz="5420" spc="-135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30072" y="5924529"/>
            <a:ext cx="5634782" cy="355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164"/>
              </a:lnSpc>
            </a:pPr>
            <a:r>
              <a:rPr lang="en-US" sz="5117" spc="20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const float PI </a:t>
            </a:r>
          </a:p>
          <a:p>
            <a:pPr algn="just">
              <a:lnSpc>
                <a:spcPts val="7164"/>
              </a:lnSpc>
            </a:pPr>
            <a:r>
              <a:rPr lang="en-US" sz="5117" spc="20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= 3.14159;</a:t>
            </a:r>
          </a:p>
          <a:p>
            <a:pPr algn="just">
              <a:lnSpc>
                <a:spcPts val="7164"/>
              </a:lnSpc>
            </a:pPr>
            <a:r>
              <a:rPr lang="en-US" sz="5117" spc="20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PI * r * r;   // Circle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89547"/>
            <a:ext cx="5113107" cy="1561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8"/>
              </a:lnSpc>
            </a:pPr>
            <a:r>
              <a:rPr lang="en-US" sz="5571" spc="-139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Using Boolean Expressions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9038" y="3314416"/>
            <a:ext cx="8966772" cy="614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22"/>
              </a:lnSpc>
            </a:pPr>
            <a:r>
              <a:rPr lang="en-US" sz="3872" spc="15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algn="just">
              <a:lnSpc>
                <a:spcPts val="5422"/>
              </a:lnSpc>
            </a:pPr>
            <a:r>
              <a:rPr lang="en-US" sz="3872" spc="15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A Boolean expression is a logical statement that results in either true or false.</a:t>
            </a:r>
          </a:p>
          <a:p>
            <a:pPr algn="just">
              <a:lnSpc>
                <a:spcPts val="5422"/>
              </a:lnSpc>
            </a:pPr>
            <a:r>
              <a:rPr lang="en-US" sz="3872" spc="15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Operators Used:</a:t>
            </a:r>
          </a:p>
          <a:p>
            <a:pPr marL="836174" lvl="1" indent="-418087" algn="just">
              <a:lnSpc>
                <a:spcPts val="5422"/>
              </a:lnSpc>
              <a:buFont typeface="Arial"/>
              <a:buChar char="•"/>
            </a:pPr>
            <a:r>
              <a:rPr lang="en-US" sz="3872" spc="15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&amp;&amp; → Logical AND</a:t>
            </a:r>
          </a:p>
          <a:p>
            <a:pPr marL="836174" lvl="1" indent="-418087" algn="just">
              <a:lnSpc>
                <a:spcPts val="5422"/>
              </a:lnSpc>
              <a:buFont typeface="Arial"/>
              <a:buChar char="•"/>
            </a:pPr>
            <a:r>
              <a:rPr lang="en-US" sz="3872" spc="15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|| → Logical OR</a:t>
            </a:r>
          </a:p>
          <a:p>
            <a:pPr marL="836174" lvl="1" indent="-418087" algn="just">
              <a:lnSpc>
                <a:spcPts val="5422"/>
              </a:lnSpc>
              <a:buFont typeface="Arial"/>
              <a:buChar char="•"/>
            </a:pPr>
            <a:r>
              <a:rPr lang="en-US" sz="3872" spc="15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! → Logical NOT</a:t>
            </a:r>
          </a:p>
          <a:p>
            <a:pPr algn="just">
              <a:lnSpc>
                <a:spcPts val="5422"/>
              </a:lnSpc>
              <a:spcBef>
                <a:spcPct val="0"/>
              </a:spcBef>
            </a:pPr>
            <a:endParaRPr lang="en-US" sz="3872" spc="154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325237" y="0"/>
            <a:ext cx="8301953" cy="10287000"/>
            <a:chOff x="0" y="0"/>
            <a:chExt cx="218652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523" cy="2709333"/>
            </a:xfrm>
            <a:custGeom>
              <a:avLst/>
              <a:gdLst/>
              <a:ahLst/>
              <a:cxnLst/>
              <a:rect l="l" t="t" r="r" b="b"/>
              <a:pathLst>
                <a:path w="2186523" h="2709333">
                  <a:moveTo>
                    <a:pt x="0" y="0"/>
                  </a:moveTo>
                  <a:lnTo>
                    <a:pt x="2186523" y="0"/>
                  </a:lnTo>
                  <a:lnTo>
                    <a:pt x="218652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186523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3268876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23098" y="1047750"/>
            <a:ext cx="4346865" cy="588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1735" lvl="1" indent="-435867" algn="ctr">
              <a:lnSpc>
                <a:spcPts val="4562"/>
              </a:lnSpc>
              <a:buFont typeface="Arial"/>
              <a:buChar char="•"/>
            </a:pPr>
            <a:r>
              <a:rPr lang="en-US" sz="4037" b="1" spc="161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10538" y="1766401"/>
            <a:ext cx="19281227" cy="8168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#include &lt;</a:t>
            </a:r>
            <a:r>
              <a:rPr lang="en-US" sz="3731" spc="149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iostream</a:t>
            </a: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&gt;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using namespace </a:t>
            </a:r>
            <a:r>
              <a:rPr lang="en-US" sz="3731" spc="149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std</a:t>
            </a: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;</a:t>
            </a:r>
          </a:p>
          <a:p>
            <a:pPr algn="ctr">
              <a:lnSpc>
                <a:spcPts val="4850"/>
              </a:lnSpc>
            </a:pPr>
            <a:endParaRPr lang="en-US" sz="3731" spc="149" dirty="0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ctr">
              <a:lnSpc>
                <a:spcPts val="4850"/>
              </a:lnSpc>
            </a:pPr>
            <a:r>
              <a:rPr lang="en-US" sz="3731" spc="149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main() {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</a:t>
            </a:r>
            <a:r>
              <a:rPr lang="en-US" sz="3731" spc="149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age = 20;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</a:t>
            </a:r>
            <a:r>
              <a:rPr lang="en-US" sz="3731" spc="149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</a:t>
            </a: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marks = 65;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if (age &gt;= 18 &amp;&amp; marks &gt;= 50) {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</a:t>
            </a:r>
            <a:r>
              <a:rPr lang="en-US" sz="3731" spc="149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"Eligible for admission";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} else {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    </a:t>
            </a:r>
            <a:r>
              <a:rPr lang="en-US" sz="3731" spc="149" dirty="0" err="1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</a:t>
            </a: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&lt;&lt; "Not eligible";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}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return 0;</a:t>
            </a:r>
          </a:p>
          <a:p>
            <a:pPr algn="ctr">
              <a:lnSpc>
                <a:spcPts val="4850"/>
              </a:lnSpc>
            </a:pPr>
            <a:r>
              <a:rPr lang="en-US" sz="3731" spc="149" dirty="0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409293" cy="10287000"/>
            <a:chOff x="0" y="0"/>
            <a:chExt cx="247816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8168" cy="2709333"/>
            </a:xfrm>
            <a:custGeom>
              <a:avLst/>
              <a:gdLst/>
              <a:ahLst/>
              <a:cxnLst/>
              <a:rect l="l" t="t" r="r" b="b"/>
              <a:pathLst>
                <a:path w="2478168" h="2709333">
                  <a:moveTo>
                    <a:pt x="0" y="0"/>
                  </a:moveTo>
                  <a:lnTo>
                    <a:pt x="2478168" y="0"/>
                  </a:lnTo>
                  <a:lnTo>
                    <a:pt x="247816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478168" cy="2690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2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8181" y="671078"/>
            <a:ext cx="5951919" cy="235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35" lvl="1" indent="-593717" algn="l">
              <a:lnSpc>
                <a:spcPts val="6214"/>
              </a:lnSpc>
              <a:buFont typeface="Arial"/>
              <a:buChar char="•"/>
            </a:pPr>
            <a:r>
              <a:rPr lang="en-US" sz="5499" b="1" spc="219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 2 – Using OR (||):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0419" y="3378207"/>
            <a:ext cx="8873581" cy="484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43"/>
              </a:lnSpc>
            </a:pPr>
            <a:r>
              <a:rPr lang="en-US" sz="3959" spc="15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 temperature = 35;</a:t>
            </a:r>
          </a:p>
          <a:p>
            <a:pPr algn="just">
              <a:lnSpc>
                <a:spcPts val="5543"/>
              </a:lnSpc>
            </a:pPr>
            <a:r>
              <a:rPr lang="en-US" sz="3959" spc="15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if (temperature &lt; 0 || temperature &gt; 30) {</a:t>
            </a:r>
          </a:p>
          <a:p>
            <a:pPr algn="just">
              <a:lnSpc>
                <a:spcPts val="5543"/>
              </a:lnSpc>
            </a:pPr>
            <a:r>
              <a:rPr lang="en-US" sz="3959" spc="15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"Extreme weather!";</a:t>
            </a:r>
          </a:p>
          <a:p>
            <a:pPr algn="just">
              <a:lnSpc>
                <a:spcPts val="5543"/>
              </a:lnSpc>
            </a:pPr>
            <a:r>
              <a:rPr lang="en-US" sz="3959" spc="15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 else {</a:t>
            </a:r>
          </a:p>
          <a:p>
            <a:pPr algn="just">
              <a:lnSpc>
                <a:spcPts val="5543"/>
              </a:lnSpc>
            </a:pPr>
            <a:r>
              <a:rPr lang="en-US" sz="3959" spc="15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"Normal weather.";</a:t>
            </a:r>
          </a:p>
          <a:p>
            <a:pPr algn="just">
              <a:lnSpc>
                <a:spcPts val="5543"/>
              </a:lnSpc>
            </a:pPr>
            <a:r>
              <a:rPr lang="en-US" sz="3959" spc="15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1486" y="671078"/>
            <a:ext cx="5951919" cy="2353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87435" lvl="1" indent="-593717" algn="l">
              <a:lnSpc>
                <a:spcPts val="6214"/>
              </a:lnSpc>
              <a:buFont typeface="Arial"/>
              <a:buChar char="•"/>
            </a:pPr>
            <a:r>
              <a:rPr lang="en-US" sz="5499" b="1" spc="219">
                <a:solidFill>
                  <a:srgbClr val="0D0D0D"/>
                </a:solidFill>
                <a:latin typeface="Cardo Bold"/>
                <a:ea typeface="Cardo Bold"/>
                <a:cs typeface="Cardo Bold"/>
                <a:sym typeface="Cardo Bold"/>
              </a:rPr>
              <a:t>Example 3 – Using NOT (!):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90162" y="3069114"/>
            <a:ext cx="8397838" cy="5432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21"/>
              </a:lnSpc>
            </a:pPr>
            <a:r>
              <a:rPr lang="en-US" sz="5158" spc="20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bool isRainy = false;</a:t>
            </a:r>
          </a:p>
          <a:p>
            <a:pPr algn="just">
              <a:lnSpc>
                <a:spcPts val="7221"/>
              </a:lnSpc>
            </a:pPr>
            <a:endParaRPr lang="en-US" sz="5158" spc="206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  <a:p>
            <a:pPr algn="just">
              <a:lnSpc>
                <a:spcPts val="7221"/>
              </a:lnSpc>
            </a:pPr>
            <a:r>
              <a:rPr lang="en-US" sz="5158" spc="20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if (!isRainy) {</a:t>
            </a:r>
          </a:p>
          <a:p>
            <a:pPr algn="just">
              <a:lnSpc>
                <a:spcPts val="7221"/>
              </a:lnSpc>
            </a:pPr>
            <a:r>
              <a:rPr lang="en-US" sz="5158" spc="20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   cout &lt;&lt; "You can go outside without umbrella";</a:t>
            </a:r>
          </a:p>
          <a:p>
            <a:pPr algn="just">
              <a:lnSpc>
                <a:spcPts val="7221"/>
              </a:lnSpc>
            </a:pPr>
            <a:r>
              <a:rPr lang="en-US" sz="5158" spc="206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r="-3119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104900"/>
            <a:ext cx="7337654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spc="-1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Enumeration Type (enum):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9105" y="3844521"/>
            <a:ext cx="9293538" cy="644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4"/>
              </a:lnSpc>
            </a:pPr>
            <a:r>
              <a:rPr lang="en-US" sz="4117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Definition:</a:t>
            </a:r>
          </a:p>
          <a:p>
            <a:pPr algn="just">
              <a:lnSpc>
                <a:spcPts val="5764"/>
              </a:lnSpc>
            </a:pPr>
            <a:r>
              <a:rPr lang="en-US" sz="4117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 Enumeration (enum) is a user-defined data type that assigns names to integer constants.</a:t>
            </a:r>
          </a:p>
          <a:p>
            <a:pPr algn="just">
              <a:lnSpc>
                <a:spcPts val="5764"/>
              </a:lnSpc>
            </a:pPr>
            <a:r>
              <a:rPr lang="en-US" sz="4117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Explanation:</a:t>
            </a:r>
          </a:p>
          <a:p>
            <a:pPr marL="888926" lvl="1" indent="-444463" algn="just">
              <a:lnSpc>
                <a:spcPts val="5764"/>
              </a:lnSpc>
              <a:buFont typeface="Arial"/>
              <a:buChar char="•"/>
            </a:pPr>
            <a:r>
              <a:rPr lang="en-US" sz="4117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Makes programs easier to read.</a:t>
            </a:r>
          </a:p>
          <a:p>
            <a:pPr marL="888926" lvl="1" indent="-444463" algn="just">
              <a:lnSpc>
                <a:spcPts val="5764"/>
              </a:lnSpc>
              <a:spcBef>
                <a:spcPct val="0"/>
              </a:spcBef>
              <a:buFont typeface="Arial"/>
              <a:buChar char="•"/>
            </a:pPr>
            <a:r>
              <a:rPr lang="en-US" sz="4117" spc="164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Values are automatically assigned starting from 0.</a:t>
            </a:r>
          </a:p>
          <a:p>
            <a:pPr algn="just">
              <a:lnSpc>
                <a:spcPts val="5764"/>
              </a:lnSpc>
              <a:spcBef>
                <a:spcPct val="0"/>
              </a:spcBef>
            </a:pPr>
            <a:endParaRPr lang="en-US" sz="4117" spc="164">
              <a:solidFill>
                <a:srgbClr val="312E2D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3427507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094208" y="6076891"/>
            <a:ext cx="7337654" cy="805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0"/>
              </a:lnSpc>
            </a:pPr>
            <a:r>
              <a:rPr lang="en-US" sz="5700" spc="-142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Example: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94208" y="7046711"/>
            <a:ext cx="7193792" cy="154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51"/>
              </a:lnSpc>
            </a:pPr>
            <a:r>
              <a:rPr lang="en-US" sz="2965" spc="11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enum Days { Mon, Tue, Wed, Thu, Fri };</a:t>
            </a:r>
          </a:p>
          <a:p>
            <a:pPr algn="just">
              <a:lnSpc>
                <a:spcPts val="4151"/>
              </a:lnSpc>
            </a:pPr>
            <a:r>
              <a:rPr lang="en-US" sz="2965" spc="11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Days today = Wed;</a:t>
            </a:r>
          </a:p>
          <a:p>
            <a:pPr algn="just">
              <a:lnSpc>
                <a:spcPts val="4151"/>
              </a:lnSpc>
              <a:spcBef>
                <a:spcPct val="0"/>
              </a:spcBef>
            </a:pPr>
            <a:r>
              <a:rPr lang="en-US" sz="2965" spc="118">
                <a:solidFill>
                  <a:srgbClr val="312E2D"/>
                </a:solidFill>
                <a:latin typeface="Didact Gothic"/>
                <a:ea typeface="Didact Gothic"/>
                <a:cs typeface="Didact Gothic"/>
                <a:sym typeface="Didact Gothic"/>
              </a:rPr>
              <a:t>cout &lt;&lt; today;   // Output: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82" t="-22076" r="-3615" b="-1665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63514" y="4318114"/>
            <a:ext cx="10760972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99"/>
              </a:lnSpc>
            </a:pPr>
            <a:r>
              <a:rPr lang="en-US" sz="10999" spc="-274">
                <a:solidFill>
                  <a:srgbClr val="0D0D0D"/>
                </a:solidFill>
                <a:latin typeface="Cardo"/>
                <a:ea typeface="Cardo"/>
                <a:cs typeface="Cardo"/>
                <a:sym typeface="Cardo"/>
              </a:rPr>
              <a:t>End Of Class</a:t>
            </a:r>
          </a:p>
        </p:txBody>
      </p:sp>
      <p:sp>
        <p:nvSpPr>
          <p:cNvPr id="4" name="Freeform 4"/>
          <p:cNvSpPr/>
          <p:nvPr/>
        </p:nvSpPr>
        <p:spPr>
          <a:xfrm>
            <a:off x="7115006" y="2475638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39"/>
                </a:lnTo>
                <a:lnTo>
                  <a:pt x="0" y="121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15006" y="7686675"/>
            <a:ext cx="4057988" cy="121740"/>
          </a:xfrm>
          <a:custGeom>
            <a:avLst/>
            <a:gdLst/>
            <a:ahLst/>
            <a:cxnLst/>
            <a:rect l="l" t="t" r="r" b="b"/>
            <a:pathLst>
              <a:path w="4057988" h="121740">
                <a:moveTo>
                  <a:pt x="0" y="0"/>
                </a:moveTo>
                <a:lnTo>
                  <a:pt x="4057988" y="0"/>
                </a:lnTo>
                <a:lnTo>
                  <a:pt x="4057988" y="121740"/>
                </a:lnTo>
                <a:lnTo>
                  <a:pt x="0" y="121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984</Words>
  <Application>Microsoft Office PowerPoint</Application>
  <PresentationFormat>Custom</PresentationFormat>
  <Paragraphs>174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</dc:title>
  <cp:lastModifiedBy>Rafiu Raza</cp:lastModifiedBy>
  <cp:revision>3</cp:revision>
  <dcterms:created xsi:type="dcterms:W3CDTF">2006-08-16T00:00:00Z</dcterms:created>
  <dcterms:modified xsi:type="dcterms:W3CDTF">2025-09-10T04:32:47Z</dcterms:modified>
  <dc:identifier>DAGxoH0_lYo</dc:identifier>
</cp:coreProperties>
</file>